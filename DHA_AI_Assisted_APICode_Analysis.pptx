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jaXf9p8oIO7ORZviy6bP0Jxgqf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customschemas.google.com/relationships/presentationmetadata" Target="metadata"/><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d8ab55df9a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g3d8ab55df9a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g3d8ab55df9a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E5C"/>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73152"/>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0" y="0"/>
            <a:ext cx="3474600" cy="5143500"/>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274320" y="365760"/>
            <a:ext cx="1828800" cy="457200"/>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274320" y="36576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Dubai Health</a:t>
            </a:r>
            <a:endParaRPr b="0" i="0" sz="1100" u="none" cap="none" strike="noStrike">
              <a:solidFill>
                <a:schemeClr val="dk1"/>
              </a:solidFill>
              <a:latin typeface="Calibri"/>
              <a:ea typeface="Calibri"/>
              <a:cs typeface="Calibri"/>
              <a:sym typeface="Calibri"/>
            </a:endParaRPr>
          </a:p>
        </p:txBody>
      </p:sp>
      <p:sp>
        <p:nvSpPr>
          <p:cNvPr id="20" name="Google Shape;20;p1"/>
          <p:cNvSpPr/>
          <p:nvPr/>
        </p:nvSpPr>
        <p:spPr>
          <a:xfrm>
            <a:off x="3474720" y="0"/>
            <a:ext cx="54864" cy="5143500"/>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274320" y="118872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1C2"/>
              </a:buClr>
              <a:buSzPts val="1000"/>
              <a:buFont typeface="Calibri"/>
              <a:buNone/>
            </a:pPr>
            <a:r>
              <a:rPr b="1" i="0" lang="en-US" sz="1000" u="none" cap="none" strike="noStrike">
                <a:solidFill>
                  <a:srgbClr val="00A1C2"/>
                </a:solidFill>
                <a:latin typeface="Calibri"/>
                <a:ea typeface="Calibri"/>
                <a:cs typeface="Calibri"/>
                <a:sym typeface="Calibri"/>
              </a:rPr>
              <a:t>USE CASE</a:t>
            </a:r>
            <a:endParaRPr b="0" i="0" sz="1000" u="none" cap="none" strike="noStrike">
              <a:solidFill>
                <a:schemeClr val="dk1"/>
              </a:solidFill>
              <a:latin typeface="Calibri"/>
              <a:ea typeface="Calibri"/>
              <a:cs typeface="Calibri"/>
              <a:sym typeface="Calibri"/>
            </a:endParaRPr>
          </a:p>
        </p:txBody>
      </p:sp>
      <p:sp>
        <p:nvSpPr>
          <p:cNvPr id="22" name="Google Shape;22;p1"/>
          <p:cNvSpPr/>
          <p:nvPr/>
        </p:nvSpPr>
        <p:spPr>
          <a:xfrm>
            <a:off x="274320" y="1600200"/>
            <a:ext cx="2926200" cy="228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AI-Assisted</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API Code</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Performance</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Analysis</a:t>
            </a:r>
            <a:endParaRPr b="0" i="0" sz="2200" u="none" cap="none" strike="noStrike">
              <a:solidFill>
                <a:schemeClr val="dk1"/>
              </a:solidFill>
              <a:latin typeface="Calibri"/>
              <a:ea typeface="Calibri"/>
              <a:cs typeface="Calibri"/>
              <a:sym typeface="Calibri"/>
            </a:endParaRPr>
          </a:p>
        </p:txBody>
      </p:sp>
      <p:sp>
        <p:nvSpPr>
          <p:cNvPr id="23" name="Google Shape;23;p1"/>
          <p:cNvSpPr/>
          <p:nvPr/>
        </p:nvSpPr>
        <p:spPr>
          <a:xfrm>
            <a:off x="3840480" y="1280160"/>
            <a:ext cx="502920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Detecting Performance Risks</a:t>
            </a:r>
            <a:endParaRPr b="0" i="0" sz="2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Before They Reach Production</a:t>
            </a:r>
            <a:endParaRPr b="0" i="0" sz="2600" u="none" cap="none" strike="noStrike">
              <a:solidFill>
                <a:schemeClr val="dk1"/>
              </a:solidFill>
              <a:latin typeface="Calibri"/>
              <a:ea typeface="Calibri"/>
              <a:cs typeface="Calibri"/>
              <a:sym typeface="Calibri"/>
            </a:endParaRPr>
          </a:p>
        </p:txBody>
      </p:sp>
      <p:sp>
        <p:nvSpPr>
          <p:cNvPr id="24" name="Google Shape;24;p1"/>
          <p:cNvSpPr/>
          <p:nvPr/>
        </p:nvSpPr>
        <p:spPr>
          <a:xfrm>
            <a:off x="3840480" y="2651760"/>
            <a:ext cx="4937760" cy="27432"/>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3840480" y="2788920"/>
            <a:ext cx="5029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D4E0"/>
              </a:buClr>
              <a:buSzPts val="1300"/>
              <a:buFont typeface="Calibri"/>
              <a:buNone/>
            </a:pPr>
            <a:r>
              <a:rPr b="0" i="0" lang="en-US" sz="1300" u="none" cap="none" strike="noStrike">
                <a:solidFill>
                  <a:srgbClr val="B0D4E0"/>
                </a:solidFill>
                <a:latin typeface="Calibri"/>
                <a:ea typeface="Calibri"/>
                <a:cs typeface="Calibri"/>
                <a:sym typeface="Calibri"/>
              </a:rPr>
              <a:t>Using artificial intelligence to analyze API source code and identify</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B0D4E0"/>
              </a:buClr>
              <a:buSzPts val="1300"/>
              <a:buFont typeface="Calibri"/>
              <a:buNone/>
            </a:pPr>
            <a:r>
              <a:rPr b="0" i="0" lang="en-US" sz="1300" u="none" cap="none" strike="noStrike">
                <a:solidFill>
                  <a:srgbClr val="B0D4E0"/>
                </a:solidFill>
                <a:latin typeface="Calibri"/>
                <a:ea typeface="Calibri"/>
                <a:cs typeface="Calibri"/>
                <a:sym typeface="Calibri"/>
              </a:rPr>
              <a:t>performance inefficiencies before they impact enterprise systems.</a:t>
            </a:r>
            <a:endParaRPr b="0" i="0" sz="1300" u="none" cap="none" strike="noStrike">
              <a:solidFill>
                <a:schemeClr val="dk1"/>
              </a:solidFill>
              <a:latin typeface="Calibri"/>
              <a:ea typeface="Calibri"/>
              <a:cs typeface="Calibri"/>
              <a:sym typeface="Calibri"/>
            </a:endParaRPr>
          </a:p>
        </p:txBody>
      </p:sp>
      <p:sp>
        <p:nvSpPr>
          <p:cNvPr id="26" name="Google Shape;26;p1"/>
          <p:cNvSpPr/>
          <p:nvPr/>
        </p:nvSpPr>
        <p:spPr>
          <a:xfrm>
            <a:off x="4571993" y="3931920"/>
            <a:ext cx="1097400" cy="320100"/>
          </a:xfrm>
          <a:prstGeom prst="rect">
            <a:avLst/>
          </a:prstGeom>
          <a:solidFill>
            <a:srgbClr val="007B9E"/>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4571993" y="3931920"/>
            <a:ext cx="10974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Performance</a:t>
            </a:r>
            <a:endParaRPr b="0" i="0" sz="900" u="none" cap="none" strike="noStrike">
              <a:solidFill>
                <a:schemeClr val="dk1"/>
              </a:solidFill>
              <a:latin typeface="Calibri"/>
              <a:ea typeface="Calibri"/>
              <a:cs typeface="Calibri"/>
              <a:sym typeface="Calibri"/>
            </a:endParaRPr>
          </a:p>
        </p:txBody>
      </p:sp>
      <p:sp>
        <p:nvSpPr>
          <p:cNvPr id="28" name="Google Shape;28;p1"/>
          <p:cNvSpPr/>
          <p:nvPr/>
        </p:nvSpPr>
        <p:spPr>
          <a:xfrm>
            <a:off x="5806433" y="3931920"/>
            <a:ext cx="1097400" cy="320100"/>
          </a:xfrm>
          <a:prstGeom prst="rect">
            <a:avLst/>
          </a:prstGeom>
          <a:solidFill>
            <a:srgbClr val="007B9E"/>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5806433" y="3931920"/>
            <a:ext cx="10974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AI Review</a:t>
            </a:r>
            <a:endParaRPr b="0" i="0" sz="900" u="none" cap="none" strike="noStrike">
              <a:solidFill>
                <a:schemeClr val="dk1"/>
              </a:solidFill>
              <a:latin typeface="Calibri"/>
              <a:ea typeface="Calibri"/>
              <a:cs typeface="Calibri"/>
              <a:sym typeface="Calibri"/>
            </a:endParaRPr>
          </a:p>
        </p:txBody>
      </p:sp>
      <p:sp>
        <p:nvSpPr>
          <p:cNvPr id="30" name="Google Shape;30;p1"/>
          <p:cNvSpPr/>
          <p:nvPr/>
        </p:nvSpPr>
        <p:spPr>
          <a:xfrm>
            <a:off x="7040873" y="3931920"/>
            <a:ext cx="1097400" cy="320100"/>
          </a:xfrm>
          <a:prstGeom prst="rect">
            <a:avLst/>
          </a:prstGeom>
          <a:solidFill>
            <a:srgbClr val="007B9E"/>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7040873" y="3931920"/>
            <a:ext cx="10974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API Quality</a:t>
            </a:r>
            <a:endParaRPr b="0" i="0" sz="900" u="none" cap="none" strike="noStrike">
              <a:solidFill>
                <a:schemeClr val="dk1"/>
              </a:solidFill>
              <a:latin typeface="Calibri"/>
              <a:ea typeface="Calibri"/>
              <a:cs typeface="Calibri"/>
              <a:sym typeface="Calibri"/>
            </a:endParaRPr>
          </a:p>
        </p:txBody>
      </p:sp>
      <p:sp>
        <p:nvSpPr>
          <p:cNvPr id="32" name="Google Shape;32;p1"/>
          <p:cNvSpPr/>
          <p:nvPr/>
        </p:nvSpPr>
        <p:spPr>
          <a:xfrm>
            <a:off x="274327" y="3703325"/>
            <a:ext cx="1368000" cy="27300"/>
          </a:xfrm>
          <a:prstGeom prst="rect">
            <a:avLst/>
          </a:prstGeom>
          <a:solidFill>
            <a:srgbClr val="00B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274322" y="3931925"/>
            <a:ext cx="25905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Safaa Soliman</a:t>
            </a:r>
            <a:endParaRPr b="0" i="0" sz="16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94A3B8"/>
              </a:buClr>
              <a:buSzPts val="1300"/>
              <a:buFont typeface="Calibri"/>
              <a:buNone/>
            </a:pPr>
            <a:r>
              <a:rPr b="0" i="0" lang="en-US" sz="1300" u="none" cap="none" strike="noStrike">
                <a:solidFill>
                  <a:srgbClr val="94A3B8"/>
                </a:solidFill>
                <a:latin typeface="Calibri"/>
                <a:ea typeface="Calibri"/>
                <a:cs typeface="Calibri"/>
                <a:sym typeface="Calibri"/>
              </a:rPr>
              <a:t>Dubai Health Authority</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p2"/>
          <p:cNvSpPr/>
          <p:nvPr/>
        </p:nvSpPr>
        <p:spPr>
          <a:xfrm>
            <a:off x="0" y="0"/>
            <a:ext cx="9144000" cy="1005840"/>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457200" y="914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Problem Statement</a:t>
            </a:r>
            <a:endParaRPr b="0" i="0" sz="2200" u="none" cap="none" strike="noStrike">
              <a:solidFill>
                <a:schemeClr val="dk1"/>
              </a:solidFill>
              <a:latin typeface="Calibri"/>
              <a:ea typeface="Calibri"/>
              <a:cs typeface="Calibri"/>
              <a:sym typeface="Calibri"/>
            </a:endParaRPr>
          </a:p>
        </p:txBody>
      </p:sp>
      <p:sp>
        <p:nvSpPr>
          <p:cNvPr id="41" name="Google Shape;41;p2"/>
          <p:cNvSpPr/>
          <p:nvPr/>
        </p:nvSpPr>
        <p:spPr>
          <a:xfrm>
            <a:off x="457200" y="594360"/>
            <a:ext cx="6400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1C2"/>
              </a:buClr>
              <a:buSzPts val="1200"/>
              <a:buFont typeface="Calibri"/>
              <a:buNone/>
            </a:pPr>
            <a:r>
              <a:rPr b="0" i="0" lang="en-US" sz="1200" u="none" cap="none" strike="noStrike">
                <a:solidFill>
                  <a:srgbClr val="00A1C2"/>
                </a:solidFill>
                <a:latin typeface="Calibri"/>
                <a:ea typeface="Calibri"/>
                <a:cs typeface="Calibri"/>
                <a:sym typeface="Calibri"/>
              </a:rPr>
              <a:t>Why AI-Assisted API</a:t>
            </a:r>
            <a:r>
              <a:rPr lang="en-US" sz="1200">
                <a:solidFill>
                  <a:srgbClr val="00A1C2"/>
                </a:solidFill>
                <a:latin typeface="Calibri"/>
                <a:ea typeface="Calibri"/>
                <a:cs typeface="Calibri"/>
                <a:sym typeface="Calibri"/>
              </a:rPr>
              <a:t> </a:t>
            </a:r>
            <a:r>
              <a:rPr lang="en-US" sz="1200">
                <a:solidFill>
                  <a:srgbClr val="00A1C2"/>
                </a:solidFill>
                <a:latin typeface="Calibri"/>
                <a:ea typeface="Calibri"/>
                <a:cs typeface="Calibri"/>
                <a:sym typeface="Calibri"/>
              </a:rPr>
              <a:t>Code Performance</a:t>
            </a:r>
            <a:r>
              <a:rPr b="0" i="0" lang="en-US" sz="1200" u="none" cap="none" strike="noStrike">
                <a:solidFill>
                  <a:srgbClr val="00A1C2"/>
                </a:solidFill>
                <a:latin typeface="Calibri"/>
                <a:ea typeface="Calibri"/>
                <a:cs typeface="Calibri"/>
                <a:sym typeface="Calibri"/>
              </a:rPr>
              <a:t> Analysis?</a:t>
            </a:r>
            <a:endParaRPr b="0" i="0" sz="1200" u="none" cap="none" strike="noStrike">
              <a:solidFill>
                <a:schemeClr val="dk1"/>
              </a:solidFill>
              <a:latin typeface="Calibri"/>
              <a:ea typeface="Calibri"/>
              <a:cs typeface="Calibri"/>
              <a:sym typeface="Calibri"/>
            </a:endParaRPr>
          </a:p>
        </p:txBody>
      </p:sp>
      <p:sp>
        <p:nvSpPr>
          <p:cNvPr id="42" name="Google Shape;42;p2"/>
          <p:cNvSpPr/>
          <p:nvPr/>
        </p:nvSpPr>
        <p:spPr>
          <a:xfrm>
            <a:off x="7498080" y="182880"/>
            <a:ext cx="1463040" cy="548640"/>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7498080" y="182880"/>
            <a:ext cx="14630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Dubai Health</a:t>
            </a:r>
            <a:endParaRPr b="0" i="0" sz="900" u="none" cap="none" strike="noStrike">
              <a:solidFill>
                <a:schemeClr val="dk1"/>
              </a:solidFill>
              <a:latin typeface="Calibri"/>
              <a:ea typeface="Calibri"/>
              <a:cs typeface="Calibri"/>
              <a:sym typeface="Calibri"/>
            </a:endParaRPr>
          </a:p>
        </p:txBody>
      </p:sp>
      <p:sp>
        <p:nvSpPr>
          <p:cNvPr id="44" name="Google Shape;44;p2"/>
          <p:cNvSpPr/>
          <p:nvPr/>
        </p:nvSpPr>
        <p:spPr>
          <a:xfrm>
            <a:off x="365760" y="1188720"/>
            <a:ext cx="5303520" cy="3291840"/>
          </a:xfrm>
          <a:prstGeom prst="rect">
            <a:avLst/>
          </a:prstGeom>
          <a:solidFill>
            <a:srgbClr val="EBF7FC"/>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48640" y="1325880"/>
            <a:ext cx="4937760" cy="3017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E3B"/>
              </a:buClr>
              <a:buSzPts val="1250"/>
              <a:buFont typeface="Calibri"/>
              <a:buNone/>
            </a:pPr>
            <a:r>
              <a:rPr b="0" i="0" lang="en-US" sz="1250" u="none" cap="none" strike="noStrike">
                <a:solidFill>
                  <a:srgbClr val="1A2E3B"/>
                </a:solidFill>
                <a:latin typeface="Calibri"/>
                <a:ea typeface="Calibri"/>
                <a:cs typeface="Calibri"/>
                <a:sym typeface="Calibri"/>
              </a:rPr>
              <a:t>Our APIs are a critical part of applications but potential performance issues are not always identified early during development.</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E3B"/>
              </a:buClr>
              <a:buSzPts val="1250"/>
              <a:buFont typeface="Calibri"/>
              <a:buNone/>
            </a:pPr>
            <a:r>
              <a:rPr b="0" i="0" lang="en-US" sz="1250" u="none" cap="none" strike="noStrike">
                <a:solidFill>
                  <a:srgbClr val="1A2E3B"/>
                </a:solidFill>
                <a:latin typeface="Calibri"/>
                <a:ea typeface="Calibri"/>
                <a:cs typeface="Calibri"/>
                <a:sym typeface="Calibri"/>
              </a:rPr>
              <a:t>Without advanced monitoring or telemetry, teams rely heavily on manual code review and developer experience to detect inefficiencies.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E3B"/>
              </a:buClr>
              <a:buSzPts val="1250"/>
              <a:buFont typeface="Calibri"/>
              <a:buNone/>
            </a:pPr>
            <a:r>
              <a:rPr b="0" i="0" lang="en-US" sz="1250" u="none" cap="none" strike="noStrike">
                <a:solidFill>
                  <a:srgbClr val="1A2E3B"/>
                </a:solidFill>
                <a:latin typeface="Calibri"/>
                <a:ea typeface="Calibri"/>
                <a:cs typeface="Calibri"/>
                <a:sym typeface="Calibri"/>
              </a:rPr>
              <a:t>This increases the risk of performance issues, scalability limitations, and delayed optimization after deployment.</a:t>
            </a:r>
            <a:endParaRPr b="0" i="0" sz="1250" u="none" cap="none" strike="noStrike">
              <a:solidFill>
                <a:schemeClr val="dk1"/>
              </a:solidFill>
              <a:latin typeface="Calibri"/>
              <a:ea typeface="Calibri"/>
              <a:cs typeface="Calibri"/>
              <a:sym typeface="Calibri"/>
            </a:endParaRPr>
          </a:p>
        </p:txBody>
      </p:sp>
      <p:sp>
        <p:nvSpPr>
          <p:cNvPr id="46" name="Google Shape;46;p2"/>
          <p:cNvSpPr/>
          <p:nvPr/>
        </p:nvSpPr>
        <p:spPr>
          <a:xfrm>
            <a:off x="5943600" y="1188720"/>
            <a:ext cx="2926080" cy="713232"/>
          </a:xfrm>
          <a:prstGeom prst="rect">
            <a:avLst/>
          </a:prstGeom>
          <a:solidFill>
            <a:srgbClr val="EBF7FC"/>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5943600" y="1188720"/>
            <a:ext cx="54864" cy="71323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6080760" y="1234440"/>
            <a:ext cx="2697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 Late Detection</a:t>
            </a:r>
            <a:endParaRPr b="0" i="0" sz="1100" u="none" cap="none" strike="noStrike">
              <a:solidFill>
                <a:schemeClr val="dk1"/>
              </a:solidFill>
              <a:latin typeface="Calibri"/>
              <a:ea typeface="Calibri"/>
              <a:cs typeface="Calibri"/>
              <a:sym typeface="Calibri"/>
            </a:endParaRPr>
          </a:p>
        </p:txBody>
      </p:sp>
      <p:sp>
        <p:nvSpPr>
          <p:cNvPr id="49" name="Google Shape;49;p2"/>
          <p:cNvSpPr/>
          <p:nvPr/>
        </p:nvSpPr>
        <p:spPr>
          <a:xfrm>
            <a:off x="6080760" y="1536192"/>
            <a:ext cx="2697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Issues found </a:t>
            </a:r>
            <a:r>
              <a:rPr lang="en-US" sz="1000">
                <a:solidFill>
                  <a:srgbClr val="64748B"/>
                </a:solidFill>
                <a:latin typeface="Calibri"/>
                <a:ea typeface="Calibri"/>
                <a:cs typeface="Calibri"/>
                <a:sym typeface="Calibri"/>
              </a:rPr>
              <a:t>after </a:t>
            </a:r>
            <a:r>
              <a:rPr b="0" i="0" lang="en-US" sz="1000" u="none" cap="none" strike="noStrike">
                <a:solidFill>
                  <a:srgbClr val="64748B"/>
                </a:solidFill>
                <a:latin typeface="Calibri"/>
                <a:ea typeface="Calibri"/>
                <a:cs typeface="Calibri"/>
                <a:sym typeface="Calibri"/>
              </a:rPr>
              <a:t>deployment</a:t>
            </a:r>
            <a:endParaRPr b="0" i="0" sz="1000" u="none" cap="none" strike="noStrike">
              <a:solidFill>
                <a:schemeClr val="dk1"/>
              </a:solidFill>
              <a:latin typeface="Calibri"/>
              <a:ea typeface="Calibri"/>
              <a:cs typeface="Calibri"/>
              <a:sym typeface="Calibri"/>
            </a:endParaRPr>
          </a:p>
        </p:txBody>
      </p:sp>
      <p:sp>
        <p:nvSpPr>
          <p:cNvPr id="50" name="Google Shape;50;p2"/>
          <p:cNvSpPr/>
          <p:nvPr/>
        </p:nvSpPr>
        <p:spPr>
          <a:xfrm>
            <a:off x="5943600" y="2011680"/>
            <a:ext cx="2926080" cy="713232"/>
          </a:xfrm>
          <a:prstGeom prst="rect">
            <a:avLst/>
          </a:prstGeom>
          <a:solidFill>
            <a:srgbClr val="FFFFFF"/>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5943600" y="2011680"/>
            <a:ext cx="54864" cy="71323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6080760" y="2057400"/>
            <a:ext cx="2697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 Manual Review</a:t>
            </a:r>
            <a:endParaRPr b="0" i="0" sz="1100" u="none" cap="none" strike="noStrike">
              <a:solidFill>
                <a:schemeClr val="dk1"/>
              </a:solidFill>
              <a:latin typeface="Calibri"/>
              <a:ea typeface="Calibri"/>
              <a:cs typeface="Calibri"/>
              <a:sym typeface="Calibri"/>
            </a:endParaRPr>
          </a:p>
        </p:txBody>
      </p:sp>
      <p:sp>
        <p:nvSpPr>
          <p:cNvPr id="53" name="Google Shape;53;p2"/>
          <p:cNvSpPr/>
          <p:nvPr/>
        </p:nvSpPr>
        <p:spPr>
          <a:xfrm>
            <a:off x="6080760" y="2359152"/>
            <a:ext cx="2697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Relies on developer experience</a:t>
            </a:r>
            <a:endParaRPr b="0" i="0" sz="1000" u="none" cap="none" strike="noStrike">
              <a:solidFill>
                <a:schemeClr val="dk1"/>
              </a:solidFill>
              <a:latin typeface="Calibri"/>
              <a:ea typeface="Calibri"/>
              <a:cs typeface="Calibri"/>
              <a:sym typeface="Calibri"/>
            </a:endParaRPr>
          </a:p>
        </p:txBody>
      </p:sp>
      <p:sp>
        <p:nvSpPr>
          <p:cNvPr id="54" name="Google Shape;54;p2"/>
          <p:cNvSpPr/>
          <p:nvPr/>
        </p:nvSpPr>
        <p:spPr>
          <a:xfrm>
            <a:off x="5943600" y="2834640"/>
            <a:ext cx="2926080" cy="713232"/>
          </a:xfrm>
          <a:prstGeom prst="rect">
            <a:avLst/>
          </a:prstGeom>
          <a:solidFill>
            <a:srgbClr val="EBF7FC"/>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5943600" y="2834640"/>
            <a:ext cx="54864" cy="71323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6080760" y="2880360"/>
            <a:ext cx="2697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 Scale Risk</a:t>
            </a:r>
            <a:endParaRPr b="0" i="0" sz="1100" u="none" cap="none" strike="noStrike">
              <a:solidFill>
                <a:schemeClr val="dk1"/>
              </a:solidFill>
              <a:latin typeface="Calibri"/>
              <a:ea typeface="Calibri"/>
              <a:cs typeface="Calibri"/>
              <a:sym typeface="Calibri"/>
            </a:endParaRPr>
          </a:p>
        </p:txBody>
      </p:sp>
      <p:sp>
        <p:nvSpPr>
          <p:cNvPr id="57" name="Google Shape;57;p2"/>
          <p:cNvSpPr/>
          <p:nvPr/>
        </p:nvSpPr>
        <p:spPr>
          <a:xfrm>
            <a:off x="6080760" y="3182112"/>
            <a:ext cx="2697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Scalability limits undetected</a:t>
            </a:r>
            <a:endParaRPr b="0" i="0" sz="1000" u="none" cap="none" strike="noStrike">
              <a:solidFill>
                <a:schemeClr val="dk1"/>
              </a:solidFill>
              <a:latin typeface="Calibri"/>
              <a:ea typeface="Calibri"/>
              <a:cs typeface="Calibri"/>
              <a:sym typeface="Calibri"/>
            </a:endParaRPr>
          </a:p>
        </p:txBody>
      </p:sp>
      <p:sp>
        <p:nvSpPr>
          <p:cNvPr id="58" name="Google Shape;58;p2"/>
          <p:cNvSpPr/>
          <p:nvPr/>
        </p:nvSpPr>
        <p:spPr>
          <a:xfrm>
            <a:off x="5943600" y="3657600"/>
            <a:ext cx="2926080" cy="713232"/>
          </a:xfrm>
          <a:prstGeom prst="rect">
            <a:avLst/>
          </a:prstGeom>
          <a:solidFill>
            <a:srgbClr val="FFFFFF"/>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5943600" y="3657600"/>
            <a:ext cx="54864" cy="71323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6080760" y="3703320"/>
            <a:ext cx="2697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 Delayed Fix</a:t>
            </a:r>
            <a:endParaRPr b="0" i="0" sz="1100" u="none" cap="none" strike="noStrike">
              <a:solidFill>
                <a:schemeClr val="dk1"/>
              </a:solidFill>
              <a:latin typeface="Calibri"/>
              <a:ea typeface="Calibri"/>
              <a:cs typeface="Calibri"/>
              <a:sym typeface="Calibri"/>
            </a:endParaRPr>
          </a:p>
        </p:txBody>
      </p:sp>
      <p:sp>
        <p:nvSpPr>
          <p:cNvPr id="61" name="Google Shape;61;p2"/>
          <p:cNvSpPr/>
          <p:nvPr/>
        </p:nvSpPr>
        <p:spPr>
          <a:xfrm>
            <a:off x="6080760" y="4005072"/>
            <a:ext cx="2697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Optimization happens too late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sp>
        <p:nvSpPr>
          <p:cNvPr id="67" name="Google Shape;67;p3"/>
          <p:cNvSpPr/>
          <p:nvPr/>
        </p:nvSpPr>
        <p:spPr>
          <a:xfrm>
            <a:off x="0" y="0"/>
            <a:ext cx="9144000" cy="1005840"/>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457200" y="228600"/>
            <a:ext cx="7315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Expected Benefits &amp; Key Audience</a:t>
            </a:r>
            <a:endParaRPr b="0" i="0" sz="2200" u="none" cap="none" strike="noStrike">
              <a:solidFill>
                <a:schemeClr val="dk1"/>
              </a:solidFill>
              <a:latin typeface="Calibri"/>
              <a:ea typeface="Calibri"/>
              <a:cs typeface="Calibri"/>
              <a:sym typeface="Calibri"/>
            </a:endParaRPr>
          </a:p>
        </p:txBody>
      </p:sp>
      <p:sp>
        <p:nvSpPr>
          <p:cNvPr id="69" name="Google Shape;69;p3"/>
          <p:cNvSpPr/>
          <p:nvPr/>
        </p:nvSpPr>
        <p:spPr>
          <a:xfrm>
            <a:off x="7498080" y="182880"/>
            <a:ext cx="1463040" cy="548640"/>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498080" y="182880"/>
            <a:ext cx="14630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Dubai Health</a:t>
            </a:r>
            <a:endParaRPr b="0" i="0" sz="900" u="none" cap="none" strike="noStrike">
              <a:solidFill>
                <a:schemeClr val="dk1"/>
              </a:solidFill>
              <a:latin typeface="Calibri"/>
              <a:ea typeface="Calibri"/>
              <a:cs typeface="Calibri"/>
              <a:sym typeface="Calibri"/>
            </a:endParaRPr>
          </a:p>
        </p:txBody>
      </p:sp>
      <p:sp>
        <p:nvSpPr>
          <p:cNvPr id="71" name="Google Shape;71;p3"/>
          <p:cNvSpPr/>
          <p:nvPr/>
        </p:nvSpPr>
        <p:spPr>
          <a:xfrm>
            <a:off x="365760" y="1097280"/>
            <a:ext cx="5029200" cy="365760"/>
          </a:xfrm>
          <a:prstGeom prst="rect">
            <a:avLst/>
          </a:prstGeom>
          <a:solidFill>
            <a:srgbClr val="007B9E"/>
          </a:solidFill>
          <a:ln cap="flat" cmpd="sng" w="12700">
            <a:solidFill>
              <a:srgbClr val="007B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365760" y="1097280"/>
            <a:ext cx="5029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Expected Benefits</a:t>
            </a:r>
            <a:endParaRPr b="0" i="0" sz="1300" u="none" cap="none" strike="noStrike">
              <a:solidFill>
                <a:schemeClr val="dk1"/>
              </a:solidFill>
              <a:latin typeface="Calibri"/>
              <a:ea typeface="Calibri"/>
              <a:cs typeface="Calibri"/>
              <a:sym typeface="Calibri"/>
            </a:endParaRPr>
          </a:p>
        </p:txBody>
      </p:sp>
      <p:sp>
        <p:nvSpPr>
          <p:cNvPr id="73" name="Google Shape;73;p3"/>
          <p:cNvSpPr/>
          <p:nvPr/>
        </p:nvSpPr>
        <p:spPr>
          <a:xfrm>
            <a:off x="457200" y="1554480"/>
            <a:ext cx="4846320" cy="3200400"/>
          </a:xfrm>
          <a:prstGeom prst="rect">
            <a:avLst/>
          </a:prstGeom>
          <a:noFill/>
          <a:ln>
            <a:noFill/>
          </a:ln>
        </p:spPr>
        <p:txBody>
          <a:bodyPr anchorCtr="0" anchor="ctr" bIns="0" lIns="0" spcFirstLastPara="1" rIns="0" wrap="square" tIns="63500">
            <a:noAutofit/>
          </a:bodyPr>
          <a:lstStyle/>
          <a:p>
            <a:pPr indent="-342900" lvl="0" marL="342900" marR="0" rtl="0" algn="l">
              <a:spcBef>
                <a:spcPts val="0"/>
              </a:spcBef>
              <a:spcAft>
                <a:spcPts val="0"/>
              </a:spcAft>
              <a:buClr>
                <a:srgbClr val="1A2E3B"/>
              </a:buClr>
              <a:buSzPts val="1100"/>
              <a:buFont typeface="Calibri"/>
              <a:buChar char="•"/>
            </a:pPr>
            <a:r>
              <a:rPr b="0" i="0" lang="en-US" sz="1100" u="none" cap="none" strike="noStrike">
                <a:solidFill>
                  <a:srgbClr val="1A2E3B"/>
                </a:solidFill>
                <a:latin typeface="Calibri"/>
                <a:ea typeface="Calibri"/>
                <a:cs typeface="Calibri"/>
                <a:sym typeface="Calibri"/>
              </a:rPr>
              <a:t>Detect performance risks earlier in the development lifecycle</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E3B"/>
              </a:buClr>
              <a:buSzPts val="1100"/>
              <a:buFont typeface="Calibri"/>
              <a:buChar char="•"/>
            </a:pPr>
            <a:r>
              <a:rPr b="0" i="0" lang="en-US" sz="1100" u="none" cap="none" strike="noStrike">
                <a:solidFill>
                  <a:srgbClr val="1A2E3B"/>
                </a:solidFill>
                <a:latin typeface="Calibri"/>
                <a:ea typeface="Calibri"/>
                <a:cs typeface="Calibri"/>
                <a:sym typeface="Calibri"/>
              </a:rPr>
              <a:t>Reduce manual effort in code review</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E3B"/>
              </a:buClr>
              <a:buSzPts val="1100"/>
              <a:buFont typeface="Calibri"/>
              <a:buChar char="•"/>
            </a:pPr>
            <a:r>
              <a:rPr b="0" i="0" lang="en-US" sz="1100" u="none" cap="none" strike="noStrike">
                <a:solidFill>
                  <a:srgbClr val="1A2E3B"/>
                </a:solidFill>
                <a:latin typeface="Calibri"/>
                <a:ea typeface="Calibri"/>
                <a:cs typeface="Calibri"/>
                <a:sym typeface="Calibri"/>
              </a:rPr>
              <a:t>Improve API design and implementation quality</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E3B"/>
              </a:buClr>
              <a:buSzPts val="1100"/>
              <a:buFont typeface="Calibri"/>
              <a:buChar char="•"/>
            </a:pPr>
            <a:r>
              <a:rPr b="0" i="0" lang="en-US" sz="1100" u="none" cap="none" strike="noStrike">
                <a:solidFill>
                  <a:srgbClr val="1A2E3B"/>
                </a:solidFill>
                <a:latin typeface="Calibri"/>
                <a:ea typeface="Calibri"/>
                <a:cs typeface="Calibri"/>
                <a:sym typeface="Calibri"/>
              </a:rPr>
              <a:t>Identify inefficient patterns before deployment</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E3B"/>
              </a:buClr>
              <a:buSzPts val="1100"/>
              <a:buFont typeface="Calibri"/>
              <a:buChar char="•"/>
            </a:pPr>
            <a:r>
              <a:rPr b="0" i="0" lang="en-US" sz="1100" u="none" cap="none" strike="noStrike">
                <a:solidFill>
                  <a:srgbClr val="1A2E3B"/>
                </a:solidFill>
                <a:latin typeface="Calibri"/>
                <a:ea typeface="Calibri"/>
                <a:cs typeface="Calibri"/>
                <a:sym typeface="Calibri"/>
              </a:rPr>
              <a:t>Support developers with optimization recommendations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E3B"/>
              </a:buClr>
              <a:buSzPts val="1100"/>
              <a:buFont typeface="Calibri"/>
              <a:buChar char="•"/>
            </a:pPr>
            <a:r>
              <a:rPr b="0" i="0" lang="en-US" sz="1100" u="none" cap="none" strike="noStrike">
                <a:solidFill>
                  <a:srgbClr val="1A2E3B"/>
                </a:solidFill>
                <a:latin typeface="Calibri"/>
                <a:ea typeface="Calibri"/>
                <a:cs typeface="Calibri"/>
                <a:sym typeface="Calibri"/>
              </a:rPr>
              <a:t>Improve scalability and maintainability of APIs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E3B"/>
              </a:buClr>
              <a:buSzPts val="1100"/>
              <a:buFont typeface="Calibri"/>
              <a:buChar char="•"/>
            </a:pPr>
            <a:r>
              <a:rPr b="0" i="0" lang="en-US" sz="1100" u="none" cap="none" strike="noStrike">
                <a:solidFill>
                  <a:srgbClr val="1A2E3B"/>
                </a:solidFill>
                <a:latin typeface="Calibri"/>
                <a:ea typeface="Calibri"/>
                <a:cs typeface="Calibri"/>
                <a:sym typeface="Calibri"/>
              </a:rPr>
              <a:t>Reduce future troubleshooting effort</a:t>
            </a:r>
            <a:endParaRPr b="0" i="0" sz="1100" u="none" cap="none" strike="noStrike">
              <a:solidFill>
                <a:schemeClr val="dk1"/>
              </a:solidFill>
              <a:latin typeface="Calibri"/>
              <a:ea typeface="Calibri"/>
              <a:cs typeface="Calibri"/>
              <a:sym typeface="Calibri"/>
            </a:endParaRPr>
          </a:p>
        </p:txBody>
      </p:sp>
      <p:sp>
        <p:nvSpPr>
          <p:cNvPr id="74" name="Google Shape;74;p3"/>
          <p:cNvSpPr/>
          <p:nvPr/>
        </p:nvSpPr>
        <p:spPr>
          <a:xfrm>
            <a:off x="5577840" y="1097280"/>
            <a:ext cx="3200400" cy="365760"/>
          </a:xfrm>
          <a:prstGeom prst="rect">
            <a:avLst/>
          </a:prstGeom>
          <a:solidFill>
            <a:srgbClr val="007B9E"/>
          </a:solidFill>
          <a:ln cap="flat" cmpd="sng" w="12700">
            <a:solidFill>
              <a:srgbClr val="007B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5577840" y="1097280"/>
            <a:ext cx="32004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Key Audience</a:t>
            </a:r>
            <a:endParaRPr b="0" i="0" sz="1300" u="none" cap="none" strike="noStrike">
              <a:solidFill>
                <a:schemeClr val="dk1"/>
              </a:solidFill>
              <a:latin typeface="Calibri"/>
              <a:ea typeface="Calibri"/>
              <a:cs typeface="Calibri"/>
              <a:sym typeface="Calibri"/>
            </a:endParaRPr>
          </a:p>
        </p:txBody>
      </p:sp>
      <p:sp>
        <p:nvSpPr>
          <p:cNvPr id="76" name="Google Shape;76;p3"/>
          <p:cNvSpPr/>
          <p:nvPr/>
        </p:nvSpPr>
        <p:spPr>
          <a:xfrm>
            <a:off x="5577840" y="1572768"/>
            <a:ext cx="3200400" cy="384048"/>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5623560" y="1655064"/>
            <a:ext cx="201168" cy="201168"/>
          </a:xfrm>
          <a:prstGeom prst="ellipse">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5897880" y="1618488"/>
            <a:ext cx="2834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1100"/>
              <a:buFont typeface="Calibri"/>
              <a:buNone/>
            </a:pPr>
            <a:r>
              <a:rPr b="0" i="0" lang="en-US" sz="1100" u="none" cap="none" strike="noStrike">
                <a:solidFill>
                  <a:srgbClr val="1A2E3B"/>
                </a:solidFill>
                <a:latin typeface="Calibri"/>
                <a:ea typeface="Calibri"/>
                <a:cs typeface="Calibri"/>
                <a:sym typeface="Calibri"/>
              </a:rPr>
              <a:t>API Developers</a:t>
            </a:r>
            <a:endParaRPr b="0" i="0" sz="1100" u="none" cap="none" strike="noStrike">
              <a:solidFill>
                <a:schemeClr val="dk1"/>
              </a:solidFill>
              <a:latin typeface="Calibri"/>
              <a:ea typeface="Calibri"/>
              <a:cs typeface="Calibri"/>
              <a:sym typeface="Calibri"/>
            </a:endParaRPr>
          </a:p>
        </p:txBody>
      </p:sp>
      <p:sp>
        <p:nvSpPr>
          <p:cNvPr id="79" name="Google Shape;79;p3"/>
          <p:cNvSpPr/>
          <p:nvPr/>
        </p:nvSpPr>
        <p:spPr>
          <a:xfrm>
            <a:off x="5577840" y="2020824"/>
            <a:ext cx="3200400" cy="384048"/>
          </a:xfrm>
          <a:prstGeom prst="rect">
            <a:avLst/>
          </a:prstGeom>
          <a:solidFill>
            <a:srgbClr val="FFFFFF"/>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5623560" y="2103120"/>
            <a:ext cx="201168" cy="201168"/>
          </a:xfrm>
          <a:prstGeom prst="ellipse">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5897880" y="2066544"/>
            <a:ext cx="2834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1100"/>
              <a:buFont typeface="Calibri"/>
              <a:buNone/>
            </a:pPr>
            <a:r>
              <a:rPr b="0" i="0" lang="en-US" sz="1100" u="none" cap="none" strike="noStrike">
                <a:solidFill>
                  <a:srgbClr val="1A2E3B"/>
                </a:solidFill>
                <a:latin typeface="Calibri"/>
                <a:ea typeface="Calibri"/>
                <a:cs typeface="Calibri"/>
                <a:sym typeface="Calibri"/>
              </a:rPr>
              <a:t>Software Engineers</a:t>
            </a:r>
            <a:endParaRPr b="0" i="0" sz="1100" u="none" cap="none" strike="noStrike">
              <a:solidFill>
                <a:schemeClr val="dk1"/>
              </a:solidFill>
              <a:latin typeface="Calibri"/>
              <a:ea typeface="Calibri"/>
              <a:cs typeface="Calibri"/>
              <a:sym typeface="Calibri"/>
            </a:endParaRPr>
          </a:p>
        </p:txBody>
      </p:sp>
      <p:sp>
        <p:nvSpPr>
          <p:cNvPr id="82" name="Google Shape;82;p3"/>
          <p:cNvSpPr/>
          <p:nvPr/>
        </p:nvSpPr>
        <p:spPr>
          <a:xfrm>
            <a:off x="5577840" y="2468880"/>
            <a:ext cx="3200400" cy="384048"/>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5623560" y="2551176"/>
            <a:ext cx="201168" cy="201168"/>
          </a:xfrm>
          <a:prstGeom prst="ellipse">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5897880" y="2514600"/>
            <a:ext cx="2834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1100"/>
              <a:buFont typeface="Calibri"/>
              <a:buNone/>
            </a:pPr>
            <a:r>
              <a:rPr b="0" i="0" lang="en-US" sz="1100" u="none" cap="none" strike="noStrike">
                <a:solidFill>
                  <a:srgbClr val="1A2E3B"/>
                </a:solidFill>
                <a:latin typeface="Calibri"/>
                <a:ea typeface="Calibri"/>
                <a:cs typeface="Calibri"/>
                <a:sym typeface="Calibri"/>
              </a:rPr>
              <a:t>Technical Leads</a:t>
            </a:r>
            <a:endParaRPr b="0" i="0" sz="1100" u="none" cap="none" strike="noStrike">
              <a:solidFill>
                <a:schemeClr val="dk1"/>
              </a:solidFill>
              <a:latin typeface="Calibri"/>
              <a:ea typeface="Calibri"/>
              <a:cs typeface="Calibri"/>
              <a:sym typeface="Calibri"/>
            </a:endParaRPr>
          </a:p>
        </p:txBody>
      </p:sp>
      <p:sp>
        <p:nvSpPr>
          <p:cNvPr id="85" name="Google Shape;85;p3"/>
          <p:cNvSpPr/>
          <p:nvPr/>
        </p:nvSpPr>
        <p:spPr>
          <a:xfrm>
            <a:off x="5577840" y="2916936"/>
            <a:ext cx="3200400" cy="384048"/>
          </a:xfrm>
          <a:prstGeom prst="rect">
            <a:avLst/>
          </a:prstGeom>
          <a:solidFill>
            <a:srgbClr val="FFFFFF"/>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5623560" y="2999232"/>
            <a:ext cx="201168" cy="201168"/>
          </a:xfrm>
          <a:prstGeom prst="ellipse">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5897880" y="2962656"/>
            <a:ext cx="2834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1100"/>
              <a:buFont typeface="Calibri"/>
              <a:buNone/>
            </a:pPr>
            <a:r>
              <a:rPr b="0" i="0" lang="en-US" sz="1100" u="none" cap="none" strike="noStrike">
                <a:solidFill>
                  <a:srgbClr val="1A2E3B"/>
                </a:solidFill>
                <a:latin typeface="Calibri"/>
                <a:ea typeface="Calibri"/>
                <a:cs typeface="Calibri"/>
                <a:sym typeface="Calibri"/>
              </a:rPr>
              <a:t>Code Reviewers</a:t>
            </a:r>
            <a:endParaRPr b="0" i="0" sz="1100" u="none" cap="none" strike="noStrike">
              <a:solidFill>
                <a:schemeClr val="dk1"/>
              </a:solidFill>
              <a:latin typeface="Calibri"/>
              <a:ea typeface="Calibri"/>
              <a:cs typeface="Calibri"/>
              <a:sym typeface="Calibri"/>
            </a:endParaRPr>
          </a:p>
        </p:txBody>
      </p:sp>
      <p:sp>
        <p:nvSpPr>
          <p:cNvPr id="88" name="Google Shape;88;p3"/>
          <p:cNvSpPr/>
          <p:nvPr/>
        </p:nvSpPr>
        <p:spPr>
          <a:xfrm>
            <a:off x="5577840" y="3364992"/>
            <a:ext cx="3200400" cy="384048"/>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5623560" y="3447288"/>
            <a:ext cx="201168" cy="201168"/>
          </a:xfrm>
          <a:prstGeom prst="ellipse">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5897880" y="3410712"/>
            <a:ext cx="2834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1100"/>
              <a:buFont typeface="Calibri"/>
              <a:buNone/>
            </a:pPr>
            <a:r>
              <a:rPr b="0" i="0" lang="en-US" sz="1100" u="none" cap="none" strike="noStrike">
                <a:solidFill>
                  <a:srgbClr val="1A2E3B"/>
                </a:solidFill>
                <a:latin typeface="Calibri"/>
                <a:ea typeface="Calibri"/>
                <a:cs typeface="Calibri"/>
                <a:sym typeface="Calibri"/>
              </a:rPr>
              <a:t>Solution Architects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sp>
        <p:nvSpPr>
          <p:cNvPr id="96" name="Google Shape;96;p4"/>
          <p:cNvSpPr/>
          <p:nvPr/>
        </p:nvSpPr>
        <p:spPr>
          <a:xfrm>
            <a:off x="0" y="0"/>
            <a:ext cx="9144000" cy="1005840"/>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457200" y="228600"/>
            <a:ext cx="7315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Data Requirements &amp; System Dependencies</a:t>
            </a:r>
            <a:endParaRPr b="0" i="0" sz="2000" u="none" cap="none" strike="noStrike">
              <a:solidFill>
                <a:schemeClr val="dk1"/>
              </a:solidFill>
              <a:latin typeface="Calibri"/>
              <a:ea typeface="Calibri"/>
              <a:cs typeface="Calibri"/>
              <a:sym typeface="Calibri"/>
            </a:endParaRPr>
          </a:p>
        </p:txBody>
      </p:sp>
      <p:sp>
        <p:nvSpPr>
          <p:cNvPr id="98" name="Google Shape;98;p4"/>
          <p:cNvSpPr/>
          <p:nvPr/>
        </p:nvSpPr>
        <p:spPr>
          <a:xfrm>
            <a:off x="7498080" y="182880"/>
            <a:ext cx="1463040" cy="548640"/>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7498080" y="182880"/>
            <a:ext cx="14630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Dubai Health</a:t>
            </a:r>
            <a:endParaRPr b="0" i="0" sz="900" u="none" cap="none" strike="noStrike">
              <a:solidFill>
                <a:schemeClr val="dk1"/>
              </a:solidFill>
              <a:latin typeface="Calibri"/>
              <a:ea typeface="Calibri"/>
              <a:cs typeface="Calibri"/>
              <a:sym typeface="Calibri"/>
            </a:endParaRPr>
          </a:p>
        </p:txBody>
      </p:sp>
      <p:sp>
        <p:nvSpPr>
          <p:cNvPr id="100" name="Google Shape;100;p4"/>
          <p:cNvSpPr/>
          <p:nvPr/>
        </p:nvSpPr>
        <p:spPr>
          <a:xfrm>
            <a:off x="365760" y="1097280"/>
            <a:ext cx="4023360" cy="365760"/>
          </a:xfrm>
          <a:prstGeom prst="rect">
            <a:avLst/>
          </a:prstGeom>
          <a:solidFill>
            <a:srgbClr val="007B9E"/>
          </a:solidFill>
          <a:ln cap="flat" cmpd="sng" w="12700">
            <a:solidFill>
              <a:srgbClr val="007B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365760" y="1097280"/>
            <a:ext cx="40233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Data Requirement (Data Type)</a:t>
            </a:r>
            <a:endParaRPr b="0" i="0" sz="1200" u="none" cap="none" strike="noStrike">
              <a:solidFill>
                <a:schemeClr val="dk1"/>
              </a:solidFill>
              <a:latin typeface="Calibri"/>
              <a:ea typeface="Calibri"/>
              <a:cs typeface="Calibri"/>
              <a:sym typeface="Calibri"/>
            </a:endParaRPr>
          </a:p>
        </p:txBody>
      </p:sp>
      <p:sp>
        <p:nvSpPr>
          <p:cNvPr id="102" name="Google Shape;102;p4"/>
          <p:cNvSpPr/>
          <p:nvPr/>
        </p:nvSpPr>
        <p:spPr>
          <a:xfrm>
            <a:off x="457200" y="1554480"/>
            <a:ext cx="3840480" cy="3200400"/>
          </a:xfrm>
          <a:prstGeom prst="rect">
            <a:avLst/>
          </a:prstGeom>
          <a:noFill/>
          <a:ln>
            <a:noFill/>
          </a:ln>
        </p:spPr>
        <p:txBody>
          <a:bodyPr anchorCtr="0" anchor="ctr" bIns="0" lIns="0" spcFirstLastPara="1" rIns="0" wrap="square" tIns="63500">
            <a:noAutofit/>
          </a:bodyPr>
          <a:lstStyle/>
          <a:p>
            <a:pPr indent="-342900" lvl="0" marL="342900" marR="0" rtl="0" algn="l">
              <a:spcBef>
                <a:spcPts val="0"/>
              </a:spcBef>
              <a:spcAft>
                <a:spcPts val="0"/>
              </a:spcAft>
              <a:buClr>
                <a:srgbClr val="1A2E3B"/>
              </a:buClr>
              <a:buSzPts val="1100"/>
              <a:buFont typeface="Calibri"/>
              <a:buChar char="•"/>
            </a:pPr>
            <a:r>
              <a:rPr b="0" i="0" lang="en-US" sz="1100" u="none" cap="none" strike="noStrike">
                <a:solidFill>
                  <a:srgbClr val="1A2E3B"/>
                </a:solidFill>
                <a:latin typeface="Calibri"/>
                <a:ea typeface="Calibri"/>
                <a:cs typeface="Calibri"/>
                <a:sym typeface="Calibri"/>
              </a:rPr>
              <a:t>API source code</a:t>
            </a:r>
            <a:endParaRPr b="0" i="0" sz="11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1A2E3B"/>
              </a:buClr>
              <a:buSzPts val="1100"/>
              <a:buFont typeface="Calibri"/>
              <a:buChar char="•"/>
            </a:pPr>
            <a:r>
              <a:rPr b="0" i="0" lang="en-US" sz="1100" u="none" cap="none" strike="noStrike">
                <a:solidFill>
                  <a:srgbClr val="1A2E3B"/>
                </a:solidFill>
                <a:latin typeface="Calibri"/>
                <a:ea typeface="Calibri"/>
                <a:cs typeface="Calibri"/>
                <a:sym typeface="Calibri"/>
              </a:rPr>
              <a:t>Controller and service logic</a:t>
            </a:r>
            <a:endParaRPr b="0" i="0" sz="11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1A2E3B"/>
              </a:buClr>
              <a:buSzPts val="1100"/>
              <a:buFont typeface="Calibri"/>
              <a:buChar char="•"/>
            </a:pPr>
            <a:r>
              <a:rPr b="0" i="0" lang="en-US" sz="1100" u="none" cap="none" strike="noStrike">
                <a:solidFill>
                  <a:srgbClr val="1A2E3B"/>
                </a:solidFill>
                <a:latin typeface="Calibri"/>
                <a:ea typeface="Calibri"/>
                <a:cs typeface="Calibri"/>
                <a:sym typeface="Calibri"/>
              </a:rPr>
              <a:t>Data access code</a:t>
            </a:r>
            <a:endParaRPr b="0" i="0" sz="11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1A2E3B"/>
              </a:buClr>
              <a:buSzPts val="1100"/>
              <a:buFont typeface="Calibri"/>
              <a:buChar char="•"/>
            </a:pPr>
            <a:r>
              <a:rPr b="0" i="0" lang="en-US" sz="1100" u="none" cap="none" strike="noStrike">
                <a:solidFill>
                  <a:srgbClr val="1A2E3B"/>
                </a:solidFill>
                <a:latin typeface="Calibri"/>
                <a:ea typeface="Calibri"/>
                <a:cs typeface="Calibri"/>
                <a:sym typeface="Calibri"/>
              </a:rPr>
              <a:t>Database query patterns</a:t>
            </a:r>
            <a:endParaRPr b="0" i="0" sz="11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1A2E3B"/>
              </a:buClr>
              <a:buSzPts val="1100"/>
              <a:buFont typeface="Calibri"/>
              <a:buChar char="•"/>
            </a:pPr>
            <a:r>
              <a:rPr b="0" i="0" lang="en-US" sz="1100" u="none" cap="none" strike="noStrike">
                <a:solidFill>
                  <a:srgbClr val="1A2E3B"/>
                </a:solidFill>
                <a:latin typeface="Calibri"/>
                <a:ea typeface="Calibri"/>
                <a:cs typeface="Calibri"/>
                <a:sym typeface="Calibri"/>
              </a:rPr>
              <a:t>API contracts and payload models</a:t>
            </a:r>
            <a:endParaRPr b="0" i="0" sz="1100" u="none" cap="none" strike="noStrike">
              <a:solidFill>
                <a:schemeClr val="dk1"/>
              </a:solidFill>
              <a:latin typeface="Calibri"/>
              <a:ea typeface="Calibri"/>
              <a:cs typeface="Calibri"/>
              <a:sym typeface="Calibri"/>
            </a:endParaRPr>
          </a:p>
          <a:p>
            <a:pPr indent="0" lvl="0" marL="0" marR="0" rtl="0" algn="l">
              <a:spcBef>
                <a:spcPts val="500"/>
              </a:spcBef>
              <a:spcAft>
                <a:spcPts val="0"/>
              </a:spcAft>
              <a:buNone/>
            </a:pPr>
            <a:r>
              <a:t/>
            </a:r>
            <a:endParaRPr b="0" i="0" sz="1100" u="none" cap="none" strike="noStrike">
              <a:solidFill>
                <a:schemeClr val="dk1"/>
              </a:solidFill>
              <a:latin typeface="Calibri"/>
              <a:ea typeface="Calibri"/>
              <a:cs typeface="Calibri"/>
              <a:sym typeface="Calibri"/>
            </a:endParaRPr>
          </a:p>
        </p:txBody>
      </p:sp>
      <p:sp>
        <p:nvSpPr>
          <p:cNvPr id="103" name="Google Shape;103;p4"/>
          <p:cNvSpPr/>
          <p:nvPr/>
        </p:nvSpPr>
        <p:spPr>
          <a:xfrm>
            <a:off x="4754880" y="1097280"/>
            <a:ext cx="4023360" cy="365760"/>
          </a:xfrm>
          <a:prstGeom prst="rect">
            <a:avLst/>
          </a:prstGeom>
          <a:solidFill>
            <a:srgbClr val="007B9E"/>
          </a:solidFill>
          <a:ln cap="flat" cmpd="sng" w="12700">
            <a:solidFill>
              <a:srgbClr val="007B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4754880" y="1097280"/>
            <a:ext cx="40233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System Dependencies</a:t>
            </a:r>
            <a:endParaRPr b="0" i="0" sz="1200" u="none" cap="none" strike="noStrike">
              <a:solidFill>
                <a:schemeClr val="dk1"/>
              </a:solidFill>
              <a:latin typeface="Calibri"/>
              <a:ea typeface="Calibri"/>
              <a:cs typeface="Calibri"/>
              <a:sym typeface="Calibri"/>
            </a:endParaRPr>
          </a:p>
        </p:txBody>
      </p:sp>
      <p:sp>
        <p:nvSpPr>
          <p:cNvPr id="105" name="Google Shape;105;p4"/>
          <p:cNvSpPr/>
          <p:nvPr/>
        </p:nvSpPr>
        <p:spPr>
          <a:xfrm>
            <a:off x="4754880" y="1572768"/>
            <a:ext cx="4023360" cy="43891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4754880" y="1572768"/>
            <a:ext cx="54864" cy="438912"/>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4892040" y="1618488"/>
            <a:ext cx="37947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1100"/>
              <a:buFont typeface="Calibri"/>
              <a:buNone/>
            </a:pPr>
            <a:r>
              <a:rPr b="0" i="0" lang="en-US" sz="1100" u="none" cap="none" strike="noStrike">
                <a:solidFill>
                  <a:srgbClr val="1A2E3B"/>
                </a:solidFill>
                <a:latin typeface="Calibri"/>
                <a:ea typeface="Calibri"/>
                <a:cs typeface="Calibri"/>
                <a:sym typeface="Calibri"/>
              </a:rPr>
              <a:t>Source code repository</a:t>
            </a:r>
            <a:endParaRPr b="0" i="0" sz="1100" u="none" cap="none" strike="noStrike">
              <a:solidFill>
                <a:schemeClr val="dk1"/>
              </a:solidFill>
              <a:latin typeface="Calibri"/>
              <a:ea typeface="Calibri"/>
              <a:cs typeface="Calibri"/>
              <a:sym typeface="Calibri"/>
            </a:endParaRPr>
          </a:p>
        </p:txBody>
      </p:sp>
      <p:sp>
        <p:nvSpPr>
          <p:cNvPr id="108" name="Google Shape;108;p4"/>
          <p:cNvSpPr/>
          <p:nvPr/>
        </p:nvSpPr>
        <p:spPr>
          <a:xfrm>
            <a:off x="4754880" y="2084832"/>
            <a:ext cx="4023360" cy="438912"/>
          </a:xfrm>
          <a:prstGeom prst="rect">
            <a:avLst/>
          </a:prstGeom>
          <a:solidFill>
            <a:srgbClr val="FFFFFF"/>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4754880" y="2084832"/>
            <a:ext cx="54864" cy="438912"/>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4892040" y="2130552"/>
            <a:ext cx="37947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1100"/>
              <a:buFont typeface="Calibri"/>
              <a:buNone/>
            </a:pPr>
            <a:r>
              <a:rPr b="0" i="0" lang="en-US" sz="1100" u="none" cap="none" strike="noStrike">
                <a:solidFill>
                  <a:srgbClr val="1A2E3B"/>
                </a:solidFill>
                <a:latin typeface="Calibri"/>
                <a:ea typeface="Calibri"/>
                <a:cs typeface="Calibri"/>
                <a:sym typeface="Calibri"/>
              </a:rPr>
              <a:t>Secure AI environment</a:t>
            </a:r>
            <a:endParaRPr b="0" i="0" sz="1100" u="none" cap="none" strike="noStrike">
              <a:solidFill>
                <a:schemeClr val="dk1"/>
              </a:solidFill>
              <a:latin typeface="Calibri"/>
              <a:ea typeface="Calibri"/>
              <a:cs typeface="Calibri"/>
              <a:sym typeface="Calibri"/>
            </a:endParaRPr>
          </a:p>
        </p:txBody>
      </p:sp>
      <p:sp>
        <p:nvSpPr>
          <p:cNvPr id="111" name="Google Shape;111;p4"/>
          <p:cNvSpPr/>
          <p:nvPr/>
        </p:nvSpPr>
        <p:spPr>
          <a:xfrm>
            <a:off x="4754880" y="2596896"/>
            <a:ext cx="4023360" cy="43891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4754880" y="2596896"/>
            <a:ext cx="54864" cy="438912"/>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4892040" y="2642616"/>
            <a:ext cx="37947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1100"/>
              <a:buFont typeface="Calibri"/>
              <a:buNone/>
            </a:pPr>
            <a:r>
              <a:rPr b="0" i="0" lang="en-US" sz="1100" u="none" cap="none" strike="noStrike">
                <a:solidFill>
                  <a:srgbClr val="1A2E3B"/>
                </a:solidFill>
                <a:latin typeface="Calibri"/>
                <a:ea typeface="Calibri"/>
                <a:cs typeface="Calibri"/>
                <a:sym typeface="Calibri"/>
              </a:rPr>
              <a:t>Approved code review workflow</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 name="Shape 118"/>
        <p:cNvGrpSpPr/>
        <p:nvPr/>
      </p:nvGrpSpPr>
      <p:grpSpPr>
        <a:xfrm>
          <a:off x="0" y="0"/>
          <a:ext cx="0" cy="0"/>
          <a:chOff x="0" y="0"/>
          <a:chExt cx="0" cy="0"/>
        </a:xfrm>
      </p:grpSpPr>
      <p:sp>
        <p:nvSpPr>
          <p:cNvPr id="119" name="Google Shape;119;p5"/>
          <p:cNvSpPr/>
          <p:nvPr/>
        </p:nvSpPr>
        <p:spPr>
          <a:xfrm>
            <a:off x="0" y="0"/>
            <a:ext cx="9144000" cy="1005840"/>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457200" y="228600"/>
            <a:ext cx="7315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Top 10 Things AI Can Do in This Use Case</a:t>
            </a:r>
            <a:endParaRPr b="0" i="0" sz="2000" u="none" cap="none" strike="noStrike">
              <a:solidFill>
                <a:schemeClr val="dk1"/>
              </a:solidFill>
              <a:latin typeface="Calibri"/>
              <a:ea typeface="Calibri"/>
              <a:cs typeface="Calibri"/>
              <a:sym typeface="Calibri"/>
            </a:endParaRPr>
          </a:p>
        </p:txBody>
      </p:sp>
      <p:sp>
        <p:nvSpPr>
          <p:cNvPr id="121" name="Google Shape;121;p5"/>
          <p:cNvSpPr/>
          <p:nvPr/>
        </p:nvSpPr>
        <p:spPr>
          <a:xfrm>
            <a:off x="7498080" y="182880"/>
            <a:ext cx="1463040" cy="548640"/>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7498080" y="182880"/>
            <a:ext cx="14630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Dubai Health</a:t>
            </a:r>
            <a:endParaRPr b="0" i="0" sz="900" u="none" cap="none" strike="noStrike">
              <a:solidFill>
                <a:schemeClr val="dk1"/>
              </a:solidFill>
              <a:latin typeface="Calibri"/>
              <a:ea typeface="Calibri"/>
              <a:cs typeface="Calibri"/>
              <a:sym typeface="Calibri"/>
            </a:endParaRPr>
          </a:p>
        </p:txBody>
      </p:sp>
      <p:sp>
        <p:nvSpPr>
          <p:cNvPr id="123" name="Google Shape;123;p5"/>
          <p:cNvSpPr/>
          <p:nvPr/>
        </p:nvSpPr>
        <p:spPr>
          <a:xfrm>
            <a:off x="365760" y="1143000"/>
            <a:ext cx="4114800" cy="71323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365760" y="1143000"/>
            <a:ext cx="457200" cy="71323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365760" y="1143000"/>
            <a:ext cx="45720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01</a:t>
            </a:r>
            <a:endParaRPr b="0" i="0" sz="1100" u="none" cap="none" strike="noStrike">
              <a:solidFill>
                <a:schemeClr val="dk1"/>
              </a:solidFill>
              <a:latin typeface="Calibri"/>
              <a:ea typeface="Calibri"/>
              <a:cs typeface="Calibri"/>
              <a:sym typeface="Calibri"/>
            </a:endParaRPr>
          </a:p>
        </p:txBody>
      </p:sp>
      <p:sp>
        <p:nvSpPr>
          <p:cNvPr id="126" name="Google Shape;126;p5"/>
          <p:cNvSpPr/>
          <p:nvPr/>
        </p:nvSpPr>
        <p:spPr>
          <a:xfrm>
            <a:off x="896112" y="1179576"/>
            <a:ext cx="3520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Detect Inefficient Queries</a:t>
            </a:r>
            <a:endParaRPr b="0" i="0" sz="1100" u="none" cap="none" strike="noStrike">
              <a:solidFill>
                <a:schemeClr val="dk1"/>
              </a:solidFill>
              <a:latin typeface="Calibri"/>
              <a:ea typeface="Calibri"/>
              <a:cs typeface="Calibri"/>
              <a:sym typeface="Calibri"/>
            </a:endParaRPr>
          </a:p>
        </p:txBody>
      </p:sp>
      <p:sp>
        <p:nvSpPr>
          <p:cNvPr id="127" name="Google Shape;127;p5"/>
          <p:cNvSpPr/>
          <p:nvPr/>
        </p:nvSpPr>
        <p:spPr>
          <a:xfrm>
            <a:off x="896112" y="1490472"/>
            <a:ext cx="3520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Identify code triggering slow or repeated DB queries</a:t>
            </a:r>
            <a:endParaRPr b="0" i="0" sz="950" u="none" cap="none" strike="noStrike">
              <a:solidFill>
                <a:schemeClr val="dk1"/>
              </a:solidFill>
              <a:latin typeface="Calibri"/>
              <a:ea typeface="Calibri"/>
              <a:cs typeface="Calibri"/>
              <a:sym typeface="Calibri"/>
            </a:endParaRPr>
          </a:p>
        </p:txBody>
      </p:sp>
      <p:sp>
        <p:nvSpPr>
          <p:cNvPr id="128" name="Google Shape;128;p5"/>
          <p:cNvSpPr/>
          <p:nvPr/>
        </p:nvSpPr>
        <p:spPr>
          <a:xfrm>
            <a:off x="4754880" y="1143000"/>
            <a:ext cx="4114800" cy="71323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4754880" y="1143000"/>
            <a:ext cx="457200" cy="71323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4754880" y="1143000"/>
            <a:ext cx="45720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02</a:t>
            </a:r>
            <a:endParaRPr b="0" i="0" sz="1100" u="none" cap="none" strike="noStrike">
              <a:solidFill>
                <a:schemeClr val="dk1"/>
              </a:solidFill>
              <a:latin typeface="Calibri"/>
              <a:ea typeface="Calibri"/>
              <a:cs typeface="Calibri"/>
              <a:sym typeface="Calibri"/>
            </a:endParaRPr>
          </a:p>
        </p:txBody>
      </p:sp>
      <p:sp>
        <p:nvSpPr>
          <p:cNvPr id="131" name="Google Shape;131;p5"/>
          <p:cNvSpPr/>
          <p:nvPr/>
        </p:nvSpPr>
        <p:spPr>
          <a:xfrm>
            <a:off x="5285232" y="1179576"/>
            <a:ext cx="3520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Find Missing Pagination</a:t>
            </a:r>
            <a:endParaRPr b="0" i="0" sz="1100" u="none" cap="none" strike="noStrike">
              <a:solidFill>
                <a:schemeClr val="dk1"/>
              </a:solidFill>
              <a:latin typeface="Calibri"/>
              <a:ea typeface="Calibri"/>
              <a:cs typeface="Calibri"/>
              <a:sym typeface="Calibri"/>
            </a:endParaRPr>
          </a:p>
        </p:txBody>
      </p:sp>
      <p:sp>
        <p:nvSpPr>
          <p:cNvPr id="132" name="Google Shape;132;p5"/>
          <p:cNvSpPr/>
          <p:nvPr/>
        </p:nvSpPr>
        <p:spPr>
          <a:xfrm>
            <a:off x="5285232" y="1490472"/>
            <a:ext cx="3520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Flag endpoints returning very large datasets</a:t>
            </a:r>
            <a:endParaRPr b="0" i="0" sz="950" u="none" cap="none" strike="noStrike">
              <a:solidFill>
                <a:schemeClr val="dk1"/>
              </a:solidFill>
              <a:latin typeface="Calibri"/>
              <a:ea typeface="Calibri"/>
              <a:cs typeface="Calibri"/>
              <a:sym typeface="Calibri"/>
            </a:endParaRPr>
          </a:p>
        </p:txBody>
      </p:sp>
      <p:sp>
        <p:nvSpPr>
          <p:cNvPr id="133" name="Google Shape;133;p5"/>
          <p:cNvSpPr/>
          <p:nvPr/>
        </p:nvSpPr>
        <p:spPr>
          <a:xfrm>
            <a:off x="365760" y="1938528"/>
            <a:ext cx="4114800" cy="71323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365760" y="1938528"/>
            <a:ext cx="457200" cy="71323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365760" y="1938528"/>
            <a:ext cx="45720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03</a:t>
            </a:r>
            <a:endParaRPr b="0" i="0" sz="1100" u="none" cap="none" strike="noStrike">
              <a:solidFill>
                <a:schemeClr val="dk1"/>
              </a:solidFill>
              <a:latin typeface="Calibri"/>
              <a:ea typeface="Calibri"/>
              <a:cs typeface="Calibri"/>
              <a:sym typeface="Calibri"/>
            </a:endParaRPr>
          </a:p>
        </p:txBody>
      </p:sp>
      <p:sp>
        <p:nvSpPr>
          <p:cNvPr id="136" name="Google Shape;136;p5"/>
          <p:cNvSpPr/>
          <p:nvPr/>
        </p:nvSpPr>
        <p:spPr>
          <a:xfrm>
            <a:off x="896112" y="1975104"/>
            <a:ext cx="3520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Highlight Blocking Operations</a:t>
            </a:r>
            <a:endParaRPr b="0" i="0" sz="1100" u="none" cap="none" strike="noStrike">
              <a:solidFill>
                <a:schemeClr val="dk1"/>
              </a:solidFill>
              <a:latin typeface="Calibri"/>
              <a:ea typeface="Calibri"/>
              <a:cs typeface="Calibri"/>
              <a:sym typeface="Calibri"/>
            </a:endParaRPr>
          </a:p>
        </p:txBody>
      </p:sp>
      <p:sp>
        <p:nvSpPr>
          <p:cNvPr id="137" name="Google Shape;137;p5"/>
          <p:cNvSpPr/>
          <p:nvPr/>
        </p:nvSpPr>
        <p:spPr>
          <a:xfrm>
            <a:off x="896112" y="2286000"/>
            <a:ext cx="3520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Detect synchronous code slowing request handling</a:t>
            </a:r>
            <a:endParaRPr b="0" i="0" sz="950" u="none" cap="none" strike="noStrike">
              <a:solidFill>
                <a:schemeClr val="dk1"/>
              </a:solidFill>
              <a:latin typeface="Calibri"/>
              <a:ea typeface="Calibri"/>
              <a:cs typeface="Calibri"/>
              <a:sym typeface="Calibri"/>
            </a:endParaRPr>
          </a:p>
        </p:txBody>
      </p:sp>
      <p:sp>
        <p:nvSpPr>
          <p:cNvPr id="138" name="Google Shape;138;p5"/>
          <p:cNvSpPr/>
          <p:nvPr/>
        </p:nvSpPr>
        <p:spPr>
          <a:xfrm>
            <a:off x="4754880" y="1938528"/>
            <a:ext cx="4114800" cy="71323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4754880" y="1938528"/>
            <a:ext cx="457200" cy="71323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4754880" y="1938528"/>
            <a:ext cx="45720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04</a:t>
            </a:r>
            <a:endParaRPr b="0" i="0" sz="1100" u="none" cap="none" strike="noStrike">
              <a:solidFill>
                <a:schemeClr val="dk1"/>
              </a:solidFill>
              <a:latin typeface="Calibri"/>
              <a:ea typeface="Calibri"/>
              <a:cs typeface="Calibri"/>
              <a:sym typeface="Calibri"/>
            </a:endParaRPr>
          </a:p>
        </p:txBody>
      </p:sp>
      <p:sp>
        <p:nvSpPr>
          <p:cNvPr id="141" name="Google Shape;141;p5"/>
          <p:cNvSpPr/>
          <p:nvPr/>
        </p:nvSpPr>
        <p:spPr>
          <a:xfrm>
            <a:off x="5285232" y="1975104"/>
            <a:ext cx="3520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Identify Loops with Repeated Calls</a:t>
            </a:r>
            <a:endParaRPr b="0" i="0" sz="1100" u="none" cap="none" strike="noStrike">
              <a:solidFill>
                <a:schemeClr val="dk1"/>
              </a:solidFill>
              <a:latin typeface="Calibri"/>
              <a:ea typeface="Calibri"/>
              <a:cs typeface="Calibri"/>
              <a:sym typeface="Calibri"/>
            </a:endParaRPr>
          </a:p>
        </p:txBody>
      </p:sp>
      <p:sp>
        <p:nvSpPr>
          <p:cNvPr id="142" name="Google Shape;142;p5"/>
          <p:cNvSpPr/>
          <p:nvPr/>
        </p:nvSpPr>
        <p:spPr>
          <a:xfrm>
            <a:off x="5285232" y="2286000"/>
            <a:ext cx="3520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Spot patterns that multiply execution time</a:t>
            </a:r>
            <a:endParaRPr b="0" i="0" sz="950" u="none" cap="none" strike="noStrike">
              <a:solidFill>
                <a:schemeClr val="dk1"/>
              </a:solidFill>
              <a:latin typeface="Calibri"/>
              <a:ea typeface="Calibri"/>
              <a:cs typeface="Calibri"/>
              <a:sym typeface="Calibri"/>
            </a:endParaRPr>
          </a:p>
        </p:txBody>
      </p:sp>
      <p:sp>
        <p:nvSpPr>
          <p:cNvPr id="143" name="Google Shape;143;p5"/>
          <p:cNvSpPr/>
          <p:nvPr/>
        </p:nvSpPr>
        <p:spPr>
          <a:xfrm>
            <a:off x="365760" y="2734056"/>
            <a:ext cx="4114800" cy="71323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365760" y="2734056"/>
            <a:ext cx="457200" cy="71323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a:off x="365760" y="2734056"/>
            <a:ext cx="45720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05</a:t>
            </a:r>
            <a:endParaRPr b="0" i="0" sz="1100" u="none" cap="none" strike="noStrike">
              <a:solidFill>
                <a:schemeClr val="dk1"/>
              </a:solidFill>
              <a:latin typeface="Calibri"/>
              <a:ea typeface="Calibri"/>
              <a:cs typeface="Calibri"/>
              <a:sym typeface="Calibri"/>
            </a:endParaRPr>
          </a:p>
        </p:txBody>
      </p:sp>
      <p:sp>
        <p:nvSpPr>
          <p:cNvPr id="146" name="Google Shape;146;p5"/>
          <p:cNvSpPr/>
          <p:nvPr/>
        </p:nvSpPr>
        <p:spPr>
          <a:xfrm>
            <a:off x="896112" y="2770632"/>
            <a:ext cx="3520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Review External Dependencies</a:t>
            </a:r>
            <a:endParaRPr b="0" i="0" sz="1100" u="none" cap="none" strike="noStrike">
              <a:solidFill>
                <a:schemeClr val="dk1"/>
              </a:solidFill>
              <a:latin typeface="Calibri"/>
              <a:ea typeface="Calibri"/>
              <a:cs typeface="Calibri"/>
              <a:sym typeface="Calibri"/>
            </a:endParaRPr>
          </a:p>
        </p:txBody>
      </p:sp>
      <p:sp>
        <p:nvSpPr>
          <p:cNvPr id="147" name="Google Shape;147;p5"/>
          <p:cNvSpPr/>
          <p:nvPr/>
        </p:nvSpPr>
        <p:spPr>
          <a:xfrm>
            <a:off x="896112" y="3081528"/>
            <a:ext cx="3520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Highlight inefficient calls to other services</a:t>
            </a:r>
            <a:endParaRPr b="0" i="0" sz="950" u="none" cap="none" strike="noStrike">
              <a:solidFill>
                <a:schemeClr val="dk1"/>
              </a:solidFill>
              <a:latin typeface="Calibri"/>
              <a:ea typeface="Calibri"/>
              <a:cs typeface="Calibri"/>
              <a:sym typeface="Calibri"/>
            </a:endParaRPr>
          </a:p>
        </p:txBody>
      </p:sp>
      <p:sp>
        <p:nvSpPr>
          <p:cNvPr id="148" name="Google Shape;148;p5"/>
          <p:cNvSpPr/>
          <p:nvPr/>
        </p:nvSpPr>
        <p:spPr>
          <a:xfrm>
            <a:off x="4754880" y="2734056"/>
            <a:ext cx="4114800" cy="71323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a:off x="4754880" y="2734056"/>
            <a:ext cx="457200" cy="71323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4754880" y="2734056"/>
            <a:ext cx="45720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06</a:t>
            </a:r>
            <a:endParaRPr b="0" i="0" sz="1100" u="none" cap="none" strike="noStrike">
              <a:solidFill>
                <a:schemeClr val="dk1"/>
              </a:solidFill>
              <a:latin typeface="Calibri"/>
              <a:ea typeface="Calibri"/>
              <a:cs typeface="Calibri"/>
              <a:sym typeface="Calibri"/>
            </a:endParaRPr>
          </a:p>
        </p:txBody>
      </p:sp>
      <p:sp>
        <p:nvSpPr>
          <p:cNvPr id="151" name="Google Shape;151;p5"/>
          <p:cNvSpPr/>
          <p:nvPr/>
        </p:nvSpPr>
        <p:spPr>
          <a:xfrm>
            <a:off x="5285232" y="2770632"/>
            <a:ext cx="3520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Suggest Caching Opportunities</a:t>
            </a:r>
            <a:endParaRPr b="0" i="0" sz="1100" u="none" cap="none" strike="noStrike">
              <a:solidFill>
                <a:schemeClr val="dk1"/>
              </a:solidFill>
              <a:latin typeface="Calibri"/>
              <a:ea typeface="Calibri"/>
              <a:cs typeface="Calibri"/>
              <a:sym typeface="Calibri"/>
            </a:endParaRPr>
          </a:p>
        </p:txBody>
      </p:sp>
      <p:sp>
        <p:nvSpPr>
          <p:cNvPr id="152" name="Google Shape;152;p5"/>
          <p:cNvSpPr/>
          <p:nvPr/>
        </p:nvSpPr>
        <p:spPr>
          <a:xfrm>
            <a:off x="5285232" y="3081528"/>
            <a:ext cx="3520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Recommend where caching could reduce repeated work</a:t>
            </a:r>
            <a:endParaRPr b="0" i="0" sz="950" u="none" cap="none" strike="noStrike">
              <a:solidFill>
                <a:schemeClr val="dk1"/>
              </a:solidFill>
              <a:latin typeface="Calibri"/>
              <a:ea typeface="Calibri"/>
              <a:cs typeface="Calibri"/>
              <a:sym typeface="Calibri"/>
            </a:endParaRPr>
          </a:p>
        </p:txBody>
      </p:sp>
      <p:sp>
        <p:nvSpPr>
          <p:cNvPr id="153" name="Google Shape;153;p5"/>
          <p:cNvSpPr/>
          <p:nvPr/>
        </p:nvSpPr>
        <p:spPr>
          <a:xfrm>
            <a:off x="365760" y="3529584"/>
            <a:ext cx="4114800" cy="71323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365760" y="3529584"/>
            <a:ext cx="457200" cy="71323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365760" y="3529584"/>
            <a:ext cx="45720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07</a:t>
            </a:r>
            <a:endParaRPr b="0" i="0" sz="1100" u="none" cap="none" strike="noStrike">
              <a:solidFill>
                <a:schemeClr val="dk1"/>
              </a:solidFill>
              <a:latin typeface="Calibri"/>
              <a:ea typeface="Calibri"/>
              <a:cs typeface="Calibri"/>
              <a:sym typeface="Calibri"/>
            </a:endParaRPr>
          </a:p>
        </p:txBody>
      </p:sp>
      <p:sp>
        <p:nvSpPr>
          <p:cNvPr id="156" name="Google Shape;156;p5"/>
          <p:cNvSpPr/>
          <p:nvPr/>
        </p:nvSpPr>
        <p:spPr>
          <a:xfrm>
            <a:off x="896112" y="3566160"/>
            <a:ext cx="3520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Detect Heavy Payload Risks</a:t>
            </a:r>
            <a:endParaRPr b="0" i="0" sz="1100" u="none" cap="none" strike="noStrike">
              <a:solidFill>
                <a:schemeClr val="dk1"/>
              </a:solidFill>
              <a:latin typeface="Calibri"/>
              <a:ea typeface="Calibri"/>
              <a:cs typeface="Calibri"/>
              <a:sym typeface="Calibri"/>
            </a:endParaRPr>
          </a:p>
        </p:txBody>
      </p:sp>
      <p:sp>
        <p:nvSpPr>
          <p:cNvPr id="157" name="Google Shape;157;p5"/>
          <p:cNvSpPr/>
          <p:nvPr/>
        </p:nvSpPr>
        <p:spPr>
          <a:xfrm>
            <a:off x="896112" y="3877056"/>
            <a:ext cx="3520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Flag large responses or unnecessary data fields</a:t>
            </a:r>
            <a:endParaRPr b="0" i="0" sz="950" u="none" cap="none" strike="noStrike">
              <a:solidFill>
                <a:schemeClr val="dk1"/>
              </a:solidFill>
              <a:latin typeface="Calibri"/>
              <a:ea typeface="Calibri"/>
              <a:cs typeface="Calibri"/>
              <a:sym typeface="Calibri"/>
            </a:endParaRPr>
          </a:p>
        </p:txBody>
      </p:sp>
      <p:sp>
        <p:nvSpPr>
          <p:cNvPr id="158" name="Google Shape;158;p5"/>
          <p:cNvSpPr/>
          <p:nvPr/>
        </p:nvSpPr>
        <p:spPr>
          <a:xfrm>
            <a:off x="4754880" y="3529584"/>
            <a:ext cx="4114800" cy="71323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4754880" y="3529584"/>
            <a:ext cx="457200" cy="71323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4754880" y="3529584"/>
            <a:ext cx="45720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08</a:t>
            </a:r>
            <a:endParaRPr b="0" i="0" sz="1100" u="none" cap="none" strike="noStrike">
              <a:solidFill>
                <a:schemeClr val="dk1"/>
              </a:solidFill>
              <a:latin typeface="Calibri"/>
              <a:ea typeface="Calibri"/>
              <a:cs typeface="Calibri"/>
              <a:sym typeface="Calibri"/>
            </a:endParaRPr>
          </a:p>
        </p:txBody>
      </p:sp>
      <p:sp>
        <p:nvSpPr>
          <p:cNvPr id="161" name="Google Shape;161;p5"/>
          <p:cNvSpPr/>
          <p:nvPr/>
        </p:nvSpPr>
        <p:spPr>
          <a:xfrm>
            <a:off x="5285232" y="3566160"/>
            <a:ext cx="3520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Identify Poor Memory Processing</a:t>
            </a:r>
            <a:endParaRPr b="0" i="0" sz="1100" u="none" cap="none" strike="noStrike">
              <a:solidFill>
                <a:schemeClr val="dk1"/>
              </a:solidFill>
              <a:latin typeface="Calibri"/>
              <a:ea typeface="Calibri"/>
              <a:cs typeface="Calibri"/>
              <a:sym typeface="Calibri"/>
            </a:endParaRPr>
          </a:p>
        </p:txBody>
      </p:sp>
      <p:sp>
        <p:nvSpPr>
          <p:cNvPr id="162" name="Google Shape;162;p5"/>
          <p:cNvSpPr/>
          <p:nvPr/>
        </p:nvSpPr>
        <p:spPr>
          <a:xfrm>
            <a:off x="5285232" y="3877056"/>
            <a:ext cx="3520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Highlight in-memory filtering done inefficiently</a:t>
            </a:r>
            <a:endParaRPr b="0" i="0" sz="950" u="none" cap="none" strike="noStrike">
              <a:solidFill>
                <a:schemeClr val="dk1"/>
              </a:solidFill>
              <a:latin typeface="Calibri"/>
              <a:ea typeface="Calibri"/>
              <a:cs typeface="Calibri"/>
              <a:sym typeface="Calibri"/>
            </a:endParaRPr>
          </a:p>
        </p:txBody>
      </p:sp>
      <p:sp>
        <p:nvSpPr>
          <p:cNvPr id="163" name="Google Shape;163;p5"/>
          <p:cNvSpPr/>
          <p:nvPr/>
        </p:nvSpPr>
        <p:spPr>
          <a:xfrm>
            <a:off x="365760" y="4325112"/>
            <a:ext cx="4114800" cy="71323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365760" y="4325112"/>
            <a:ext cx="457200" cy="71323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365760" y="4325112"/>
            <a:ext cx="45720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09</a:t>
            </a:r>
            <a:endParaRPr b="0" i="0" sz="1100" u="none" cap="none" strike="noStrike">
              <a:solidFill>
                <a:schemeClr val="dk1"/>
              </a:solidFill>
              <a:latin typeface="Calibri"/>
              <a:ea typeface="Calibri"/>
              <a:cs typeface="Calibri"/>
              <a:sym typeface="Calibri"/>
            </a:endParaRPr>
          </a:p>
        </p:txBody>
      </p:sp>
      <p:sp>
        <p:nvSpPr>
          <p:cNvPr id="166" name="Google Shape;166;p5"/>
          <p:cNvSpPr/>
          <p:nvPr/>
        </p:nvSpPr>
        <p:spPr>
          <a:xfrm>
            <a:off x="896112" y="4361688"/>
            <a:ext cx="3520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Recommend Architecture Improvements</a:t>
            </a:r>
            <a:endParaRPr b="0" i="0" sz="1100" u="none" cap="none" strike="noStrike">
              <a:solidFill>
                <a:schemeClr val="dk1"/>
              </a:solidFill>
              <a:latin typeface="Calibri"/>
              <a:ea typeface="Calibri"/>
              <a:cs typeface="Calibri"/>
              <a:sym typeface="Calibri"/>
            </a:endParaRPr>
          </a:p>
        </p:txBody>
      </p:sp>
      <p:sp>
        <p:nvSpPr>
          <p:cNvPr id="167" name="Google Shape;167;p5"/>
          <p:cNvSpPr/>
          <p:nvPr/>
        </p:nvSpPr>
        <p:spPr>
          <a:xfrm>
            <a:off x="896112" y="4672584"/>
            <a:ext cx="3520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Suggest better design patterns for scalability</a:t>
            </a:r>
            <a:endParaRPr b="0" i="0" sz="950" u="none" cap="none" strike="noStrike">
              <a:solidFill>
                <a:schemeClr val="dk1"/>
              </a:solidFill>
              <a:latin typeface="Calibri"/>
              <a:ea typeface="Calibri"/>
              <a:cs typeface="Calibri"/>
              <a:sym typeface="Calibri"/>
            </a:endParaRPr>
          </a:p>
        </p:txBody>
      </p:sp>
      <p:sp>
        <p:nvSpPr>
          <p:cNvPr id="168" name="Google Shape;168;p5"/>
          <p:cNvSpPr/>
          <p:nvPr/>
        </p:nvSpPr>
        <p:spPr>
          <a:xfrm>
            <a:off x="4754880" y="4325112"/>
            <a:ext cx="4114800" cy="71323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
          <p:cNvSpPr/>
          <p:nvPr/>
        </p:nvSpPr>
        <p:spPr>
          <a:xfrm>
            <a:off x="4754880" y="4325112"/>
            <a:ext cx="457200" cy="71323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4754880" y="4325112"/>
            <a:ext cx="45720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10</a:t>
            </a:r>
            <a:endParaRPr b="0" i="0" sz="1100" u="none" cap="none" strike="noStrike">
              <a:solidFill>
                <a:schemeClr val="dk1"/>
              </a:solidFill>
              <a:latin typeface="Calibri"/>
              <a:ea typeface="Calibri"/>
              <a:cs typeface="Calibri"/>
              <a:sym typeface="Calibri"/>
            </a:endParaRPr>
          </a:p>
        </p:txBody>
      </p:sp>
      <p:sp>
        <p:nvSpPr>
          <p:cNvPr id="171" name="Google Shape;171;p5"/>
          <p:cNvSpPr/>
          <p:nvPr/>
        </p:nvSpPr>
        <p:spPr>
          <a:xfrm>
            <a:off x="5285232" y="4361688"/>
            <a:ext cx="3520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Generate Code Review Summaries</a:t>
            </a:r>
            <a:endParaRPr b="0" i="0" sz="1100" u="none" cap="none" strike="noStrike">
              <a:solidFill>
                <a:schemeClr val="dk1"/>
              </a:solidFill>
              <a:latin typeface="Calibri"/>
              <a:ea typeface="Calibri"/>
              <a:cs typeface="Calibri"/>
              <a:sym typeface="Calibri"/>
            </a:endParaRPr>
          </a:p>
        </p:txBody>
      </p:sp>
      <p:sp>
        <p:nvSpPr>
          <p:cNvPr id="172" name="Google Shape;172;p5"/>
          <p:cNvSpPr/>
          <p:nvPr/>
        </p:nvSpPr>
        <p:spPr>
          <a:xfrm>
            <a:off x="5285232" y="4672584"/>
            <a:ext cx="3520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Structured summary of performance risks found</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 name="Shape 177"/>
        <p:cNvGrpSpPr/>
        <p:nvPr/>
      </p:nvGrpSpPr>
      <p:grpSpPr>
        <a:xfrm>
          <a:off x="0" y="0"/>
          <a:ext cx="0" cy="0"/>
          <a:chOff x="0" y="0"/>
          <a:chExt cx="0" cy="0"/>
        </a:xfrm>
      </p:grpSpPr>
      <p:sp>
        <p:nvSpPr>
          <p:cNvPr id="178" name="Google Shape;178;p6"/>
          <p:cNvSpPr/>
          <p:nvPr/>
        </p:nvSpPr>
        <p:spPr>
          <a:xfrm>
            <a:off x="0" y="0"/>
            <a:ext cx="9144000" cy="1005840"/>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457200" y="228600"/>
            <a:ext cx="7315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Prioritization Outcomes</a:t>
            </a:r>
            <a:endParaRPr b="0" i="0" sz="2200" u="none" cap="none" strike="noStrike">
              <a:solidFill>
                <a:schemeClr val="dk1"/>
              </a:solidFill>
              <a:latin typeface="Calibri"/>
              <a:ea typeface="Calibri"/>
              <a:cs typeface="Calibri"/>
              <a:sym typeface="Calibri"/>
            </a:endParaRPr>
          </a:p>
        </p:txBody>
      </p:sp>
      <p:sp>
        <p:nvSpPr>
          <p:cNvPr id="180" name="Google Shape;180;p6"/>
          <p:cNvSpPr/>
          <p:nvPr/>
        </p:nvSpPr>
        <p:spPr>
          <a:xfrm>
            <a:off x="7498080" y="182880"/>
            <a:ext cx="1463040" cy="548640"/>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7498080" y="182880"/>
            <a:ext cx="14630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Dubai Health</a:t>
            </a:r>
            <a:endParaRPr b="0" i="0" sz="900" u="none" cap="none" strike="noStrike">
              <a:solidFill>
                <a:schemeClr val="dk1"/>
              </a:solidFill>
              <a:latin typeface="Calibri"/>
              <a:ea typeface="Calibri"/>
              <a:cs typeface="Calibri"/>
              <a:sym typeface="Calibri"/>
            </a:endParaRPr>
          </a:p>
        </p:txBody>
      </p:sp>
      <p:sp>
        <p:nvSpPr>
          <p:cNvPr id="182" name="Google Shape;182;p6"/>
          <p:cNvSpPr/>
          <p:nvPr/>
        </p:nvSpPr>
        <p:spPr>
          <a:xfrm>
            <a:off x="365760" y="1097280"/>
            <a:ext cx="5029200" cy="365760"/>
          </a:xfrm>
          <a:prstGeom prst="rect">
            <a:avLst/>
          </a:prstGeom>
          <a:solidFill>
            <a:srgbClr val="007B9E"/>
          </a:solidFill>
          <a:ln cap="flat" cmpd="sng" w="12700">
            <a:solidFill>
              <a:srgbClr val="007B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365760" y="1097280"/>
            <a:ext cx="5029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Assessment Scores  (L = Low  M = Medium  H = High)</a:t>
            </a:r>
            <a:endParaRPr b="0" i="0" sz="1000" u="none" cap="none" strike="noStrike">
              <a:solidFill>
                <a:schemeClr val="dk1"/>
              </a:solidFill>
              <a:latin typeface="Calibri"/>
              <a:ea typeface="Calibri"/>
              <a:cs typeface="Calibri"/>
              <a:sym typeface="Calibri"/>
            </a:endParaRPr>
          </a:p>
        </p:txBody>
      </p:sp>
      <p:sp>
        <p:nvSpPr>
          <p:cNvPr id="184" name="Google Shape;184;p6"/>
          <p:cNvSpPr/>
          <p:nvPr/>
        </p:nvSpPr>
        <p:spPr>
          <a:xfrm>
            <a:off x="457200" y="1572768"/>
            <a:ext cx="2011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1100"/>
              <a:buFont typeface="Calibri"/>
              <a:buNone/>
            </a:pPr>
            <a:r>
              <a:rPr b="1" i="0" lang="en-US" sz="1100" u="none" cap="none" strike="noStrike">
                <a:solidFill>
                  <a:srgbClr val="1A2E3B"/>
                </a:solidFill>
                <a:latin typeface="Calibri"/>
                <a:ea typeface="Calibri"/>
                <a:cs typeface="Calibri"/>
                <a:sym typeface="Calibri"/>
              </a:rPr>
              <a:t>Value</a:t>
            </a:r>
            <a:endParaRPr b="0" i="0" sz="1100" u="none" cap="none" strike="noStrike">
              <a:solidFill>
                <a:schemeClr val="dk1"/>
              </a:solidFill>
              <a:latin typeface="Calibri"/>
              <a:ea typeface="Calibri"/>
              <a:cs typeface="Calibri"/>
              <a:sym typeface="Calibri"/>
            </a:endParaRPr>
          </a:p>
        </p:txBody>
      </p:sp>
      <p:sp>
        <p:nvSpPr>
          <p:cNvPr id="185" name="Google Shape;185;p6"/>
          <p:cNvSpPr/>
          <p:nvPr/>
        </p:nvSpPr>
        <p:spPr>
          <a:xfrm>
            <a:off x="457200" y="1847088"/>
            <a:ext cx="2743200" cy="164592"/>
          </a:xfrm>
          <a:prstGeom prst="rect">
            <a:avLst/>
          </a:prstGeom>
          <a:solidFill>
            <a:srgbClr val="D0E8F0"/>
          </a:solidFill>
          <a:ln cap="flat" cmpd="sng" w="12700">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457200" y="1847088"/>
            <a:ext cx="2743200" cy="16459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p:nvPr/>
        </p:nvSpPr>
        <p:spPr>
          <a:xfrm>
            <a:off x="3383280" y="1801368"/>
            <a:ext cx="1005840" cy="246888"/>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p:nvPr/>
        </p:nvSpPr>
        <p:spPr>
          <a:xfrm>
            <a:off x="3383280" y="1801368"/>
            <a:ext cx="10058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High</a:t>
            </a:r>
            <a:endParaRPr b="0" i="0" sz="900" u="none" cap="none" strike="noStrike">
              <a:solidFill>
                <a:schemeClr val="dk1"/>
              </a:solidFill>
              <a:latin typeface="Calibri"/>
              <a:ea typeface="Calibri"/>
              <a:cs typeface="Calibri"/>
              <a:sym typeface="Calibri"/>
            </a:endParaRPr>
          </a:p>
        </p:txBody>
      </p:sp>
      <p:sp>
        <p:nvSpPr>
          <p:cNvPr id="189" name="Google Shape;189;p6"/>
          <p:cNvSpPr/>
          <p:nvPr/>
        </p:nvSpPr>
        <p:spPr>
          <a:xfrm>
            <a:off x="457200" y="2112264"/>
            <a:ext cx="2011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1100"/>
              <a:buFont typeface="Calibri"/>
              <a:buNone/>
            </a:pPr>
            <a:r>
              <a:rPr b="1" i="0" lang="en-US" sz="1100" u="none" cap="none" strike="noStrike">
                <a:solidFill>
                  <a:srgbClr val="1A2E3B"/>
                </a:solidFill>
                <a:latin typeface="Calibri"/>
                <a:ea typeface="Calibri"/>
                <a:cs typeface="Calibri"/>
                <a:sym typeface="Calibri"/>
              </a:rPr>
              <a:t>Business Impact</a:t>
            </a:r>
            <a:endParaRPr b="0" i="0" sz="1100" u="none" cap="none" strike="noStrike">
              <a:solidFill>
                <a:schemeClr val="dk1"/>
              </a:solidFill>
              <a:latin typeface="Calibri"/>
              <a:ea typeface="Calibri"/>
              <a:cs typeface="Calibri"/>
              <a:sym typeface="Calibri"/>
            </a:endParaRPr>
          </a:p>
        </p:txBody>
      </p:sp>
      <p:sp>
        <p:nvSpPr>
          <p:cNvPr id="190" name="Google Shape;190;p6"/>
          <p:cNvSpPr/>
          <p:nvPr/>
        </p:nvSpPr>
        <p:spPr>
          <a:xfrm>
            <a:off x="457200" y="2386584"/>
            <a:ext cx="2743200" cy="164592"/>
          </a:xfrm>
          <a:prstGeom prst="rect">
            <a:avLst/>
          </a:prstGeom>
          <a:solidFill>
            <a:srgbClr val="D0E8F0"/>
          </a:solidFill>
          <a:ln cap="flat" cmpd="sng" w="12700">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457200" y="2386584"/>
            <a:ext cx="2286000" cy="164592"/>
          </a:xfrm>
          <a:prstGeom prst="rect">
            <a:avLst/>
          </a:prstGeom>
          <a:solidFill>
            <a:srgbClr val="007B9E"/>
          </a:solidFill>
          <a:ln cap="flat" cmpd="sng" w="12700">
            <a:solidFill>
              <a:srgbClr val="007B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3383280" y="2340864"/>
            <a:ext cx="1005840" cy="246888"/>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3383280" y="2340864"/>
            <a:ext cx="10058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Medium-High</a:t>
            </a:r>
            <a:endParaRPr b="0" i="0" sz="900" u="none" cap="none" strike="noStrike">
              <a:solidFill>
                <a:schemeClr val="dk1"/>
              </a:solidFill>
              <a:latin typeface="Calibri"/>
              <a:ea typeface="Calibri"/>
              <a:cs typeface="Calibri"/>
              <a:sym typeface="Calibri"/>
            </a:endParaRPr>
          </a:p>
        </p:txBody>
      </p:sp>
      <p:sp>
        <p:nvSpPr>
          <p:cNvPr id="194" name="Google Shape;194;p6"/>
          <p:cNvSpPr/>
          <p:nvPr/>
        </p:nvSpPr>
        <p:spPr>
          <a:xfrm>
            <a:off x="457200" y="2651760"/>
            <a:ext cx="2011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1100"/>
              <a:buFont typeface="Calibri"/>
              <a:buNone/>
            </a:pPr>
            <a:r>
              <a:rPr b="1" i="0" lang="en-US" sz="1100" u="none" cap="none" strike="noStrike">
                <a:solidFill>
                  <a:srgbClr val="1A2E3B"/>
                </a:solidFill>
                <a:latin typeface="Calibri"/>
                <a:ea typeface="Calibri"/>
                <a:cs typeface="Calibri"/>
                <a:sym typeface="Calibri"/>
              </a:rPr>
              <a:t>Strategic Alignment</a:t>
            </a:r>
            <a:endParaRPr b="0" i="0" sz="1100" u="none" cap="none" strike="noStrike">
              <a:solidFill>
                <a:schemeClr val="dk1"/>
              </a:solidFill>
              <a:latin typeface="Calibri"/>
              <a:ea typeface="Calibri"/>
              <a:cs typeface="Calibri"/>
              <a:sym typeface="Calibri"/>
            </a:endParaRPr>
          </a:p>
        </p:txBody>
      </p:sp>
      <p:sp>
        <p:nvSpPr>
          <p:cNvPr id="195" name="Google Shape;195;p6"/>
          <p:cNvSpPr/>
          <p:nvPr/>
        </p:nvSpPr>
        <p:spPr>
          <a:xfrm>
            <a:off x="457200" y="2926080"/>
            <a:ext cx="2743200" cy="164592"/>
          </a:xfrm>
          <a:prstGeom prst="rect">
            <a:avLst/>
          </a:prstGeom>
          <a:solidFill>
            <a:srgbClr val="D0E8F0"/>
          </a:solidFill>
          <a:ln cap="flat" cmpd="sng" w="12700">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457200" y="2926080"/>
            <a:ext cx="2743200" cy="16459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3383280" y="2880360"/>
            <a:ext cx="1005840" cy="246888"/>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3383280" y="2880360"/>
            <a:ext cx="10058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High</a:t>
            </a:r>
            <a:endParaRPr b="0" i="0" sz="900" u="none" cap="none" strike="noStrike">
              <a:solidFill>
                <a:schemeClr val="dk1"/>
              </a:solidFill>
              <a:latin typeface="Calibri"/>
              <a:ea typeface="Calibri"/>
              <a:cs typeface="Calibri"/>
              <a:sym typeface="Calibri"/>
            </a:endParaRPr>
          </a:p>
        </p:txBody>
      </p:sp>
      <p:sp>
        <p:nvSpPr>
          <p:cNvPr id="199" name="Google Shape;199;p6"/>
          <p:cNvSpPr/>
          <p:nvPr/>
        </p:nvSpPr>
        <p:spPr>
          <a:xfrm>
            <a:off x="457200" y="3191256"/>
            <a:ext cx="2011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1100"/>
              <a:buFont typeface="Calibri"/>
              <a:buNone/>
            </a:pPr>
            <a:r>
              <a:rPr b="1" i="0" lang="en-US" sz="1100" u="none" cap="none" strike="noStrike">
                <a:solidFill>
                  <a:srgbClr val="1A2E3B"/>
                </a:solidFill>
                <a:latin typeface="Calibri"/>
                <a:ea typeface="Calibri"/>
                <a:cs typeface="Calibri"/>
                <a:sym typeface="Calibri"/>
              </a:rPr>
              <a:t>Technical Feasibility</a:t>
            </a:r>
            <a:endParaRPr b="0" i="0" sz="1100" u="none" cap="none" strike="noStrike">
              <a:solidFill>
                <a:schemeClr val="dk1"/>
              </a:solidFill>
              <a:latin typeface="Calibri"/>
              <a:ea typeface="Calibri"/>
              <a:cs typeface="Calibri"/>
              <a:sym typeface="Calibri"/>
            </a:endParaRPr>
          </a:p>
        </p:txBody>
      </p:sp>
      <p:sp>
        <p:nvSpPr>
          <p:cNvPr id="200" name="Google Shape;200;p6"/>
          <p:cNvSpPr/>
          <p:nvPr/>
        </p:nvSpPr>
        <p:spPr>
          <a:xfrm>
            <a:off x="457200" y="3465576"/>
            <a:ext cx="2743200" cy="164592"/>
          </a:xfrm>
          <a:prstGeom prst="rect">
            <a:avLst/>
          </a:prstGeom>
          <a:solidFill>
            <a:srgbClr val="D0E8F0"/>
          </a:solidFill>
          <a:ln cap="flat" cmpd="sng" w="12700">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457200" y="3465576"/>
            <a:ext cx="2743200" cy="16459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3383280" y="3419856"/>
            <a:ext cx="1005840" cy="246888"/>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
          <p:cNvSpPr/>
          <p:nvPr/>
        </p:nvSpPr>
        <p:spPr>
          <a:xfrm>
            <a:off x="3383280" y="3419856"/>
            <a:ext cx="10058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High</a:t>
            </a:r>
            <a:endParaRPr b="0" i="0" sz="900" u="none" cap="none" strike="noStrike">
              <a:solidFill>
                <a:schemeClr val="dk1"/>
              </a:solidFill>
              <a:latin typeface="Calibri"/>
              <a:ea typeface="Calibri"/>
              <a:cs typeface="Calibri"/>
              <a:sym typeface="Calibri"/>
            </a:endParaRPr>
          </a:p>
        </p:txBody>
      </p:sp>
      <p:sp>
        <p:nvSpPr>
          <p:cNvPr id="204" name="Google Shape;204;p6"/>
          <p:cNvSpPr/>
          <p:nvPr/>
        </p:nvSpPr>
        <p:spPr>
          <a:xfrm>
            <a:off x="457200" y="3730752"/>
            <a:ext cx="2011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1100"/>
              <a:buFont typeface="Calibri"/>
              <a:buNone/>
            </a:pPr>
            <a:r>
              <a:rPr b="1" i="0" lang="en-US" sz="1100" u="none" cap="none" strike="noStrike">
                <a:solidFill>
                  <a:srgbClr val="1A2E3B"/>
                </a:solidFill>
                <a:latin typeface="Calibri"/>
                <a:ea typeface="Calibri"/>
                <a:cs typeface="Calibri"/>
                <a:sym typeface="Calibri"/>
              </a:rPr>
              <a:t>Organizational Feasibility</a:t>
            </a:r>
            <a:endParaRPr b="0" i="0" sz="1100" u="none" cap="none" strike="noStrike">
              <a:solidFill>
                <a:schemeClr val="dk1"/>
              </a:solidFill>
              <a:latin typeface="Calibri"/>
              <a:ea typeface="Calibri"/>
              <a:cs typeface="Calibri"/>
              <a:sym typeface="Calibri"/>
            </a:endParaRPr>
          </a:p>
        </p:txBody>
      </p:sp>
      <p:sp>
        <p:nvSpPr>
          <p:cNvPr id="205" name="Google Shape;205;p6"/>
          <p:cNvSpPr/>
          <p:nvPr/>
        </p:nvSpPr>
        <p:spPr>
          <a:xfrm>
            <a:off x="457200" y="4005072"/>
            <a:ext cx="2743200" cy="164592"/>
          </a:xfrm>
          <a:prstGeom prst="rect">
            <a:avLst/>
          </a:prstGeom>
          <a:solidFill>
            <a:srgbClr val="D0E8F0"/>
          </a:solidFill>
          <a:ln cap="flat" cmpd="sng" w="12700">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p:nvPr/>
        </p:nvSpPr>
        <p:spPr>
          <a:xfrm>
            <a:off x="457200" y="4005072"/>
            <a:ext cx="2743200" cy="164592"/>
          </a:xfrm>
          <a:prstGeom prst="rect">
            <a:avLst/>
          </a:prstGeom>
          <a:solidFill>
            <a:srgbClr val="007B9E"/>
          </a:solidFill>
          <a:ln cap="flat" cmpd="sng" w="12700">
            <a:solidFill>
              <a:srgbClr val="007B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p:nvPr/>
        </p:nvSpPr>
        <p:spPr>
          <a:xfrm>
            <a:off x="3383280" y="3959352"/>
            <a:ext cx="1005840" cy="246888"/>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3383280" y="3959352"/>
            <a:ext cx="10058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High</a:t>
            </a:r>
            <a:endParaRPr b="0" i="0" sz="900" u="none" cap="none" strike="noStrike">
              <a:solidFill>
                <a:schemeClr val="dk1"/>
              </a:solidFill>
              <a:latin typeface="Calibri"/>
              <a:ea typeface="Calibri"/>
              <a:cs typeface="Calibri"/>
              <a:sym typeface="Calibri"/>
            </a:endParaRPr>
          </a:p>
        </p:txBody>
      </p:sp>
      <p:sp>
        <p:nvSpPr>
          <p:cNvPr id="209" name="Google Shape;209;p6"/>
          <p:cNvSpPr/>
          <p:nvPr/>
        </p:nvSpPr>
        <p:spPr>
          <a:xfrm>
            <a:off x="457200" y="4270248"/>
            <a:ext cx="2011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1100"/>
              <a:buFont typeface="Calibri"/>
              <a:buNone/>
            </a:pPr>
            <a:r>
              <a:rPr b="1" i="0" lang="en-US" sz="1100" u="none" cap="none" strike="noStrike">
                <a:solidFill>
                  <a:srgbClr val="1A2E3B"/>
                </a:solidFill>
                <a:latin typeface="Calibri"/>
                <a:ea typeface="Calibri"/>
                <a:cs typeface="Calibri"/>
                <a:sym typeface="Calibri"/>
              </a:rPr>
              <a:t>Cost Feasibility</a:t>
            </a:r>
            <a:endParaRPr b="0" i="0" sz="1100" u="none" cap="none" strike="noStrike">
              <a:solidFill>
                <a:schemeClr val="dk1"/>
              </a:solidFill>
              <a:latin typeface="Calibri"/>
              <a:ea typeface="Calibri"/>
              <a:cs typeface="Calibri"/>
              <a:sym typeface="Calibri"/>
            </a:endParaRPr>
          </a:p>
        </p:txBody>
      </p:sp>
      <p:sp>
        <p:nvSpPr>
          <p:cNvPr id="210" name="Google Shape;210;p6"/>
          <p:cNvSpPr/>
          <p:nvPr/>
        </p:nvSpPr>
        <p:spPr>
          <a:xfrm>
            <a:off x="457200" y="4544568"/>
            <a:ext cx="2743200" cy="164592"/>
          </a:xfrm>
          <a:prstGeom prst="rect">
            <a:avLst/>
          </a:prstGeom>
          <a:solidFill>
            <a:srgbClr val="D0E8F0"/>
          </a:solidFill>
          <a:ln cap="flat" cmpd="sng" w="12700">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6"/>
          <p:cNvSpPr/>
          <p:nvPr/>
        </p:nvSpPr>
        <p:spPr>
          <a:xfrm>
            <a:off x="457200" y="4544568"/>
            <a:ext cx="2743200" cy="164592"/>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6"/>
          <p:cNvSpPr/>
          <p:nvPr/>
        </p:nvSpPr>
        <p:spPr>
          <a:xfrm>
            <a:off x="3383280" y="4498848"/>
            <a:ext cx="1005840" cy="246888"/>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6"/>
          <p:cNvSpPr/>
          <p:nvPr/>
        </p:nvSpPr>
        <p:spPr>
          <a:xfrm>
            <a:off x="3383280" y="4498848"/>
            <a:ext cx="10058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High</a:t>
            </a:r>
            <a:endParaRPr b="0" i="0" sz="900" u="none" cap="none" strike="noStrike">
              <a:solidFill>
                <a:schemeClr val="dk1"/>
              </a:solidFill>
              <a:latin typeface="Calibri"/>
              <a:ea typeface="Calibri"/>
              <a:cs typeface="Calibri"/>
              <a:sym typeface="Calibri"/>
            </a:endParaRPr>
          </a:p>
        </p:txBody>
      </p:sp>
      <p:sp>
        <p:nvSpPr>
          <p:cNvPr id="214" name="Google Shape;214;p6"/>
          <p:cNvSpPr/>
          <p:nvPr/>
        </p:nvSpPr>
        <p:spPr>
          <a:xfrm>
            <a:off x="5669280" y="1097280"/>
            <a:ext cx="3108960" cy="365760"/>
          </a:xfrm>
          <a:prstGeom prst="rect">
            <a:avLst/>
          </a:prstGeom>
          <a:solidFill>
            <a:srgbClr val="007B9E"/>
          </a:solidFill>
          <a:ln cap="flat" cmpd="sng" w="12700">
            <a:solidFill>
              <a:srgbClr val="007B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6"/>
          <p:cNvSpPr/>
          <p:nvPr/>
        </p:nvSpPr>
        <p:spPr>
          <a:xfrm>
            <a:off x="5669280" y="1097280"/>
            <a:ext cx="31089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Time to Deploy</a:t>
            </a:r>
            <a:endParaRPr b="0" i="0" sz="1300" u="none" cap="none" strike="noStrike">
              <a:solidFill>
                <a:schemeClr val="dk1"/>
              </a:solidFill>
              <a:latin typeface="Calibri"/>
              <a:ea typeface="Calibri"/>
              <a:cs typeface="Calibri"/>
              <a:sym typeface="Calibri"/>
            </a:endParaRPr>
          </a:p>
        </p:txBody>
      </p:sp>
      <p:sp>
        <p:nvSpPr>
          <p:cNvPr id="216" name="Google Shape;216;p6"/>
          <p:cNvSpPr/>
          <p:nvPr/>
        </p:nvSpPr>
        <p:spPr>
          <a:xfrm>
            <a:off x="5669280" y="1554480"/>
            <a:ext cx="3108960" cy="2194560"/>
          </a:xfrm>
          <a:prstGeom prst="rect">
            <a:avLst/>
          </a:prstGeom>
          <a:solidFill>
            <a:srgbClr val="EBF7FC"/>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6"/>
          <p:cNvSpPr/>
          <p:nvPr/>
        </p:nvSpPr>
        <p:spPr>
          <a:xfrm>
            <a:off x="5669280" y="1600200"/>
            <a:ext cx="31089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a:t>
            </a:r>
            <a:endParaRPr b="0" i="0" sz="4000" u="none" cap="none" strike="noStrike">
              <a:solidFill>
                <a:schemeClr val="dk1"/>
              </a:solidFill>
              <a:latin typeface="Calibri"/>
              <a:ea typeface="Calibri"/>
              <a:cs typeface="Calibri"/>
              <a:sym typeface="Calibri"/>
            </a:endParaRPr>
          </a:p>
        </p:txBody>
      </p:sp>
      <p:sp>
        <p:nvSpPr>
          <p:cNvPr id="218" name="Google Shape;218;p6"/>
          <p:cNvSpPr/>
          <p:nvPr/>
        </p:nvSpPr>
        <p:spPr>
          <a:xfrm>
            <a:off x="5669280" y="2560320"/>
            <a:ext cx="31089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567D"/>
              </a:buClr>
              <a:buSzPts val="2000"/>
              <a:buFont typeface="Calibri"/>
              <a:buNone/>
            </a:pPr>
            <a:r>
              <a:rPr b="1" i="0" lang="en-US" sz="2000" u="none" cap="none" strike="noStrike">
                <a:solidFill>
                  <a:srgbClr val="00567D"/>
                </a:solidFill>
                <a:latin typeface="Calibri"/>
                <a:ea typeface="Calibri"/>
                <a:cs typeface="Calibri"/>
                <a:sym typeface="Calibri"/>
              </a:rPr>
              <a:t>3 – 6 Months</a:t>
            </a:r>
            <a:endParaRPr b="0" i="0" sz="2000" u="none" cap="none" strike="noStrike">
              <a:solidFill>
                <a:schemeClr val="dk1"/>
              </a:solidFill>
              <a:latin typeface="Calibri"/>
              <a:ea typeface="Calibri"/>
              <a:cs typeface="Calibri"/>
              <a:sym typeface="Calibri"/>
            </a:endParaRPr>
          </a:p>
        </p:txBody>
      </p:sp>
      <p:sp>
        <p:nvSpPr>
          <p:cNvPr id="219" name="Google Shape;219;p6"/>
          <p:cNvSpPr/>
          <p:nvPr/>
        </p:nvSpPr>
        <p:spPr>
          <a:xfrm>
            <a:off x="5669280" y="3017520"/>
            <a:ext cx="31089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Estimated deployment timeline</a:t>
            </a:r>
            <a:endParaRPr b="0" i="0" sz="1000" u="none" cap="none" strike="noStrike">
              <a:solidFill>
                <a:schemeClr val="dk1"/>
              </a:solidFill>
              <a:latin typeface="Calibri"/>
              <a:ea typeface="Calibri"/>
              <a:cs typeface="Calibri"/>
              <a:sym typeface="Calibri"/>
            </a:endParaRPr>
          </a:p>
        </p:txBody>
      </p:sp>
      <p:sp>
        <p:nvSpPr>
          <p:cNvPr id="220" name="Google Shape;220;p6"/>
          <p:cNvSpPr/>
          <p:nvPr/>
        </p:nvSpPr>
        <p:spPr>
          <a:xfrm>
            <a:off x="5669280" y="3886200"/>
            <a:ext cx="3108960" cy="777240"/>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6"/>
          <p:cNvSpPr/>
          <p:nvPr/>
        </p:nvSpPr>
        <p:spPr>
          <a:xfrm>
            <a:off x="5669280" y="3886200"/>
            <a:ext cx="310896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Recommended for</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Immediate Prioritization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7"/>
          <p:cNvSpPr/>
          <p:nvPr/>
        </p:nvSpPr>
        <p:spPr>
          <a:xfrm>
            <a:off x="0" y="0"/>
            <a:ext cx="9144000" cy="1005840"/>
          </a:xfrm>
          <a:prstGeom prst="rect">
            <a:avLst/>
          </a:prstGeom>
          <a:solidFill>
            <a:srgbClr val="00567D"/>
          </a:solidFill>
          <a:ln cap="flat" cmpd="sng" w="12700">
            <a:solidFill>
              <a:srgbClr val="0056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7"/>
          <p:cNvSpPr/>
          <p:nvPr/>
        </p:nvSpPr>
        <p:spPr>
          <a:xfrm>
            <a:off x="457200" y="228600"/>
            <a:ext cx="7315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Secure Implementation in a Government Environment</a:t>
            </a:r>
            <a:endParaRPr b="0" i="0" sz="1800" u="none" cap="none" strike="noStrike">
              <a:solidFill>
                <a:schemeClr val="dk1"/>
              </a:solidFill>
              <a:latin typeface="Calibri"/>
              <a:ea typeface="Calibri"/>
              <a:cs typeface="Calibri"/>
              <a:sym typeface="Calibri"/>
            </a:endParaRPr>
          </a:p>
        </p:txBody>
      </p:sp>
      <p:sp>
        <p:nvSpPr>
          <p:cNvPr id="229" name="Google Shape;229;p7"/>
          <p:cNvSpPr/>
          <p:nvPr/>
        </p:nvSpPr>
        <p:spPr>
          <a:xfrm>
            <a:off x="7498080" y="182880"/>
            <a:ext cx="1463040" cy="548640"/>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p:nvPr/>
        </p:nvSpPr>
        <p:spPr>
          <a:xfrm>
            <a:off x="7498080" y="182880"/>
            <a:ext cx="14630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Dubai Health</a:t>
            </a:r>
            <a:endParaRPr b="0" i="0" sz="900" u="none" cap="none" strike="noStrike">
              <a:solidFill>
                <a:schemeClr val="dk1"/>
              </a:solidFill>
              <a:latin typeface="Calibri"/>
              <a:ea typeface="Calibri"/>
              <a:cs typeface="Calibri"/>
              <a:sym typeface="Calibri"/>
            </a:endParaRPr>
          </a:p>
        </p:txBody>
      </p:sp>
      <p:sp>
        <p:nvSpPr>
          <p:cNvPr id="231" name="Google Shape;231;p7"/>
          <p:cNvSpPr/>
          <p:nvPr/>
        </p:nvSpPr>
        <p:spPr>
          <a:xfrm>
            <a:off x="365760" y="1143000"/>
            <a:ext cx="4160520" cy="80467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7"/>
          <p:cNvSpPr/>
          <p:nvPr/>
        </p:nvSpPr>
        <p:spPr>
          <a:xfrm>
            <a:off x="365760" y="1143000"/>
            <a:ext cx="54864" cy="804672"/>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a:off x="475488" y="128016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234" name="Google Shape;234;p7"/>
          <p:cNvSpPr/>
          <p:nvPr/>
        </p:nvSpPr>
        <p:spPr>
          <a:xfrm>
            <a:off x="1024128" y="1197864"/>
            <a:ext cx="340156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Private Enterprise Only</a:t>
            </a:r>
            <a:endParaRPr b="0" i="0" sz="1100" u="none" cap="none" strike="noStrike">
              <a:solidFill>
                <a:schemeClr val="dk1"/>
              </a:solidFill>
              <a:latin typeface="Calibri"/>
              <a:ea typeface="Calibri"/>
              <a:cs typeface="Calibri"/>
              <a:sym typeface="Calibri"/>
            </a:endParaRPr>
          </a:p>
        </p:txBody>
      </p:sp>
      <p:sp>
        <p:nvSpPr>
          <p:cNvPr id="235" name="Google Shape;235;p7"/>
          <p:cNvSpPr/>
          <p:nvPr/>
        </p:nvSpPr>
        <p:spPr>
          <a:xfrm>
            <a:off x="1024128" y="1508760"/>
            <a:ext cx="340156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Use AI exclusively within the private enterprise environment</a:t>
            </a:r>
            <a:endParaRPr b="0" i="0" sz="1000" u="none" cap="none" strike="noStrike">
              <a:solidFill>
                <a:schemeClr val="dk1"/>
              </a:solidFill>
              <a:latin typeface="Calibri"/>
              <a:ea typeface="Calibri"/>
              <a:cs typeface="Calibri"/>
              <a:sym typeface="Calibri"/>
            </a:endParaRPr>
          </a:p>
        </p:txBody>
      </p:sp>
      <p:sp>
        <p:nvSpPr>
          <p:cNvPr id="236" name="Google Shape;236;p7"/>
          <p:cNvSpPr/>
          <p:nvPr/>
        </p:nvSpPr>
        <p:spPr>
          <a:xfrm>
            <a:off x="4800600" y="1143000"/>
            <a:ext cx="4160520" cy="80467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
          <p:cNvSpPr/>
          <p:nvPr/>
        </p:nvSpPr>
        <p:spPr>
          <a:xfrm>
            <a:off x="4800600" y="1143000"/>
            <a:ext cx="54864" cy="804672"/>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7"/>
          <p:cNvSpPr/>
          <p:nvPr/>
        </p:nvSpPr>
        <p:spPr>
          <a:xfrm>
            <a:off x="4910328" y="128016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239" name="Google Shape;239;p7"/>
          <p:cNvSpPr/>
          <p:nvPr/>
        </p:nvSpPr>
        <p:spPr>
          <a:xfrm>
            <a:off x="5458968" y="1197864"/>
            <a:ext cx="340156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No Public AI Tools</a:t>
            </a:r>
            <a:endParaRPr b="0" i="0" sz="1100" u="none" cap="none" strike="noStrike">
              <a:solidFill>
                <a:schemeClr val="dk1"/>
              </a:solidFill>
              <a:latin typeface="Calibri"/>
              <a:ea typeface="Calibri"/>
              <a:cs typeface="Calibri"/>
              <a:sym typeface="Calibri"/>
            </a:endParaRPr>
          </a:p>
        </p:txBody>
      </p:sp>
      <p:sp>
        <p:nvSpPr>
          <p:cNvPr id="240" name="Google Shape;240;p7"/>
          <p:cNvSpPr/>
          <p:nvPr/>
        </p:nvSpPr>
        <p:spPr>
          <a:xfrm>
            <a:off x="5458968" y="1508760"/>
            <a:ext cx="340156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Do not upload code to public or external AI tools</a:t>
            </a:r>
            <a:endParaRPr b="0" i="0" sz="1000" u="none" cap="none" strike="noStrike">
              <a:solidFill>
                <a:schemeClr val="dk1"/>
              </a:solidFill>
              <a:latin typeface="Calibri"/>
              <a:ea typeface="Calibri"/>
              <a:cs typeface="Calibri"/>
              <a:sym typeface="Calibri"/>
            </a:endParaRPr>
          </a:p>
        </p:txBody>
      </p:sp>
      <p:sp>
        <p:nvSpPr>
          <p:cNvPr id="241" name="Google Shape;241;p7"/>
          <p:cNvSpPr/>
          <p:nvPr/>
        </p:nvSpPr>
        <p:spPr>
          <a:xfrm>
            <a:off x="365760" y="2057400"/>
            <a:ext cx="4160520" cy="80467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7"/>
          <p:cNvSpPr/>
          <p:nvPr/>
        </p:nvSpPr>
        <p:spPr>
          <a:xfrm>
            <a:off x="365760" y="2057400"/>
            <a:ext cx="54864" cy="804672"/>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7"/>
          <p:cNvSpPr/>
          <p:nvPr/>
        </p:nvSpPr>
        <p:spPr>
          <a:xfrm>
            <a:off x="475488" y="219456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244" name="Google Shape;244;p7"/>
          <p:cNvSpPr/>
          <p:nvPr/>
        </p:nvSpPr>
        <p:spPr>
          <a:xfrm>
            <a:off x="1024128" y="2112264"/>
            <a:ext cx="340156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Mask Sensitive Data</a:t>
            </a:r>
            <a:endParaRPr b="0" i="0" sz="1100" u="none" cap="none" strike="noStrike">
              <a:solidFill>
                <a:schemeClr val="dk1"/>
              </a:solidFill>
              <a:latin typeface="Calibri"/>
              <a:ea typeface="Calibri"/>
              <a:cs typeface="Calibri"/>
              <a:sym typeface="Calibri"/>
            </a:endParaRPr>
          </a:p>
        </p:txBody>
      </p:sp>
      <p:sp>
        <p:nvSpPr>
          <p:cNvPr id="245" name="Google Shape;245;p7"/>
          <p:cNvSpPr/>
          <p:nvPr/>
        </p:nvSpPr>
        <p:spPr>
          <a:xfrm>
            <a:off x="1024128" y="2423160"/>
            <a:ext cx="340156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Mask org names, URLs, tokens, secrets, and connection strings</a:t>
            </a:r>
            <a:endParaRPr b="0" i="0" sz="1000" u="none" cap="none" strike="noStrike">
              <a:solidFill>
                <a:schemeClr val="dk1"/>
              </a:solidFill>
              <a:latin typeface="Calibri"/>
              <a:ea typeface="Calibri"/>
              <a:cs typeface="Calibri"/>
              <a:sym typeface="Calibri"/>
            </a:endParaRPr>
          </a:p>
        </p:txBody>
      </p:sp>
      <p:sp>
        <p:nvSpPr>
          <p:cNvPr id="246" name="Google Shape;246;p7"/>
          <p:cNvSpPr/>
          <p:nvPr/>
        </p:nvSpPr>
        <p:spPr>
          <a:xfrm>
            <a:off x="4800600" y="2057400"/>
            <a:ext cx="4160520" cy="80467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7"/>
          <p:cNvSpPr/>
          <p:nvPr/>
        </p:nvSpPr>
        <p:spPr>
          <a:xfrm>
            <a:off x="4800600" y="2057400"/>
            <a:ext cx="54864" cy="804672"/>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7"/>
          <p:cNvSpPr/>
          <p:nvPr/>
        </p:nvSpPr>
        <p:spPr>
          <a:xfrm>
            <a:off x="4910328" y="219456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249" name="Google Shape;249;p7"/>
          <p:cNvSpPr/>
          <p:nvPr/>
        </p:nvSpPr>
        <p:spPr>
          <a:xfrm>
            <a:off x="5458968" y="2112264"/>
            <a:ext cx="340156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Exclude Credentials</a:t>
            </a:r>
            <a:endParaRPr b="0" i="0" sz="1100" u="none" cap="none" strike="noStrike">
              <a:solidFill>
                <a:schemeClr val="dk1"/>
              </a:solidFill>
              <a:latin typeface="Calibri"/>
              <a:ea typeface="Calibri"/>
              <a:cs typeface="Calibri"/>
              <a:sym typeface="Calibri"/>
            </a:endParaRPr>
          </a:p>
        </p:txBody>
      </p:sp>
      <p:sp>
        <p:nvSpPr>
          <p:cNvPr id="250" name="Google Shape;250;p7"/>
          <p:cNvSpPr/>
          <p:nvPr/>
        </p:nvSpPr>
        <p:spPr>
          <a:xfrm>
            <a:off x="5458968" y="2423160"/>
            <a:ext cx="340156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Exclude production credentials and sensitive config files</a:t>
            </a:r>
            <a:endParaRPr b="0" i="0" sz="1000" u="none" cap="none" strike="noStrike">
              <a:solidFill>
                <a:schemeClr val="dk1"/>
              </a:solidFill>
              <a:latin typeface="Calibri"/>
              <a:ea typeface="Calibri"/>
              <a:cs typeface="Calibri"/>
              <a:sym typeface="Calibri"/>
            </a:endParaRPr>
          </a:p>
        </p:txBody>
      </p:sp>
      <p:sp>
        <p:nvSpPr>
          <p:cNvPr id="251" name="Google Shape;251;p7"/>
          <p:cNvSpPr/>
          <p:nvPr/>
        </p:nvSpPr>
        <p:spPr>
          <a:xfrm>
            <a:off x="4800600" y="2971800"/>
            <a:ext cx="4160520" cy="804672"/>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p:nvPr/>
        </p:nvSpPr>
        <p:spPr>
          <a:xfrm>
            <a:off x="4800600" y="2971800"/>
            <a:ext cx="54864" cy="804672"/>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7"/>
          <p:cNvSpPr/>
          <p:nvPr/>
        </p:nvSpPr>
        <p:spPr>
          <a:xfrm>
            <a:off x="4910328" y="310896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254" name="Google Shape;254;p7"/>
          <p:cNvSpPr/>
          <p:nvPr/>
        </p:nvSpPr>
        <p:spPr>
          <a:xfrm>
            <a:off x="5458968" y="3026664"/>
            <a:ext cx="340156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Audit Logging</a:t>
            </a:r>
            <a:endParaRPr b="0" i="0" sz="1100" u="none" cap="none" strike="noStrike">
              <a:solidFill>
                <a:schemeClr val="dk1"/>
              </a:solidFill>
              <a:latin typeface="Calibri"/>
              <a:ea typeface="Calibri"/>
              <a:cs typeface="Calibri"/>
              <a:sym typeface="Calibri"/>
            </a:endParaRPr>
          </a:p>
        </p:txBody>
      </p:sp>
      <p:sp>
        <p:nvSpPr>
          <p:cNvPr id="255" name="Google Shape;255;p7"/>
          <p:cNvSpPr/>
          <p:nvPr/>
        </p:nvSpPr>
        <p:spPr>
          <a:xfrm>
            <a:off x="5458968" y="3337560"/>
            <a:ext cx="340156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Record and keep a trace of every code review activity done by the AI for (accountability,traceability)</a:t>
            </a:r>
            <a:endParaRPr sz="1000">
              <a:solidFill>
                <a:srgbClr val="64748B"/>
              </a:solidFill>
              <a:latin typeface="Calibri"/>
              <a:ea typeface="Calibri"/>
              <a:cs typeface="Calibri"/>
              <a:sym typeface="Calibri"/>
            </a:endParaRPr>
          </a:p>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a:t>
            </a:r>
            <a:endParaRPr sz="1000">
              <a:solidFill>
                <a:srgbClr val="64748B"/>
              </a:solidFill>
              <a:latin typeface="Calibri"/>
              <a:ea typeface="Calibri"/>
              <a:cs typeface="Calibri"/>
              <a:sym typeface="Calibri"/>
            </a:endParaRPr>
          </a:p>
        </p:txBody>
      </p:sp>
      <p:sp>
        <p:nvSpPr>
          <p:cNvPr id="256" name="Google Shape;256;p7"/>
          <p:cNvSpPr/>
          <p:nvPr/>
        </p:nvSpPr>
        <p:spPr>
          <a:xfrm>
            <a:off x="365750" y="2971800"/>
            <a:ext cx="4160400" cy="804600"/>
          </a:xfrm>
          <a:prstGeom prst="rect">
            <a:avLst/>
          </a:prstGeom>
          <a:solidFill>
            <a:srgbClr val="EBF7FC"/>
          </a:solidFill>
          <a:ln cap="flat" cmpd="sng" w="9525">
            <a:solidFill>
              <a:srgbClr val="D0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p:nvPr/>
        </p:nvSpPr>
        <p:spPr>
          <a:xfrm>
            <a:off x="365750" y="2971800"/>
            <a:ext cx="54900" cy="804600"/>
          </a:xfrm>
          <a:prstGeom prst="rect">
            <a:avLst/>
          </a:prstGeom>
          <a:solidFill>
            <a:srgbClr val="00A1C2"/>
          </a:solidFill>
          <a:ln cap="flat" cmpd="sng" w="12700">
            <a:solidFill>
              <a:srgbClr val="00A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
          <p:cNvSpPr/>
          <p:nvPr/>
        </p:nvSpPr>
        <p:spPr>
          <a:xfrm>
            <a:off x="475478" y="3108960"/>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259" name="Google Shape;259;p7"/>
          <p:cNvSpPr/>
          <p:nvPr/>
        </p:nvSpPr>
        <p:spPr>
          <a:xfrm>
            <a:off x="1033093" y="3063239"/>
            <a:ext cx="34017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567D"/>
              </a:buClr>
              <a:buSzPts val="1100"/>
              <a:buFont typeface="Calibri"/>
              <a:buNone/>
            </a:pPr>
            <a:r>
              <a:rPr b="1" i="0" lang="en-US" sz="1100" u="none" cap="none" strike="noStrike">
                <a:solidFill>
                  <a:srgbClr val="00567D"/>
                </a:solidFill>
                <a:latin typeface="Calibri"/>
                <a:ea typeface="Calibri"/>
                <a:cs typeface="Calibri"/>
                <a:sym typeface="Calibri"/>
              </a:rPr>
              <a:t>Review Assistance Only</a:t>
            </a:r>
            <a:endParaRPr b="0" i="0" sz="1100" u="none" cap="none" strike="noStrike">
              <a:solidFill>
                <a:schemeClr val="dk1"/>
              </a:solidFill>
              <a:latin typeface="Calibri"/>
              <a:ea typeface="Calibri"/>
              <a:cs typeface="Calibri"/>
              <a:sym typeface="Calibri"/>
            </a:endParaRPr>
          </a:p>
        </p:txBody>
      </p:sp>
      <p:sp>
        <p:nvSpPr>
          <p:cNvPr id="260" name="Google Shape;260;p7"/>
          <p:cNvSpPr/>
          <p:nvPr/>
        </p:nvSpPr>
        <p:spPr>
          <a:xfrm>
            <a:off x="1024118" y="3337560"/>
            <a:ext cx="34017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Use AI for review assistance, not automatic code changes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g3d8ab55df9a_0_3"/>
          <p:cNvSpPr/>
          <p:nvPr/>
        </p:nvSpPr>
        <p:spPr>
          <a:xfrm>
            <a:off x="0" y="0"/>
            <a:ext cx="9144000" cy="1143000"/>
          </a:xfrm>
          <a:prstGeom prst="rect">
            <a:avLst/>
          </a:prstGeom>
          <a:solidFill>
            <a:srgbClr val="0D2137"/>
          </a:solidFill>
          <a:ln cap="flat" cmpd="sng" w="12700">
            <a:solidFill>
              <a:srgbClr val="0D21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3d8ab55df9a_0_3"/>
          <p:cNvSpPr/>
          <p:nvPr/>
        </p:nvSpPr>
        <p:spPr>
          <a:xfrm>
            <a:off x="0" y="1005840"/>
            <a:ext cx="9144000" cy="137100"/>
          </a:xfrm>
          <a:prstGeom prst="rect">
            <a:avLst/>
          </a:prstGeom>
          <a:solidFill>
            <a:srgbClr val="1B6B8A"/>
          </a:solidFill>
          <a:ln cap="flat" cmpd="sng" w="12700">
            <a:solidFill>
              <a:srgbClr val="1B6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d8ab55df9a_0_3"/>
          <p:cNvSpPr/>
          <p:nvPr/>
        </p:nvSpPr>
        <p:spPr>
          <a:xfrm>
            <a:off x="164592" y="201168"/>
            <a:ext cx="567000" cy="567000"/>
          </a:xfrm>
          <a:prstGeom prst="ellipse">
            <a:avLst/>
          </a:prstGeom>
          <a:solidFill>
            <a:srgbClr val="1A4A6A"/>
          </a:solidFill>
          <a:ln cap="flat" cmpd="sng" w="12700">
            <a:solidFill>
              <a:srgbClr val="2A7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g3d8ab55df9a_0_3"/>
          <p:cNvSpPr/>
          <p:nvPr/>
        </p:nvSpPr>
        <p:spPr>
          <a:xfrm>
            <a:off x="164592" y="201168"/>
            <a:ext cx="5670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C0D0"/>
              </a:buClr>
              <a:buSzPts val="900"/>
              <a:buFont typeface="Calibri"/>
              <a:buNone/>
            </a:pPr>
            <a:r>
              <a:rPr b="0" i="0" lang="en-US" sz="900" u="none" cap="none" strike="noStrike">
                <a:solidFill>
                  <a:srgbClr val="A0C0D0"/>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270" name="Google Shape;270;g3d8ab55df9a_0_3"/>
          <p:cNvSpPr/>
          <p:nvPr/>
        </p:nvSpPr>
        <p:spPr>
          <a:xfrm>
            <a:off x="850392" y="155448"/>
            <a:ext cx="68580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AI Project/Use Case Template</a:t>
            </a:r>
            <a:endParaRPr b="0" i="0" sz="1500" u="none" cap="none" strike="noStrike">
              <a:solidFill>
                <a:schemeClr val="dk1"/>
              </a:solidFill>
              <a:latin typeface="Calibri"/>
              <a:ea typeface="Calibri"/>
              <a:cs typeface="Calibri"/>
              <a:sym typeface="Calibri"/>
            </a:endParaRPr>
          </a:p>
        </p:txBody>
      </p:sp>
      <p:sp>
        <p:nvSpPr>
          <p:cNvPr id="271" name="Google Shape;271;g3d8ab55df9a_0_3"/>
          <p:cNvSpPr/>
          <p:nvPr/>
        </p:nvSpPr>
        <p:spPr>
          <a:xfrm>
            <a:off x="850392" y="521208"/>
            <a:ext cx="54864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BCD0"/>
              </a:buClr>
              <a:buSzPts val="1000"/>
              <a:buFont typeface="Calibri"/>
              <a:buNone/>
            </a:pPr>
            <a:r>
              <a:rPr b="0" i="1" lang="en-US" sz="1000" u="none" cap="none" strike="noStrike">
                <a:solidFill>
                  <a:srgbClr val="7ABCD0"/>
                </a:solidFill>
                <a:latin typeface="Calibri"/>
                <a:ea typeface="Calibri"/>
                <a:cs typeface="Calibri"/>
                <a:sym typeface="Calibri"/>
              </a:rPr>
              <a:t>Use Case Overview</a:t>
            </a:r>
            <a:endParaRPr b="0" i="0" sz="1000" u="none" cap="none" strike="noStrike">
              <a:solidFill>
                <a:schemeClr val="dk1"/>
              </a:solidFill>
              <a:latin typeface="Calibri"/>
              <a:ea typeface="Calibri"/>
              <a:cs typeface="Calibri"/>
              <a:sym typeface="Calibri"/>
            </a:endParaRPr>
          </a:p>
        </p:txBody>
      </p:sp>
      <p:sp>
        <p:nvSpPr>
          <p:cNvPr id="272" name="Google Shape;272;g3d8ab55df9a_0_3"/>
          <p:cNvSpPr/>
          <p:nvPr/>
        </p:nvSpPr>
        <p:spPr>
          <a:xfrm>
            <a:off x="850392" y="777240"/>
            <a:ext cx="6858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90A8"/>
              </a:buClr>
              <a:buSzPts val="800"/>
              <a:buFont typeface="Calibri"/>
              <a:buNone/>
            </a:pPr>
            <a:r>
              <a:rPr b="0" i="0" lang="en-US" sz="800" u="none" cap="none" strike="noStrike">
                <a:solidFill>
                  <a:srgbClr val="5090A8"/>
                </a:solidFill>
                <a:latin typeface="Calibri"/>
                <a:ea typeface="Calibri"/>
                <a:cs typeface="Calibri"/>
                <a:sym typeface="Calibri"/>
              </a:rPr>
              <a:t>AI-Assisted API Code Performance Analysis</a:t>
            </a:r>
            <a:endParaRPr b="0" i="0" sz="800" u="none" cap="none" strike="noStrike">
              <a:solidFill>
                <a:schemeClr val="dk1"/>
              </a:solidFill>
              <a:latin typeface="Calibri"/>
              <a:ea typeface="Calibri"/>
              <a:cs typeface="Calibri"/>
              <a:sym typeface="Calibri"/>
            </a:endParaRPr>
          </a:p>
        </p:txBody>
      </p:sp>
      <p:sp>
        <p:nvSpPr>
          <p:cNvPr id="273" name="Google Shape;273;g3d8ab55df9a_0_3"/>
          <p:cNvSpPr/>
          <p:nvPr/>
        </p:nvSpPr>
        <p:spPr>
          <a:xfrm>
            <a:off x="0" y="1143000"/>
            <a:ext cx="5440800" cy="237600"/>
          </a:xfrm>
          <a:prstGeom prst="rect">
            <a:avLst/>
          </a:prstGeom>
          <a:solidFill>
            <a:srgbClr val="1B6B8A"/>
          </a:solidFill>
          <a:ln cap="flat" cmpd="sng" w="12700">
            <a:solidFill>
              <a:srgbClr val="1B6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d8ab55df9a_0_3"/>
          <p:cNvSpPr/>
          <p:nvPr/>
        </p:nvSpPr>
        <p:spPr>
          <a:xfrm>
            <a:off x="0" y="1143000"/>
            <a:ext cx="54408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Problem Statement</a:t>
            </a:r>
            <a:endParaRPr b="0" i="0" sz="850" u="none" cap="none" strike="noStrike">
              <a:solidFill>
                <a:schemeClr val="dk1"/>
              </a:solidFill>
              <a:latin typeface="Calibri"/>
              <a:ea typeface="Calibri"/>
              <a:cs typeface="Calibri"/>
              <a:sym typeface="Calibri"/>
            </a:endParaRPr>
          </a:p>
        </p:txBody>
      </p:sp>
      <p:sp>
        <p:nvSpPr>
          <p:cNvPr id="275" name="Google Shape;275;g3d8ab55df9a_0_3"/>
          <p:cNvSpPr/>
          <p:nvPr/>
        </p:nvSpPr>
        <p:spPr>
          <a:xfrm>
            <a:off x="0" y="1380744"/>
            <a:ext cx="5440800" cy="804600"/>
          </a:xfrm>
          <a:prstGeom prst="rect">
            <a:avLst/>
          </a:prstGeom>
          <a:solidFill>
            <a:srgbClr val="FFFFFF"/>
          </a:solidFill>
          <a:ln cap="flat" cmpd="sng" w="9525">
            <a:solidFill>
              <a:srgbClr val="C5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d8ab55df9a_0_3"/>
          <p:cNvSpPr/>
          <p:nvPr/>
        </p:nvSpPr>
        <p:spPr>
          <a:xfrm>
            <a:off x="73152" y="1417320"/>
            <a:ext cx="5294400" cy="74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E3B"/>
              </a:buClr>
              <a:buSzPts val="750"/>
              <a:buFont typeface="Calibri"/>
              <a:buNone/>
            </a:pPr>
            <a:r>
              <a:rPr b="0" i="0" lang="en-US" sz="750" u="none" cap="none" strike="noStrike">
                <a:solidFill>
                  <a:srgbClr val="1A2E3B"/>
                </a:solidFill>
                <a:latin typeface="Calibri"/>
                <a:ea typeface="Calibri"/>
                <a:cs typeface="Calibri"/>
                <a:sym typeface="Calibri"/>
              </a:rPr>
              <a:t>Our APIs are a critical part of enterprise applications and integrations, but potential performance issues are not always identified early during development. Without advanced monitoring or telemetry, teams rely heavily on manual code review and developer experience to detect inefficiencies. This increases the risk of performance issues, scalability limitations, and delayed optimization after deployment.</a:t>
            </a:r>
            <a:endParaRPr b="0" i="0" sz="750" u="none" cap="none" strike="noStrike">
              <a:solidFill>
                <a:schemeClr val="dk1"/>
              </a:solidFill>
              <a:latin typeface="Calibri"/>
              <a:ea typeface="Calibri"/>
              <a:cs typeface="Calibri"/>
              <a:sym typeface="Calibri"/>
            </a:endParaRPr>
          </a:p>
        </p:txBody>
      </p:sp>
      <p:sp>
        <p:nvSpPr>
          <p:cNvPr id="277" name="Google Shape;277;g3d8ab55df9a_0_3"/>
          <p:cNvSpPr/>
          <p:nvPr/>
        </p:nvSpPr>
        <p:spPr>
          <a:xfrm>
            <a:off x="0" y="2185416"/>
            <a:ext cx="2711100" cy="237600"/>
          </a:xfrm>
          <a:prstGeom prst="rect">
            <a:avLst/>
          </a:prstGeom>
          <a:solidFill>
            <a:srgbClr val="1B6B8A"/>
          </a:solidFill>
          <a:ln cap="flat" cmpd="sng" w="12700">
            <a:solidFill>
              <a:srgbClr val="1B6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3d8ab55df9a_0_3"/>
          <p:cNvSpPr/>
          <p:nvPr/>
        </p:nvSpPr>
        <p:spPr>
          <a:xfrm>
            <a:off x="0" y="2185416"/>
            <a:ext cx="2711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Expected Benefit</a:t>
            </a:r>
            <a:endParaRPr b="0" i="0" sz="850" u="none" cap="none" strike="noStrike">
              <a:solidFill>
                <a:schemeClr val="dk1"/>
              </a:solidFill>
              <a:latin typeface="Calibri"/>
              <a:ea typeface="Calibri"/>
              <a:cs typeface="Calibri"/>
              <a:sym typeface="Calibri"/>
            </a:endParaRPr>
          </a:p>
        </p:txBody>
      </p:sp>
      <p:sp>
        <p:nvSpPr>
          <p:cNvPr id="279" name="Google Shape;279;g3d8ab55df9a_0_3"/>
          <p:cNvSpPr/>
          <p:nvPr/>
        </p:nvSpPr>
        <p:spPr>
          <a:xfrm>
            <a:off x="2729484" y="2185416"/>
            <a:ext cx="2711100" cy="237600"/>
          </a:xfrm>
          <a:prstGeom prst="rect">
            <a:avLst/>
          </a:prstGeom>
          <a:solidFill>
            <a:srgbClr val="1B6B8A"/>
          </a:solidFill>
          <a:ln cap="flat" cmpd="sng" w="12700">
            <a:solidFill>
              <a:srgbClr val="1B6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3d8ab55df9a_0_3"/>
          <p:cNvSpPr/>
          <p:nvPr/>
        </p:nvSpPr>
        <p:spPr>
          <a:xfrm>
            <a:off x="2729484" y="2185416"/>
            <a:ext cx="2711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Key Audience</a:t>
            </a:r>
            <a:endParaRPr b="0" i="0" sz="850" u="none" cap="none" strike="noStrike">
              <a:solidFill>
                <a:schemeClr val="dk1"/>
              </a:solidFill>
              <a:latin typeface="Calibri"/>
              <a:ea typeface="Calibri"/>
              <a:cs typeface="Calibri"/>
              <a:sym typeface="Calibri"/>
            </a:endParaRPr>
          </a:p>
        </p:txBody>
      </p:sp>
      <p:sp>
        <p:nvSpPr>
          <p:cNvPr id="281" name="Google Shape;281;g3d8ab55df9a_0_3"/>
          <p:cNvSpPr/>
          <p:nvPr/>
        </p:nvSpPr>
        <p:spPr>
          <a:xfrm>
            <a:off x="0" y="2423160"/>
            <a:ext cx="2711100" cy="1097400"/>
          </a:xfrm>
          <a:prstGeom prst="rect">
            <a:avLst/>
          </a:prstGeom>
          <a:solidFill>
            <a:srgbClr val="FFFFFF"/>
          </a:solidFill>
          <a:ln cap="flat" cmpd="sng" w="9525">
            <a:solidFill>
              <a:srgbClr val="C5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3d8ab55df9a_0_3"/>
          <p:cNvSpPr/>
          <p:nvPr/>
        </p:nvSpPr>
        <p:spPr>
          <a:xfrm>
            <a:off x="73152" y="2459736"/>
            <a:ext cx="2601600" cy="1042500"/>
          </a:xfrm>
          <a:prstGeom prst="rect">
            <a:avLst/>
          </a:prstGeom>
          <a:noFill/>
          <a:ln>
            <a:noFill/>
          </a:ln>
        </p:spPr>
        <p:txBody>
          <a:bodyPr anchorCtr="0" anchor="ctr" bIns="0" lIns="0" spcFirstLastPara="1" rIns="0" wrap="square" tIns="25400">
            <a:noAutofit/>
          </a:bodyPr>
          <a:lstStyle/>
          <a:p>
            <a:pPr indent="-342900" lvl="0" marL="342900" marR="0" rtl="0" algn="l">
              <a:spcBef>
                <a:spcPts val="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Detect performance risks early in development</a:t>
            </a:r>
            <a:endParaRPr b="0" i="0" sz="700" u="none" cap="none" strike="noStrike">
              <a:solidFill>
                <a:schemeClr val="dk1"/>
              </a:solidFill>
              <a:latin typeface="Calibri"/>
              <a:ea typeface="Calibri"/>
              <a:cs typeface="Calibri"/>
              <a:sym typeface="Calibri"/>
            </a:endParaRPr>
          </a:p>
          <a:p>
            <a:pPr indent="-342900" lvl="0" marL="342900" marR="0" rtl="0" algn="l">
              <a:spcBef>
                <a:spcPts val="10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Reduce manual effort in code review</a:t>
            </a:r>
            <a:endParaRPr b="0" i="0" sz="700" u="none" cap="none" strike="noStrike">
              <a:solidFill>
                <a:schemeClr val="dk1"/>
              </a:solidFill>
              <a:latin typeface="Calibri"/>
              <a:ea typeface="Calibri"/>
              <a:cs typeface="Calibri"/>
              <a:sym typeface="Calibri"/>
            </a:endParaRPr>
          </a:p>
          <a:p>
            <a:pPr indent="-342900" lvl="0" marL="342900" marR="0" rtl="0" algn="l">
              <a:spcBef>
                <a:spcPts val="10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Improve API design and implementation quality</a:t>
            </a:r>
            <a:endParaRPr b="0" i="0" sz="700" u="none" cap="none" strike="noStrike">
              <a:solidFill>
                <a:schemeClr val="dk1"/>
              </a:solidFill>
              <a:latin typeface="Calibri"/>
              <a:ea typeface="Calibri"/>
              <a:cs typeface="Calibri"/>
              <a:sym typeface="Calibri"/>
            </a:endParaRPr>
          </a:p>
          <a:p>
            <a:pPr indent="-342900" lvl="0" marL="342900" marR="0" rtl="0" algn="l">
              <a:spcBef>
                <a:spcPts val="10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Identify inefficient patterns before deployment</a:t>
            </a:r>
            <a:endParaRPr b="0" i="0" sz="700" u="none" cap="none" strike="noStrike">
              <a:solidFill>
                <a:schemeClr val="dk1"/>
              </a:solidFill>
              <a:latin typeface="Calibri"/>
              <a:ea typeface="Calibri"/>
              <a:cs typeface="Calibri"/>
              <a:sym typeface="Calibri"/>
            </a:endParaRPr>
          </a:p>
          <a:p>
            <a:pPr indent="-342900" lvl="0" marL="342900" marR="0" rtl="0" algn="l">
              <a:spcBef>
                <a:spcPts val="10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Support developers with optimization recommendations</a:t>
            </a:r>
            <a:endParaRPr b="0" i="0" sz="700" u="none" cap="none" strike="noStrike">
              <a:solidFill>
                <a:schemeClr val="dk1"/>
              </a:solidFill>
              <a:latin typeface="Calibri"/>
              <a:ea typeface="Calibri"/>
              <a:cs typeface="Calibri"/>
              <a:sym typeface="Calibri"/>
            </a:endParaRPr>
          </a:p>
          <a:p>
            <a:pPr indent="-342900" lvl="0" marL="342900" marR="0" rtl="0" algn="l">
              <a:spcBef>
                <a:spcPts val="10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Improve scalability and maintainability of APIs</a:t>
            </a:r>
            <a:endParaRPr b="0" i="0" sz="700" u="none" cap="none" strike="noStrike">
              <a:solidFill>
                <a:schemeClr val="dk1"/>
              </a:solidFill>
              <a:latin typeface="Calibri"/>
              <a:ea typeface="Calibri"/>
              <a:cs typeface="Calibri"/>
              <a:sym typeface="Calibri"/>
            </a:endParaRPr>
          </a:p>
        </p:txBody>
      </p:sp>
      <p:sp>
        <p:nvSpPr>
          <p:cNvPr id="283" name="Google Shape;283;g3d8ab55df9a_0_3"/>
          <p:cNvSpPr/>
          <p:nvPr/>
        </p:nvSpPr>
        <p:spPr>
          <a:xfrm>
            <a:off x="2729484" y="2423160"/>
            <a:ext cx="2711100" cy="1097400"/>
          </a:xfrm>
          <a:prstGeom prst="rect">
            <a:avLst/>
          </a:prstGeom>
          <a:solidFill>
            <a:srgbClr val="FFFFFF"/>
          </a:solidFill>
          <a:ln cap="flat" cmpd="sng" w="9525">
            <a:solidFill>
              <a:srgbClr val="C5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d8ab55df9a_0_3"/>
          <p:cNvSpPr/>
          <p:nvPr/>
        </p:nvSpPr>
        <p:spPr>
          <a:xfrm>
            <a:off x="2802636" y="2459736"/>
            <a:ext cx="2601600" cy="1042500"/>
          </a:xfrm>
          <a:prstGeom prst="rect">
            <a:avLst/>
          </a:prstGeom>
          <a:noFill/>
          <a:ln>
            <a:noFill/>
          </a:ln>
        </p:spPr>
        <p:txBody>
          <a:bodyPr anchorCtr="0" anchor="ctr" bIns="0" lIns="0" spcFirstLastPara="1" rIns="0" wrap="square" tIns="25400">
            <a:noAutofit/>
          </a:bodyPr>
          <a:lstStyle/>
          <a:p>
            <a:pPr indent="-342900" lvl="0" marL="342900" marR="0" rtl="0" algn="l">
              <a:spcBef>
                <a:spcPts val="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API Developers</a:t>
            </a:r>
            <a:endParaRPr b="0" i="0" sz="700" u="none" cap="none" strike="noStrike">
              <a:solidFill>
                <a:schemeClr val="dk1"/>
              </a:solidFill>
              <a:latin typeface="Calibri"/>
              <a:ea typeface="Calibri"/>
              <a:cs typeface="Calibri"/>
              <a:sym typeface="Calibri"/>
            </a:endParaRPr>
          </a:p>
          <a:p>
            <a:pPr indent="-342900" lvl="0" marL="342900" marR="0" rtl="0" algn="l">
              <a:spcBef>
                <a:spcPts val="10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Software Engineers</a:t>
            </a:r>
            <a:endParaRPr b="0" i="0" sz="700" u="none" cap="none" strike="noStrike">
              <a:solidFill>
                <a:schemeClr val="dk1"/>
              </a:solidFill>
              <a:latin typeface="Calibri"/>
              <a:ea typeface="Calibri"/>
              <a:cs typeface="Calibri"/>
              <a:sym typeface="Calibri"/>
            </a:endParaRPr>
          </a:p>
          <a:p>
            <a:pPr indent="-342900" lvl="0" marL="342900" marR="0" rtl="0" algn="l">
              <a:spcBef>
                <a:spcPts val="10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Technical Leads</a:t>
            </a:r>
            <a:endParaRPr b="0" i="0" sz="700" u="none" cap="none" strike="noStrike">
              <a:solidFill>
                <a:schemeClr val="dk1"/>
              </a:solidFill>
              <a:latin typeface="Calibri"/>
              <a:ea typeface="Calibri"/>
              <a:cs typeface="Calibri"/>
              <a:sym typeface="Calibri"/>
            </a:endParaRPr>
          </a:p>
          <a:p>
            <a:pPr indent="-342900" lvl="0" marL="342900" marR="0" rtl="0" algn="l">
              <a:spcBef>
                <a:spcPts val="10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Code Reviewers</a:t>
            </a:r>
            <a:endParaRPr b="0" i="0" sz="700" u="none" cap="none" strike="noStrike">
              <a:solidFill>
                <a:schemeClr val="dk1"/>
              </a:solidFill>
              <a:latin typeface="Calibri"/>
              <a:ea typeface="Calibri"/>
              <a:cs typeface="Calibri"/>
              <a:sym typeface="Calibri"/>
            </a:endParaRPr>
          </a:p>
          <a:p>
            <a:pPr indent="-342900" lvl="0" marL="342900" marR="0" rtl="0" algn="l">
              <a:spcBef>
                <a:spcPts val="10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Solution Architects</a:t>
            </a:r>
            <a:endParaRPr b="0" i="0" sz="700" u="none" cap="none" strike="noStrike">
              <a:solidFill>
                <a:schemeClr val="dk1"/>
              </a:solidFill>
              <a:latin typeface="Calibri"/>
              <a:ea typeface="Calibri"/>
              <a:cs typeface="Calibri"/>
              <a:sym typeface="Calibri"/>
            </a:endParaRPr>
          </a:p>
        </p:txBody>
      </p:sp>
      <p:sp>
        <p:nvSpPr>
          <p:cNvPr id="285" name="Google Shape;285;g3d8ab55df9a_0_3"/>
          <p:cNvSpPr/>
          <p:nvPr/>
        </p:nvSpPr>
        <p:spPr>
          <a:xfrm>
            <a:off x="0" y="3520440"/>
            <a:ext cx="2711100" cy="237600"/>
          </a:xfrm>
          <a:prstGeom prst="rect">
            <a:avLst/>
          </a:prstGeom>
          <a:solidFill>
            <a:srgbClr val="1B6B8A"/>
          </a:solidFill>
          <a:ln cap="flat" cmpd="sng" w="12700">
            <a:solidFill>
              <a:srgbClr val="1B6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g3d8ab55df9a_0_3"/>
          <p:cNvSpPr/>
          <p:nvPr/>
        </p:nvSpPr>
        <p:spPr>
          <a:xfrm>
            <a:off x="0" y="3520440"/>
            <a:ext cx="2711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Data Requirement  (Data Type)</a:t>
            </a:r>
            <a:endParaRPr b="0" i="0" sz="800" u="none" cap="none" strike="noStrike">
              <a:solidFill>
                <a:schemeClr val="dk1"/>
              </a:solidFill>
              <a:latin typeface="Calibri"/>
              <a:ea typeface="Calibri"/>
              <a:cs typeface="Calibri"/>
              <a:sym typeface="Calibri"/>
            </a:endParaRPr>
          </a:p>
        </p:txBody>
      </p:sp>
      <p:sp>
        <p:nvSpPr>
          <p:cNvPr id="287" name="Google Shape;287;g3d8ab55df9a_0_3"/>
          <p:cNvSpPr/>
          <p:nvPr/>
        </p:nvSpPr>
        <p:spPr>
          <a:xfrm>
            <a:off x="2729484" y="3520440"/>
            <a:ext cx="2711100" cy="237600"/>
          </a:xfrm>
          <a:prstGeom prst="rect">
            <a:avLst/>
          </a:prstGeom>
          <a:solidFill>
            <a:srgbClr val="1B6B8A"/>
          </a:solidFill>
          <a:ln cap="flat" cmpd="sng" w="12700">
            <a:solidFill>
              <a:srgbClr val="1B6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d8ab55df9a_0_3"/>
          <p:cNvSpPr/>
          <p:nvPr/>
        </p:nvSpPr>
        <p:spPr>
          <a:xfrm>
            <a:off x="2729484" y="3520440"/>
            <a:ext cx="2711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System Dependencies  (EMR, CRM, etc.)</a:t>
            </a:r>
            <a:endParaRPr b="0" i="0" sz="750" u="none" cap="none" strike="noStrike">
              <a:solidFill>
                <a:schemeClr val="dk1"/>
              </a:solidFill>
              <a:latin typeface="Calibri"/>
              <a:ea typeface="Calibri"/>
              <a:cs typeface="Calibri"/>
              <a:sym typeface="Calibri"/>
            </a:endParaRPr>
          </a:p>
        </p:txBody>
      </p:sp>
      <p:sp>
        <p:nvSpPr>
          <p:cNvPr id="289" name="Google Shape;289;g3d8ab55df9a_0_3"/>
          <p:cNvSpPr/>
          <p:nvPr/>
        </p:nvSpPr>
        <p:spPr>
          <a:xfrm>
            <a:off x="0" y="3758184"/>
            <a:ext cx="2711100" cy="1385400"/>
          </a:xfrm>
          <a:prstGeom prst="rect">
            <a:avLst/>
          </a:prstGeom>
          <a:solidFill>
            <a:srgbClr val="FFFFFF"/>
          </a:solidFill>
          <a:ln cap="flat" cmpd="sng" w="9525">
            <a:solidFill>
              <a:srgbClr val="C5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3d8ab55df9a_0_3"/>
          <p:cNvSpPr/>
          <p:nvPr/>
        </p:nvSpPr>
        <p:spPr>
          <a:xfrm>
            <a:off x="73152" y="3794760"/>
            <a:ext cx="2601600" cy="1330500"/>
          </a:xfrm>
          <a:prstGeom prst="rect">
            <a:avLst/>
          </a:prstGeom>
          <a:noFill/>
          <a:ln>
            <a:noFill/>
          </a:ln>
        </p:spPr>
        <p:txBody>
          <a:bodyPr anchorCtr="0" anchor="ctr" bIns="0" lIns="0" spcFirstLastPara="1" rIns="0" wrap="square" tIns="25400">
            <a:noAutofit/>
          </a:bodyPr>
          <a:lstStyle/>
          <a:p>
            <a:pPr indent="-342900" lvl="0" marL="342900" marR="0" rtl="0" algn="l">
              <a:spcBef>
                <a:spcPts val="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API source code</a:t>
            </a:r>
            <a:endParaRPr b="0" i="0" sz="700" u="none" cap="none" strike="noStrike">
              <a:solidFill>
                <a:schemeClr val="dk1"/>
              </a:solidFill>
              <a:latin typeface="Calibri"/>
              <a:ea typeface="Calibri"/>
              <a:cs typeface="Calibri"/>
              <a:sym typeface="Calibri"/>
            </a:endParaRPr>
          </a:p>
          <a:p>
            <a:pPr indent="-342900" lvl="0" marL="342900" marR="0" rtl="0" algn="l">
              <a:spcBef>
                <a:spcPts val="10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Controller and service logic</a:t>
            </a:r>
            <a:endParaRPr b="0" i="0" sz="700" u="none" cap="none" strike="noStrike">
              <a:solidFill>
                <a:schemeClr val="dk1"/>
              </a:solidFill>
              <a:latin typeface="Calibri"/>
              <a:ea typeface="Calibri"/>
              <a:cs typeface="Calibri"/>
              <a:sym typeface="Calibri"/>
            </a:endParaRPr>
          </a:p>
          <a:p>
            <a:pPr indent="-342900" lvl="0" marL="342900" marR="0" rtl="0" algn="l">
              <a:spcBef>
                <a:spcPts val="10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Data access code</a:t>
            </a:r>
            <a:endParaRPr b="0" i="0" sz="700" u="none" cap="none" strike="noStrike">
              <a:solidFill>
                <a:schemeClr val="dk1"/>
              </a:solidFill>
              <a:latin typeface="Calibri"/>
              <a:ea typeface="Calibri"/>
              <a:cs typeface="Calibri"/>
              <a:sym typeface="Calibri"/>
            </a:endParaRPr>
          </a:p>
          <a:p>
            <a:pPr indent="-342900" lvl="0" marL="342900" marR="0" rtl="0" algn="l">
              <a:spcBef>
                <a:spcPts val="10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Database query patterns</a:t>
            </a:r>
            <a:endParaRPr b="0" i="0" sz="700" u="none" cap="none" strike="noStrike">
              <a:solidFill>
                <a:schemeClr val="dk1"/>
              </a:solidFill>
              <a:latin typeface="Calibri"/>
              <a:ea typeface="Calibri"/>
              <a:cs typeface="Calibri"/>
              <a:sym typeface="Calibri"/>
            </a:endParaRPr>
          </a:p>
          <a:p>
            <a:pPr indent="-342900" lvl="0" marL="342900" marR="0" rtl="0" algn="l">
              <a:spcBef>
                <a:spcPts val="10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API contracts and payload models</a:t>
            </a:r>
            <a:endParaRPr b="0" i="0" sz="700" u="none" cap="none" strike="noStrike">
              <a:solidFill>
                <a:schemeClr val="dk1"/>
              </a:solidFill>
              <a:latin typeface="Calibri"/>
              <a:ea typeface="Calibri"/>
              <a:cs typeface="Calibri"/>
              <a:sym typeface="Calibri"/>
            </a:endParaRPr>
          </a:p>
          <a:p>
            <a:pPr indent="-342900" lvl="0" marL="342900" marR="0" rtl="0" algn="l">
              <a:spcBef>
                <a:spcPts val="10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Dependency call flows</a:t>
            </a:r>
            <a:endParaRPr b="0" i="0" sz="700" u="none" cap="none" strike="noStrike">
              <a:solidFill>
                <a:schemeClr val="dk1"/>
              </a:solidFill>
              <a:latin typeface="Calibri"/>
              <a:ea typeface="Calibri"/>
              <a:cs typeface="Calibri"/>
              <a:sym typeface="Calibri"/>
            </a:endParaRPr>
          </a:p>
          <a:p>
            <a:pPr indent="-342900" lvl="0" marL="342900" marR="0" rtl="0" algn="l">
              <a:spcBef>
                <a:spcPts val="10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Coding standards and performance best practices</a:t>
            </a:r>
            <a:endParaRPr b="0" i="0" sz="700" u="none" cap="none" strike="noStrike">
              <a:solidFill>
                <a:schemeClr val="dk1"/>
              </a:solidFill>
              <a:latin typeface="Calibri"/>
              <a:ea typeface="Calibri"/>
              <a:cs typeface="Calibri"/>
              <a:sym typeface="Calibri"/>
            </a:endParaRPr>
          </a:p>
        </p:txBody>
      </p:sp>
      <p:sp>
        <p:nvSpPr>
          <p:cNvPr id="291" name="Google Shape;291;g3d8ab55df9a_0_3"/>
          <p:cNvSpPr/>
          <p:nvPr/>
        </p:nvSpPr>
        <p:spPr>
          <a:xfrm>
            <a:off x="2729484" y="3758184"/>
            <a:ext cx="2711100" cy="1385400"/>
          </a:xfrm>
          <a:prstGeom prst="rect">
            <a:avLst/>
          </a:prstGeom>
          <a:solidFill>
            <a:srgbClr val="FFFFFF"/>
          </a:solidFill>
          <a:ln cap="flat" cmpd="sng" w="9525">
            <a:solidFill>
              <a:srgbClr val="C5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g3d8ab55df9a_0_3"/>
          <p:cNvSpPr/>
          <p:nvPr/>
        </p:nvSpPr>
        <p:spPr>
          <a:xfrm>
            <a:off x="2802636" y="3794760"/>
            <a:ext cx="2601600" cy="1330500"/>
          </a:xfrm>
          <a:prstGeom prst="rect">
            <a:avLst/>
          </a:prstGeom>
          <a:noFill/>
          <a:ln>
            <a:noFill/>
          </a:ln>
        </p:spPr>
        <p:txBody>
          <a:bodyPr anchorCtr="0" anchor="ctr" bIns="0" lIns="0" spcFirstLastPara="1" rIns="0" wrap="square" tIns="25400">
            <a:noAutofit/>
          </a:bodyPr>
          <a:lstStyle/>
          <a:p>
            <a:pPr indent="-342900" lvl="0" marL="342900" marR="0" rtl="0" algn="l">
              <a:spcBef>
                <a:spcPts val="0"/>
              </a:spcBef>
              <a:spcAft>
                <a:spcPts val="0"/>
              </a:spcAft>
              <a:buClr>
                <a:srgbClr val="1A2E3B"/>
              </a:buClr>
              <a:buSzPts val="700"/>
              <a:buFont typeface="Calibri"/>
              <a:buChar char="•"/>
            </a:pPr>
            <a:r>
              <a:rPr b="0" i="0" lang="en-US" sz="700" u="none" cap="none" strike="noStrike">
                <a:solidFill>
                  <a:srgbClr val="1A2E3B"/>
                </a:solidFill>
                <a:latin typeface="Calibri"/>
                <a:ea typeface="Calibri"/>
                <a:cs typeface="Calibri"/>
                <a:sym typeface="Calibri"/>
              </a:rPr>
              <a:t>Source code repository</a:t>
            </a:r>
            <a:endParaRPr b="0" i="0" sz="700" u="none" cap="none" strike="noStrike">
              <a:solidFill>
                <a:schemeClr val="dk1"/>
              </a:solidFill>
              <a:latin typeface="Calibri"/>
              <a:ea typeface="Calibri"/>
              <a:cs typeface="Calibri"/>
              <a:sym typeface="Calibri"/>
            </a:endParaRPr>
          </a:p>
          <a:p>
            <a:pPr indent="-342900" lvl="0" marL="342900" marR="0" rtl="0" algn="l">
              <a:spcBef>
                <a:spcPts val="100"/>
              </a:spcBef>
              <a:spcAft>
                <a:spcPts val="0"/>
              </a:spcAft>
              <a:buClr>
                <a:srgbClr val="1A2E3B"/>
              </a:buClr>
              <a:buSzPts val="700"/>
              <a:buFont typeface="Calibri"/>
              <a:buChar char="•"/>
            </a:pPr>
            <a:r>
              <a:rPr lang="en-US" sz="700">
                <a:solidFill>
                  <a:srgbClr val="1A2E3B"/>
                </a:solidFill>
                <a:latin typeface="Calibri"/>
                <a:ea typeface="Calibri"/>
                <a:cs typeface="Calibri"/>
                <a:sym typeface="Calibri"/>
              </a:rPr>
              <a:t>Copilot studio</a:t>
            </a:r>
            <a:endParaRPr b="0" i="0" sz="700" u="none" cap="none" strike="noStrike">
              <a:solidFill>
                <a:schemeClr val="dk1"/>
              </a:solidFill>
              <a:latin typeface="Calibri"/>
              <a:ea typeface="Calibri"/>
              <a:cs typeface="Calibri"/>
              <a:sym typeface="Calibri"/>
            </a:endParaRPr>
          </a:p>
        </p:txBody>
      </p:sp>
      <p:sp>
        <p:nvSpPr>
          <p:cNvPr id="293" name="Google Shape;293;g3d8ab55df9a_0_3"/>
          <p:cNvSpPr/>
          <p:nvPr/>
        </p:nvSpPr>
        <p:spPr>
          <a:xfrm>
            <a:off x="5504688" y="1143000"/>
            <a:ext cx="3593700" cy="4000500"/>
          </a:xfrm>
          <a:prstGeom prst="rect">
            <a:avLst/>
          </a:prstGeom>
          <a:solidFill>
            <a:srgbClr val="D6EAF3"/>
          </a:solidFill>
          <a:ln cap="flat" cmpd="sng" w="9525">
            <a:solidFill>
              <a:srgbClr val="AACF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g3d8ab55df9a_0_3"/>
          <p:cNvSpPr/>
          <p:nvPr/>
        </p:nvSpPr>
        <p:spPr>
          <a:xfrm>
            <a:off x="5504688" y="1234440"/>
            <a:ext cx="35937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E3B"/>
              </a:buClr>
              <a:buSzPts val="950"/>
              <a:buFont typeface="Calibri"/>
              <a:buNone/>
            </a:pPr>
            <a:r>
              <a:rPr b="1" i="0" lang="en-US" sz="950" u="none" cap="none" strike="noStrike">
                <a:solidFill>
                  <a:srgbClr val="1A2E3B"/>
                </a:solidFill>
                <a:latin typeface="Calibri"/>
                <a:ea typeface="Calibri"/>
                <a:cs typeface="Calibri"/>
                <a:sym typeface="Calibri"/>
              </a:rPr>
              <a:t>Prioritization Outcomes</a:t>
            </a:r>
            <a:endParaRPr b="0" i="0" sz="950" u="none" cap="none" strike="noStrike">
              <a:solidFill>
                <a:schemeClr val="dk1"/>
              </a:solidFill>
              <a:latin typeface="Calibri"/>
              <a:ea typeface="Calibri"/>
              <a:cs typeface="Calibri"/>
              <a:sym typeface="Calibri"/>
            </a:endParaRPr>
          </a:p>
        </p:txBody>
      </p:sp>
      <p:sp>
        <p:nvSpPr>
          <p:cNvPr id="295" name="Google Shape;295;g3d8ab55df9a_0_3"/>
          <p:cNvSpPr/>
          <p:nvPr/>
        </p:nvSpPr>
        <p:spPr>
          <a:xfrm>
            <a:off x="5614416" y="1545336"/>
            <a:ext cx="1554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850"/>
              <a:buFont typeface="Calibri"/>
              <a:buNone/>
            </a:pPr>
            <a:r>
              <a:rPr b="0" i="0" lang="en-US" sz="850" u="none" cap="none" strike="noStrike">
                <a:solidFill>
                  <a:srgbClr val="1A2E3B"/>
                </a:solidFill>
                <a:latin typeface="Calibri"/>
                <a:ea typeface="Calibri"/>
                <a:cs typeface="Calibri"/>
                <a:sym typeface="Calibri"/>
              </a:rPr>
              <a:t>♦  Value</a:t>
            </a:r>
            <a:endParaRPr b="0" i="0" sz="850" u="none" cap="none" strike="noStrike">
              <a:solidFill>
                <a:schemeClr val="dk1"/>
              </a:solidFill>
              <a:latin typeface="Calibri"/>
              <a:ea typeface="Calibri"/>
              <a:cs typeface="Calibri"/>
              <a:sym typeface="Calibri"/>
            </a:endParaRPr>
          </a:p>
        </p:txBody>
      </p:sp>
      <p:sp>
        <p:nvSpPr>
          <p:cNvPr id="296" name="Google Shape;296;g3d8ab55df9a_0_3"/>
          <p:cNvSpPr/>
          <p:nvPr/>
        </p:nvSpPr>
        <p:spPr>
          <a:xfrm>
            <a:off x="7443216" y="1545336"/>
            <a:ext cx="1554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850"/>
              <a:buFont typeface="Calibri"/>
              <a:buNone/>
            </a:pPr>
            <a:r>
              <a:rPr b="0" i="0" lang="en-US" sz="850" u="none" cap="none" strike="noStrike">
                <a:solidFill>
                  <a:srgbClr val="1A2E3B"/>
                </a:solidFill>
                <a:latin typeface="Calibri"/>
                <a:ea typeface="Calibri"/>
                <a:cs typeface="Calibri"/>
                <a:sym typeface="Calibri"/>
              </a:rPr>
              <a:t>⚙  Feasibility</a:t>
            </a:r>
            <a:endParaRPr b="0" i="0" sz="850" u="none" cap="none" strike="noStrike">
              <a:solidFill>
                <a:schemeClr val="dk1"/>
              </a:solidFill>
              <a:latin typeface="Calibri"/>
              <a:ea typeface="Calibri"/>
              <a:cs typeface="Calibri"/>
              <a:sym typeface="Calibri"/>
            </a:endParaRPr>
          </a:p>
        </p:txBody>
      </p:sp>
      <p:sp>
        <p:nvSpPr>
          <p:cNvPr id="297" name="Google Shape;297;g3d8ab55df9a_0_3"/>
          <p:cNvSpPr/>
          <p:nvPr/>
        </p:nvSpPr>
        <p:spPr>
          <a:xfrm>
            <a:off x="5596128" y="1837944"/>
            <a:ext cx="1508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650"/>
              <a:buFont typeface="Calibri"/>
              <a:buNone/>
            </a:pPr>
            <a:r>
              <a:rPr b="0" i="0" lang="en-US" sz="650" u="none" cap="none" strike="noStrike">
                <a:solidFill>
                  <a:srgbClr val="1A2E3B"/>
                </a:solidFill>
                <a:latin typeface="Calibri"/>
                <a:ea typeface="Calibri"/>
                <a:cs typeface="Calibri"/>
                <a:sym typeface="Calibri"/>
              </a:rPr>
              <a:t>Clinical</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E3B"/>
              </a:buClr>
              <a:buSzPts val="650"/>
              <a:buFont typeface="Calibri"/>
              <a:buNone/>
            </a:pPr>
            <a:r>
              <a:rPr b="0" i="0" lang="en-US" sz="650" u="none" cap="none" strike="noStrike">
                <a:solidFill>
                  <a:srgbClr val="1A2E3B"/>
                </a:solidFill>
                <a:latin typeface="Calibri"/>
                <a:ea typeface="Calibri"/>
                <a:cs typeface="Calibri"/>
                <a:sym typeface="Calibri"/>
              </a:rPr>
              <a:t>Impact</a:t>
            </a:r>
            <a:endParaRPr b="0" i="0" sz="650" u="none" cap="none" strike="noStrike">
              <a:solidFill>
                <a:schemeClr val="dk1"/>
              </a:solidFill>
              <a:latin typeface="Calibri"/>
              <a:ea typeface="Calibri"/>
              <a:cs typeface="Calibri"/>
              <a:sym typeface="Calibri"/>
            </a:endParaRPr>
          </a:p>
        </p:txBody>
      </p:sp>
      <p:sp>
        <p:nvSpPr>
          <p:cNvPr id="298" name="Google Shape;298;g3d8ab55df9a_0_3"/>
          <p:cNvSpPr/>
          <p:nvPr/>
        </p:nvSpPr>
        <p:spPr>
          <a:xfrm>
            <a:off x="5596128" y="2112264"/>
            <a:ext cx="1371600" cy="118800"/>
          </a:xfrm>
          <a:prstGeom prst="rect">
            <a:avLst/>
          </a:prstGeom>
          <a:solidFill>
            <a:srgbClr val="BACED9"/>
          </a:solidFill>
          <a:ln cap="flat" cmpd="sng" w="12700">
            <a:solidFill>
              <a:srgbClr val="BACE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3d8ab55df9a_0_3"/>
          <p:cNvSpPr/>
          <p:nvPr/>
        </p:nvSpPr>
        <p:spPr>
          <a:xfrm>
            <a:off x="5596128" y="2112264"/>
            <a:ext cx="822900" cy="118800"/>
          </a:xfrm>
          <a:prstGeom prst="rect">
            <a:avLst/>
          </a:prstGeom>
          <a:solidFill>
            <a:srgbClr val="1A7A9A"/>
          </a:solidFill>
          <a:ln cap="flat" cmpd="sng" w="12700">
            <a:solidFill>
              <a:srgbClr val="1A7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3d8ab55df9a_0_3"/>
          <p:cNvSpPr/>
          <p:nvPr/>
        </p:nvSpPr>
        <p:spPr>
          <a:xfrm>
            <a:off x="5596128" y="2258568"/>
            <a:ext cx="1371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080"/>
              </a:buClr>
              <a:buSzPts val="600"/>
              <a:buFont typeface="Calibri"/>
              <a:buNone/>
            </a:pPr>
            <a:r>
              <a:rPr b="0" i="0" lang="en-US" sz="600" u="none" cap="none" strike="noStrike">
                <a:solidFill>
                  <a:srgbClr val="607080"/>
                </a:solidFill>
                <a:latin typeface="Calibri"/>
                <a:ea typeface="Calibri"/>
                <a:cs typeface="Calibri"/>
                <a:sym typeface="Calibri"/>
              </a:rPr>
              <a:t>L         M         H</a:t>
            </a:r>
            <a:endParaRPr b="0" i="0" sz="600" u="none" cap="none" strike="noStrike">
              <a:solidFill>
                <a:schemeClr val="dk1"/>
              </a:solidFill>
              <a:latin typeface="Calibri"/>
              <a:ea typeface="Calibri"/>
              <a:cs typeface="Calibri"/>
              <a:sym typeface="Calibri"/>
            </a:endParaRPr>
          </a:p>
        </p:txBody>
      </p:sp>
      <p:sp>
        <p:nvSpPr>
          <p:cNvPr id="301" name="Google Shape;301;g3d8ab55df9a_0_3"/>
          <p:cNvSpPr/>
          <p:nvPr/>
        </p:nvSpPr>
        <p:spPr>
          <a:xfrm>
            <a:off x="7424928" y="1837944"/>
            <a:ext cx="1572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650"/>
              <a:buFont typeface="Calibri"/>
              <a:buNone/>
            </a:pPr>
            <a:r>
              <a:rPr b="0" i="0" lang="en-US" sz="650" u="none" cap="none" strike="noStrike">
                <a:solidFill>
                  <a:srgbClr val="1A2E3B"/>
                </a:solidFill>
                <a:latin typeface="Calibri"/>
                <a:ea typeface="Calibri"/>
                <a:cs typeface="Calibri"/>
                <a:sym typeface="Calibri"/>
              </a:rPr>
              <a:t>Technical</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E3B"/>
              </a:buClr>
              <a:buSzPts val="650"/>
              <a:buFont typeface="Calibri"/>
              <a:buNone/>
            </a:pPr>
            <a:r>
              <a:rPr b="0" i="0" lang="en-US" sz="650" u="none" cap="none" strike="noStrike">
                <a:solidFill>
                  <a:srgbClr val="1A2E3B"/>
                </a:solidFill>
                <a:latin typeface="Calibri"/>
                <a:ea typeface="Calibri"/>
                <a:cs typeface="Calibri"/>
                <a:sym typeface="Calibri"/>
              </a:rPr>
              <a:t>Feasibility</a:t>
            </a:r>
            <a:endParaRPr b="0" i="0" sz="650" u="none" cap="none" strike="noStrike">
              <a:solidFill>
                <a:schemeClr val="dk1"/>
              </a:solidFill>
              <a:latin typeface="Calibri"/>
              <a:ea typeface="Calibri"/>
              <a:cs typeface="Calibri"/>
              <a:sym typeface="Calibri"/>
            </a:endParaRPr>
          </a:p>
        </p:txBody>
      </p:sp>
      <p:sp>
        <p:nvSpPr>
          <p:cNvPr id="302" name="Google Shape;302;g3d8ab55df9a_0_3"/>
          <p:cNvSpPr/>
          <p:nvPr/>
        </p:nvSpPr>
        <p:spPr>
          <a:xfrm>
            <a:off x="7424928" y="2112264"/>
            <a:ext cx="1371600" cy="118800"/>
          </a:xfrm>
          <a:prstGeom prst="rect">
            <a:avLst/>
          </a:prstGeom>
          <a:solidFill>
            <a:srgbClr val="BACED9"/>
          </a:solidFill>
          <a:ln cap="flat" cmpd="sng" w="12700">
            <a:solidFill>
              <a:srgbClr val="BACE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3d8ab55df9a_0_3"/>
          <p:cNvSpPr/>
          <p:nvPr/>
        </p:nvSpPr>
        <p:spPr>
          <a:xfrm>
            <a:off x="7424928" y="2112264"/>
            <a:ext cx="1371600" cy="118800"/>
          </a:xfrm>
          <a:prstGeom prst="rect">
            <a:avLst/>
          </a:prstGeom>
          <a:solidFill>
            <a:srgbClr val="0D4A6A"/>
          </a:solidFill>
          <a:ln cap="flat" cmpd="sng" w="12700">
            <a:solidFill>
              <a:srgbClr val="0D4A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3d8ab55df9a_0_3"/>
          <p:cNvSpPr/>
          <p:nvPr/>
        </p:nvSpPr>
        <p:spPr>
          <a:xfrm>
            <a:off x="7424928" y="2258568"/>
            <a:ext cx="1371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080"/>
              </a:buClr>
              <a:buSzPts val="600"/>
              <a:buFont typeface="Calibri"/>
              <a:buNone/>
            </a:pPr>
            <a:r>
              <a:rPr b="0" i="0" lang="en-US" sz="600" u="none" cap="none" strike="noStrike">
                <a:solidFill>
                  <a:srgbClr val="607080"/>
                </a:solidFill>
                <a:latin typeface="Calibri"/>
                <a:ea typeface="Calibri"/>
                <a:cs typeface="Calibri"/>
                <a:sym typeface="Calibri"/>
              </a:rPr>
              <a:t>L         M         H</a:t>
            </a:r>
            <a:endParaRPr b="0" i="0" sz="600" u="none" cap="none" strike="noStrike">
              <a:solidFill>
                <a:schemeClr val="dk1"/>
              </a:solidFill>
              <a:latin typeface="Calibri"/>
              <a:ea typeface="Calibri"/>
              <a:cs typeface="Calibri"/>
              <a:sym typeface="Calibri"/>
            </a:endParaRPr>
          </a:p>
        </p:txBody>
      </p:sp>
      <p:sp>
        <p:nvSpPr>
          <p:cNvPr id="305" name="Google Shape;305;g3d8ab55df9a_0_3"/>
          <p:cNvSpPr/>
          <p:nvPr/>
        </p:nvSpPr>
        <p:spPr>
          <a:xfrm>
            <a:off x="5596128" y="2679192"/>
            <a:ext cx="1508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650"/>
              <a:buFont typeface="Calibri"/>
              <a:buNone/>
            </a:pPr>
            <a:r>
              <a:rPr b="0" i="0" lang="en-US" sz="650" u="none" cap="none" strike="noStrike">
                <a:solidFill>
                  <a:srgbClr val="1A2E3B"/>
                </a:solidFill>
                <a:latin typeface="Calibri"/>
                <a:ea typeface="Calibri"/>
                <a:cs typeface="Calibri"/>
                <a:sym typeface="Calibri"/>
              </a:rPr>
              <a:t>Business</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E3B"/>
              </a:buClr>
              <a:buSzPts val="650"/>
              <a:buFont typeface="Calibri"/>
              <a:buNone/>
            </a:pPr>
            <a:r>
              <a:rPr b="0" i="0" lang="en-US" sz="650" u="none" cap="none" strike="noStrike">
                <a:solidFill>
                  <a:srgbClr val="1A2E3B"/>
                </a:solidFill>
                <a:latin typeface="Calibri"/>
                <a:ea typeface="Calibri"/>
                <a:cs typeface="Calibri"/>
                <a:sym typeface="Calibri"/>
              </a:rPr>
              <a:t>Impact</a:t>
            </a:r>
            <a:endParaRPr b="0" i="0" sz="650" u="none" cap="none" strike="noStrike">
              <a:solidFill>
                <a:schemeClr val="dk1"/>
              </a:solidFill>
              <a:latin typeface="Calibri"/>
              <a:ea typeface="Calibri"/>
              <a:cs typeface="Calibri"/>
              <a:sym typeface="Calibri"/>
            </a:endParaRPr>
          </a:p>
        </p:txBody>
      </p:sp>
      <p:sp>
        <p:nvSpPr>
          <p:cNvPr id="306" name="Google Shape;306;g3d8ab55df9a_0_3"/>
          <p:cNvSpPr/>
          <p:nvPr/>
        </p:nvSpPr>
        <p:spPr>
          <a:xfrm>
            <a:off x="5596128" y="2953512"/>
            <a:ext cx="1371600" cy="118800"/>
          </a:xfrm>
          <a:prstGeom prst="rect">
            <a:avLst/>
          </a:prstGeom>
          <a:solidFill>
            <a:srgbClr val="BACED9"/>
          </a:solidFill>
          <a:ln cap="flat" cmpd="sng" w="12700">
            <a:solidFill>
              <a:srgbClr val="BACE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g3d8ab55df9a_0_3"/>
          <p:cNvSpPr/>
          <p:nvPr/>
        </p:nvSpPr>
        <p:spPr>
          <a:xfrm>
            <a:off x="5596125" y="2953500"/>
            <a:ext cx="1024500" cy="118800"/>
          </a:xfrm>
          <a:prstGeom prst="rect">
            <a:avLst/>
          </a:prstGeom>
          <a:solidFill>
            <a:srgbClr val="1A7A9A"/>
          </a:solidFill>
          <a:ln cap="flat" cmpd="sng" w="12700">
            <a:solidFill>
              <a:srgbClr val="1A7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3d8ab55df9a_0_3"/>
          <p:cNvSpPr/>
          <p:nvPr/>
        </p:nvSpPr>
        <p:spPr>
          <a:xfrm>
            <a:off x="5596128" y="3099816"/>
            <a:ext cx="1371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080"/>
              </a:buClr>
              <a:buSzPts val="600"/>
              <a:buFont typeface="Calibri"/>
              <a:buNone/>
            </a:pPr>
            <a:r>
              <a:rPr b="0" i="0" lang="en-US" sz="600" u="none" cap="none" strike="noStrike">
                <a:solidFill>
                  <a:srgbClr val="607080"/>
                </a:solidFill>
                <a:latin typeface="Calibri"/>
                <a:ea typeface="Calibri"/>
                <a:cs typeface="Calibri"/>
                <a:sym typeface="Calibri"/>
              </a:rPr>
              <a:t>L         M         H</a:t>
            </a:r>
            <a:endParaRPr b="0" i="0" sz="600" u="none" cap="none" strike="noStrike">
              <a:solidFill>
                <a:schemeClr val="dk1"/>
              </a:solidFill>
              <a:latin typeface="Calibri"/>
              <a:ea typeface="Calibri"/>
              <a:cs typeface="Calibri"/>
              <a:sym typeface="Calibri"/>
            </a:endParaRPr>
          </a:p>
        </p:txBody>
      </p:sp>
      <p:sp>
        <p:nvSpPr>
          <p:cNvPr id="309" name="Google Shape;309;g3d8ab55df9a_0_3"/>
          <p:cNvSpPr/>
          <p:nvPr/>
        </p:nvSpPr>
        <p:spPr>
          <a:xfrm>
            <a:off x="7424928" y="2679192"/>
            <a:ext cx="1572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650"/>
              <a:buFont typeface="Calibri"/>
              <a:buNone/>
            </a:pPr>
            <a:r>
              <a:rPr b="0" i="0" lang="en-US" sz="650" u="none" cap="none" strike="noStrike">
                <a:solidFill>
                  <a:srgbClr val="1A2E3B"/>
                </a:solidFill>
                <a:latin typeface="Calibri"/>
                <a:ea typeface="Calibri"/>
                <a:cs typeface="Calibri"/>
                <a:sym typeface="Calibri"/>
              </a:rPr>
              <a:t>Organisational</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E3B"/>
              </a:buClr>
              <a:buSzPts val="650"/>
              <a:buFont typeface="Calibri"/>
              <a:buNone/>
            </a:pPr>
            <a:r>
              <a:rPr b="0" i="0" lang="en-US" sz="650" u="none" cap="none" strike="noStrike">
                <a:solidFill>
                  <a:srgbClr val="1A2E3B"/>
                </a:solidFill>
                <a:latin typeface="Calibri"/>
                <a:ea typeface="Calibri"/>
                <a:cs typeface="Calibri"/>
                <a:sym typeface="Calibri"/>
              </a:rPr>
              <a:t>Feasibility</a:t>
            </a:r>
            <a:endParaRPr b="0" i="0" sz="650" u="none" cap="none" strike="noStrike">
              <a:solidFill>
                <a:schemeClr val="dk1"/>
              </a:solidFill>
              <a:latin typeface="Calibri"/>
              <a:ea typeface="Calibri"/>
              <a:cs typeface="Calibri"/>
              <a:sym typeface="Calibri"/>
            </a:endParaRPr>
          </a:p>
        </p:txBody>
      </p:sp>
      <p:sp>
        <p:nvSpPr>
          <p:cNvPr id="310" name="Google Shape;310;g3d8ab55df9a_0_3"/>
          <p:cNvSpPr/>
          <p:nvPr/>
        </p:nvSpPr>
        <p:spPr>
          <a:xfrm>
            <a:off x="7424928" y="2953512"/>
            <a:ext cx="1371600" cy="118800"/>
          </a:xfrm>
          <a:prstGeom prst="rect">
            <a:avLst/>
          </a:prstGeom>
          <a:solidFill>
            <a:srgbClr val="BACED9"/>
          </a:solidFill>
          <a:ln cap="flat" cmpd="sng" w="12700">
            <a:solidFill>
              <a:srgbClr val="BACE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g3d8ab55df9a_0_3"/>
          <p:cNvSpPr/>
          <p:nvPr/>
        </p:nvSpPr>
        <p:spPr>
          <a:xfrm>
            <a:off x="7424928" y="2953512"/>
            <a:ext cx="1371600" cy="118800"/>
          </a:xfrm>
          <a:prstGeom prst="rect">
            <a:avLst/>
          </a:prstGeom>
          <a:solidFill>
            <a:srgbClr val="0D4A6A"/>
          </a:solidFill>
          <a:ln cap="flat" cmpd="sng" w="12700">
            <a:solidFill>
              <a:srgbClr val="0D4A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g3d8ab55df9a_0_3"/>
          <p:cNvSpPr/>
          <p:nvPr/>
        </p:nvSpPr>
        <p:spPr>
          <a:xfrm>
            <a:off x="7424928" y="3099816"/>
            <a:ext cx="1371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080"/>
              </a:buClr>
              <a:buSzPts val="600"/>
              <a:buFont typeface="Calibri"/>
              <a:buNone/>
            </a:pPr>
            <a:r>
              <a:rPr b="0" i="0" lang="en-US" sz="600" u="none" cap="none" strike="noStrike">
                <a:solidFill>
                  <a:srgbClr val="607080"/>
                </a:solidFill>
                <a:latin typeface="Calibri"/>
                <a:ea typeface="Calibri"/>
                <a:cs typeface="Calibri"/>
                <a:sym typeface="Calibri"/>
              </a:rPr>
              <a:t>L         M         H</a:t>
            </a:r>
            <a:endParaRPr b="0" i="0" sz="600" u="none" cap="none" strike="noStrike">
              <a:solidFill>
                <a:schemeClr val="dk1"/>
              </a:solidFill>
              <a:latin typeface="Calibri"/>
              <a:ea typeface="Calibri"/>
              <a:cs typeface="Calibri"/>
              <a:sym typeface="Calibri"/>
            </a:endParaRPr>
          </a:p>
        </p:txBody>
      </p:sp>
      <p:sp>
        <p:nvSpPr>
          <p:cNvPr id="313" name="Google Shape;313;g3d8ab55df9a_0_3"/>
          <p:cNvSpPr/>
          <p:nvPr/>
        </p:nvSpPr>
        <p:spPr>
          <a:xfrm>
            <a:off x="5596128" y="3520440"/>
            <a:ext cx="1508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650"/>
              <a:buFont typeface="Calibri"/>
              <a:buNone/>
            </a:pPr>
            <a:r>
              <a:rPr b="0" i="0" lang="en-US" sz="650" u="none" cap="none" strike="noStrike">
                <a:solidFill>
                  <a:srgbClr val="1A2E3B"/>
                </a:solidFill>
                <a:latin typeface="Calibri"/>
                <a:ea typeface="Calibri"/>
                <a:cs typeface="Calibri"/>
                <a:sym typeface="Calibri"/>
              </a:rPr>
              <a:t>Strategic</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E3B"/>
              </a:buClr>
              <a:buSzPts val="650"/>
              <a:buFont typeface="Calibri"/>
              <a:buNone/>
            </a:pPr>
            <a:r>
              <a:rPr b="0" i="0" lang="en-US" sz="650" u="none" cap="none" strike="noStrike">
                <a:solidFill>
                  <a:srgbClr val="1A2E3B"/>
                </a:solidFill>
                <a:latin typeface="Calibri"/>
                <a:ea typeface="Calibri"/>
                <a:cs typeface="Calibri"/>
                <a:sym typeface="Calibri"/>
              </a:rPr>
              <a:t>Alignment</a:t>
            </a:r>
            <a:endParaRPr b="0" i="0" sz="650" u="none" cap="none" strike="noStrike">
              <a:solidFill>
                <a:schemeClr val="dk1"/>
              </a:solidFill>
              <a:latin typeface="Calibri"/>
              <a:ea typeface="Calibri"/>
              <a:cs typeface="Calibri"/>
              <a:sym typeface="Calibri"/>
            </a:endParaRPr>
          </a:p>
        </p:txBody>
      </p:sp>
      <p:sp>
        <p:nvSpPr>
          <p:cNvPr id="314" name="Google Shape;314;g3d8ab55df9a_0_3"/>
          <p:cNvSpPr/>
          <p:nvPr/>
        </p:nvSpPr>
        <p:spPr>
          <a:xfrm>
            <a:off x="5596128" y="3794760"/>
            <a:ext cx="1371600" cy="118800"/>
          </a:xfrm>
          <a:prstGeom prst="rect">
            <a:avLst/>
          </a:prstGeom>
          <a:solidFill>
            <a:srgbClr val="BACED9"/>
          </a:solidFill>
          <a:ln cap="flat" cmpd="sng" w="12700">
            <a:solidFill>
              <a:srgbClr val="BACE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g3d8ab55df9a_0_3"/>
          <p:cNvSpPr/>
          <p:nvPr/>
        </p:nvSpPr>
        <p:spPr>
          <a:xfrm>
            <a:off x="5596128" y="3794760"/>
            <a:ext cx="1371600" cy="118800"/>
          </a:xfrm>
          <a:prstGeom prst="rect">
            <a:avLst/>
          </a:prstGeom>
          <a:solidFill>
            <a:srgbClr val="1A7A9A"/>
          </a:solidFill>
          <a:ln cap="flat" cmpd="sng" w="12700">
            <a:solidFill>
              <a:srgbClr val="1A7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g3d8ab55df9a_0_3"/>
          <p:cNvSpPr/>
          <p:nvPr/>
        </p:nvSpPr>
        <p:spPr>
          <a:xfrm>
            <a:off x="5596128" y="3941064"/>
            <a:ext cx="1371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080"/>
              </a:buClr>
              <a:buSzPts val="600"/>
              <a:buFont typeface="Calibri"/>
              <a:buNone/>
            </a:pPr>
            <a:r>
              <a:rPr b="0" i="0" lang="en-US" sz="600" u="none" cap="none" strike="noStrike">
                <a:solidFill>
                  <a:srgbClr val="607080"/>
                </a:solidFill>
                <a:latin typeface="Calibri"/>
                <a:ea typeface="Calibri"/>
                <a:cs typeface="Calibri"/>
                <a:sym typeface="Calibri"/>
              </a:rPr>
              <a:t>L         M         H</a:t>
            </a:r>
            <a:endParaRPr b="0" i="0" sz="600" u="none" cap="none" strike="noStrike">
              <a:solidFill>
                <a:schemeClr val="dk1"/>
              </a:solidFill>
              <a:latin typeface="Calibri"/>
              <a:ea typeface="Calibri"/>
              <a:cs typeface="Calibri"/>
              <a:sym typeface="Calibri"/>
            </a:endParaRPr>
          </a:p>
        </p:txBody>
      </p:sp>
      <p:sp>
        <p:nvSpPr>
          <p:cNvPr id="317" name="Google Shape;317;g3d8ab55df9a_0_3"/>
          <p:cNvSpPr/>
          <p:nvPr/>
        </p:nvSpPr>
        <p:spPr>
          <a:xfrm>
            <a:off x="7424928" y="3520440"/>
            <a:ext cx="1572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3B"/>
              </a:buClr>
              <a:buSzPts val="650"/>
              <a:buFont typeface="Calibri"/>
              <a:buNone/>
            </a:pPr>
            <a:r>
              <a:rPr b="0" i="0" lang="en-US" sz="650" u="none" cap="none" strike="noStrike">
                <a:solidFill>
                  <a:srgbClr val="1A2E3B"/>
                </a:solidFill>
                <a:latin typeface="Calibri"/>
                <a:ea typeface="Calibri"/>
                <a:cs typeface="Calibri"/>
                <a:sym typeface="Calibri"/>
              </a:rPr>
              <a:t>Cost</a:t>
            </a:r>
            <a:endParaRPr b="0" i="0" sz="6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E3B"/>
              </a:buClr>
              <a:buSzPts val="650"/>
              <a:buFont typeface="Calibri"/>
              <a:buNone/>
            </a:pPr>
            <a:r>
              <a:rPr b="0" i="0" lang="en-US" sz="650" u="none" cap="none" strike="noStrike">
                <a:solidFill>
                  <a:srgbClr val="1A2E3B"/>
                </a:solidFill>
                <a:latin typeface="Calibri"/>
                <a:ea typeface="Calibri"/>
                <a:cs typeface="Calibri"/>
                <a:sym typeface="Calibri"/>
              </a:rPr>
              <a:t>Feasibility</a:t>
            </a:r>
            <a:endParaRPr b="0" i="0" sz="650" u="none" cap="none" strike="noStrike">
              <a:solidFill>
                <a:schemeClr val="dk1"/>
              </a:solidFill>
              <a:latin typeface="Calibri"/>
              <a:ea typeface="Calibri"/>
              <a:cs typeface="Calibri"/>
              <a:sym typeface="Calibri"/>
            </a:endParaRPr>
          </a:p>
        </p:txBody>
      </p:sp>
      <p:sp>
        <p:nvSpPr>
          <p:cNvPr id="318" name="Google Shape;318;g3d8ab55df9a_0_3"/>
          <p:cNvSpPr/>
          <p:nvPr/>
        </p:nvSpPr>
        <p:spPr>
          <a:xfrm>
            <a:off x="7424928" y="3794760"/>
            <a:ext cx="1371600" cy="118800"/>
          </a:xfrm>
          <a:prstGeom prst="rect">
            <a:avLst/>
          </a:prstGeom>
          <a:solidFill>
            <a:srgbClr val="BACED9"/>
          </a:solidFill>
          <a:ln cap="flat" cmpd="sng" w="12700">
            <a:solidFill>
              <a:srgbClr val="BACE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3d8ab55df9a_0_3"/>
          <p:cNvSpPr/>
          <p:nvPr/>
        </p:nvSpPr>
        <p:spPr>
          <a:xfrm>
            <a:off x="7424928" y="3794760"/>
            <a:ext cx="1371600" cy="118800"/>
          </a:xfrm>
          <a:prstGeom prst="rect">
            <a:avLst/>
          </a:prstGeom>
          <a:solidFill>
            <a:srgbClr val="0D4A6A"/>
          </a:solidFill>
          <a:ln cap="flat" cmpd="sng" w="12700">
            <a:solidFill>
              <a:srgbClr val="0D4A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g3d8ab55df9a_0_3"/>
          <p:cNvSpPr/>
          <p:nvPr/>
        </p:nvSpPr>
        <p:spPr>
          <a:xfrm>
            <a:off x="7424928" y="3941064"/>
            <a:ext cx="1371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080"/>
              </a:buClr>
              <a:buSzPts val="600"/>
              <a:buFont typeface="Calibri"/>
              <a:buNone/>
            </a:pPr>
            <a:r>
              <a:rPr b="0" i="0" lang="en-US" sz="600" u="none" cap="none" strike="noStrike">
                <a:solidFill>
                  <a:srgbClr val="607080"/>
                </a:solidFill>
                <a:latin typeface="Calibri"/>
                <a:ea typeface="Calibri"/>
                <a:cs typeface="Calibri"/>
                <a:sym typeface="Calibri"/>
              </a:rPr>
              <a:t>L         M         H</a:t>
            </a:r>
            <a:endParaRPr b="0" i="0" sz="600" u="none" cap="none" strike="noStrike">
              <a:solidFill>
                <a:schemeClr val="dk1"/>
              </a:solidFill>
              <a:latin typeface="Calibri"/>
              <a:ea typeface="Calibri"/>
              <a:cs typeface="Calibri"/>
              <a:sym typeface="Calibri"/>
            </a:endParaRPr>
          </a:p>
        </p:txBody>
      </p:sp>
      <p:sp>
        <p:nvSpPr>
          <p:cNvPr id="321" name="Google Shape;321;g3d8ab55df9a_0_3"/>
          <p:cNvSpPr/>
          <p:nvPr/>
        </p:nvSpPr>
        <p:spPr>
          <a:xfrm>
            <a:off x="5495288" y="4270490"/>
            <a:ext cx="35937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E3B"/>
              </a:buClr>
              <a:buSzPts val="850"/>
              <a:buFont typeface="Calibri"/>
              <a:buNone/>
            </a:pPr>
            <a:r>
              <a:rPr b="1" i="0" lang="en-US" sz="850" u="none" cap="none" strike="noStrike">
                <a:solidFill>
                  <a:srgbClr val="1A2E3B"/>
                </a:solidFill>
                <a:latin typeface="Calibri"/>
                <a:ea typeface="Calibri"/>
                <a:cs typeface="Calibri"/>
                <a:sym typeface="Calibri"/>
              </a:rPr>
              <a:t>⏱  Time to Deploy</a:t>
            </a:r>
            <a:endParaRPr b="0" i="0" sz="850" u="none" cap="none" strike="noStrike">
              <a:solidFill>
                <a:schemeClr val="dk1"/>
              </a:solidFill>
              <a:latin typeface="Calibri"/>
              <a:ea typeface="Calibri"/>
              <a:cs typeface="Calibri"/>
              <a:sym typeface="Calibri"/>
            </a:endParaRPr>
          </a:p>
        </p:txBody>
      </p:sp>
      <p:sp>
        <p:nvSpPr>
          <p:cNvPr id="322" name="Google Shape;322;g3d8ab55df9a_0_3"/>
          <p:cNvSpPr/>
          <p:nvPr/>
        </p:nvSpPr>
        <p:spPr>
          <a:xfrm>
            <a:off x="5623550" y="4635999"/>
            <a:ext cx="3383400" cy="301800"/>
          </a:xfrm>
          <a:prstGeom prst="rect">
            <a:avLst/>
          </a:prstGeom>
          <a:solidFill>
            <a:srgbClr val="072035"/>
          </a:solidFill>
          <a:ln cap="flat" cmpd="sng" w="9525">
            <a:solidFill>
              <a:srgbClr val="1A4A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g3d8ab55df9a_0_3"/>
          <p:cNvSpPr/>
          <p:nvPr/>
        </p:nvSpPr>
        <p:spPr>
          <a:xfrm>
            <a:off x="5623560" y="4635997"/>
            <a:ext cx="3383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1C2"/>
              </a:buClr>
              <a:buSzPts val="1000"/>
              <a:buFont typeface="Calibri"/>
              <a:buNone/>
            </a:pPr>
            <a:r>
              <a:rPr b="1" i="0" lang="en-US" sz="1000" u="none" cap="none" strike="noStrike">
                <a:solidFill>
                  <a:srgbClr val="00A1C2"/>
                </a:solidFill>
                <a:latin typeface="Calibri"/>
                <a:ea typeface="Calibri"/>
                <a:cs typeface="Calibri"/>
                <a:sym typeface="Calibri"/>
              </a:rPr>
              <a:t>3–6 months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2026-04-22T18:19:03Z</dcterms:created>
  <dc:creator>PptxGenJS</dc:creator>
</cp:coreProperties>
</file>