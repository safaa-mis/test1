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Override PartName="/ppt/slides/slide9.xml" ContentType="application/vnd.openxmlformats-officedocument.presentationml.slide+xml"/>
</Types>
</file>

<file path=_rels/.rels><?xml version="1.0" encoding="UTF-8"?><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0"/>
  </p:notesMasterIdLst>
  <p:sldIdLst>
    <p:sldId id="256" r:id="rId2"/>
    <p:sldId id="257" r:id="rId3"/>
    <p:sldId id="258" r:id="rId4"/>
    <p:sldId id="264" r:id="rId5"/>
    <p:sldId id="265" r:id="rId18"/>
    <p:sldId id="260" r:id="rId6"/>
    <p:sldId id="261" r:id="rId7"/>
    <p:sldId id="262" r:id="rId8"/>
    <p:sldId id="263" r:id="rId9"/>
  </p:sldIdLst>
  <p:sldSz cx="9144000" cy="5143500" type="screen16x9"/>
  <p:notesSz cx="51435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3" roundtripDataSignature="AMtx7mjaXf9p8oIO7ORZviy6bP0Jxgqf2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9" d="100"/>
          <a:sy n="119" d="100"/>
        </p:scale>
        <p:origin x="418" y="96"/>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8" Type="http://schemas.openxmlformats.org/officeDocument/2006/relationships/slide" Target="slides/slide7.xml"/><Relationship Id="rId13" Type="http://customschemas.google.com/relationships/presentationmetadata" Target="metadata"/><Relationship Id="rId3" Type="http://schemas.openxmlformats.org/officeDocument/2006/relationships/slide" Target="slides/slide2.xml"/><Relationship Id="rId7" Type="http://schemas.openxmlformats.org/officeDocument/2006/relationships/slide" Target="slides/slide6.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 Id="rId18" Type="http://schemas.openxmlformats.org/officeDocument/2006/relationships/slide" Target="slides/slide9.xml"/></Relationships>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
        <p:cNvGrpSpPr/>
        <p:nvPr/>
      </p:nvGrpSpPr>
      <p:grpSpPr>
        <a:xfrm>
          <a:off x="0" y="0"/>
          <a:ext cx="0" cy="0"/>
          <a:chOff x="0" y="0"/>
          <a:chExt cx="0" cy="0"/>
        </a:xfrm>
      </p:grpSpPr>
      <p:sp>
        <p:nvSpPr>
          <p:cNvPr id="12" name="Google Shape;1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3" name="Google Shape;13;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 name="Google Shape;14;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
        <p:cNvGrpSpPr/>
        <p:nvPr/>
      </p:nvGrpSpPr>
      <p:grpSpPr>
        <a:xfrm>
          <a:off x="0" y="0"/>
          <a:ext cx="0" cy="0"/>
          <a:chOff x="0" y="0"/>
          <a:chExt cx="0" cy="0"/>
        </a:xfrm>
      </p:grpSpPr>
      <p:sp>
        <p:nvSpPr>
          <p:cNvPr id="35" name="Google Shape;35;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36" name="Google Shape;36;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 name="Google Shape;37;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64" name="Google Shape;64;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5" name="Google Shape;65;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a:extLst>
            <a:ext uri="{FF2B5EF4-FFF2-40B4-BE49-F238E27FC236}">
              <a16:creationId xmlns:a16="http://schemas.microsoft.com/office/drawing/2014/main" id="{E086EC11-843A-BF16-63A1-82ACC6639D1D}"/>
            </a:ext>
          </a:extLst>
        </p:cNvPr>
        <p:cNvGrpSpPr/>
        <p:nvPr/>
      </p:nvGrpSpPr>
      <p:grpSpPr>
        <a:xfrm>
          <a:off x="0" y="0"/>
          <a:ext cx="0" cy="0"/>
          <a:chOff x="0" y="0"/>
          <a:chExt cx="0" cy="0"/>
        </a:xfrm>
      </p:grpSpPr>
      <p:sp>
        <p:nvSpPr>
          <p:cNvPr id="63" name="Google Shape;63;p3:notes">
            <a:extLst>
              <a:ext uri="{FF2B5EF4-FFF2-40B4-BE49-F238E27FC236}">
                <a16:creationId xmlns:a16="http://schemas.microsoft.com/office/drawing/2014/main" id="{38E5A9AD-1920-C29D-FEE1-A483A71A060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64" name="Google Shape;64;p3:notes">
            <a:extLst>
              <a:ext uri="{FF2B5EF4-FFF2-40B4-BE49-F238E27FC236}">
                <a16:creationId xmlns:a16="http://schemas.microsoft.com/office/drawing/2014/main" id="{99F68EA0-D39C-C862-32AB-F1F545C31E4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5" name="Google Shape;65;p3:notes">
            <a:extLst>
              <a:ext uri="{FF2B5EF4-FFF2-40B4-BE49-F238E27FC236}">
                <a16:creationId xmlns:a16="http://schemas.microsoft.com/office/drawing/2014/main" id="{35953BD5-68F0-38AE-F431-2B4B309C0E74}"/>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extLst>
      <p:ext uri="{BB962C8B-B14F-4D97-AF65-F5344CB8AC3E}">
        <p14:creationId xmlns:p14="http://schemas.microsoft.com/office/powerpoint/2010/main" val="35788390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16" name="Google Shape;116;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75" name="Google Shape;175;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6" name="Google Shape;176;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224" name="Google Shape;224;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5" name="Google Shape;225;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g3d8ab55df9a_0_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263" name="Google Shape;263;g3d8ab55df9a_0_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4" name="Google Shape;264;g3d8ab55df9a_0_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0"/>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9"/>
        <p:cNvGrpSpPr/>
        <p:nvPr/>
      </p:nvGrpSpPr>
      <p:grpSpPr>
        <a:xfrm>
          <a:off x="0" y="0"/>
          <a:ext cx="0" cy="0"/>
          <a:chOff x="0" y="0"/>
          <a:chExt cx="0" cy="0"/>
        </a:xfrm>
      </p:grpSpPr>
      <p:sp>
        <p:nvSpPr>
          <p:cNvPr id="3" name="TextBox 2">
            <a:extLst>
              <a:ext uri="{FF2B5EF4-FFF2-40B4-BE49-F238E27FC236}">
                <a16:creationId xmlns:a16="http://schemas.microsoft.com/office/drawing/2014/main" id="{3439D2B8-2474-DD5B-D399-ABDE549D5F49}"/>
              </a:ext>
            </a:extLst>
          </p:cNvPr>
          <p:cNvSpPr txBox="1"/>
          <p:nvPr userDrawn="1">
            <p:extLst>
              <p:ext uri="{1162E1C5-73C7-4A58-AE30-91384D911F3F}">
                <p184:classification xmlns:p184="http://schemas.microsoft.com/office/powerpoint/2018/4/main" val="ftr"/>
              </p:ext>
            </p:extLst>
          </p:nvPr>
        </p:nvSpPr>
        <p:spPr>
          <a:xfrm>
            <a:off x="7572375" y="4927600"/>
            <a:ext cx="1558925" cy="152400"/>
          </a:xfrm>
          <a:prstGeom prst="rect">
            <a:avLst/>
          </a:prstGeom>
        </p:spPr>
        <p:txBody>
          <a:bodyPr horzOverflow="overflow" lIns="0" tIns="0" rIns="0" bIns="0">
            <a:spAutoFit/>
          </a:bodyPr>
          <a:lstStyle/>
          <a:p>
            <a:pPr algn="l"/>
            <a:r>
              <a:rPr lang="en-US" sz="1000">
                <a:solidFill>
                  <a:srgbClr val="0000FF">
                    <a:alpha val="50000"/>
                  </a:srgbClr>
                </a:solidFill>
                <a:latin typeface="Aptos" panose="020B0004020202020204" pitchFamily="34" charset="0"/>
              </a:rPr>
              <a:t xml:space="preserve">Dubai Health  - Internal Use </a:t>
            </a:r>
          </a:p>
        </p:txBody>
      </p:sp>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3E5C"/>
        </a:solidFill>
        <a:effectLst/>
      </p:bgPr>
    </p:bg>
    <p:spTree>
      <p:nvGrpSpPr>
        <p:cNvPr id="1" name="Shape 15"/>
        <p:cNvGrpSpPr/>
        <p:nvPr/>
      </p:nvGrpSpPr>
      <p:grpSpPr>
        <a:xfrm>
          <a:off x="0" y="0"/>
          <a:ext cx="0" cy="0"/>
          <a:chOff x="0" y="0"/>
          <a:chExt cx="0" cy="0"/>
        </a:xfrm>
      </p:grpSpPr>
      <p:sp>
        <p:nvSpPr>
          <p:cNvPr id="16" name="Google Shape;16;p1"/>
          <p:cNvSpPr/>
          <p:nvPr/>
        </p:nvSpPr>
        <p:spPr>
          <a:xfrm>
            <a:off x="0" y="0"/>
            <a:ext cx="9144000" cy="73152"/>
          </a:xfrm>
          <a:prstGeom prst="rect">
            <a:avLst/>
          </a:prstGeom>
          <a:solidFill>
            <a:srgbClr val="00A1C2"/>
          </a:solidFill>
          <a:ln w="12700" cap="flat" cmpd="sng">
            <a:solidFill>
              <a:srgbClr val="00A1C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1"/>
          <p:cNvSpPr/>
          <p:nvPr/>
        </p:nvSpPr>
        <p:spPr>
          <a:xfrm>
            <a:off x="0" y="0"/>
            <a:ext cx="3474600" cy="5143500"/>
          </a:xfrm>
          <a:prstGeom prst="rect">
            <a:avLst/>
          </a:prstGeom>
          <a:solidFill>
            <a:srgbClr val="00567D"/>
          </a:solidFill>
          <a:ln w="12700" cap="flat" cmpd="sng">
            <a:solidFill>
              <a:srgbClr val="00567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1"/>
          <p:cNvSpPr/>
          <p:nvPr/>
        </p:nvSpPr>
        <p:spPr>
          <a:xfrm>
            <a:off x="274320" y="365760"/>
            <a:ext cx="1828800" cy="457200"/>
          </a:xfrm>
          <a:prstGeom prst="rect">
            <a:avLst/>
          </a:prstGeom>
          <a:solidFill>
            <a:srgbClr val="00A1C2"/>
          </a:solidFill>
          <a:ln w="12700" cap="flat" cmpd="sng">
            <a:solidFill>
              <a:srgbClr val="00A1C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1"/>
          <p:cNvSpPr/>
          <p:nvPr/>
        </p:nvSpPr>
        <p:spPr>
          <a:xfrm>
            <a:off x="274320" y="365760"/>
            <a:ext cx="18288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i="0" u="none" strike="noStrike" cap="none">
                <a:solidFill>
                  <a:srgbClr val="FFFFFF"/>
                </a:solidFill>
                <a:latin typeface="Calibri"/>
                <a:ea typeface="Calibri"/>
                <a:cs typeface="Calibri"/>
                <a:sym typeface="Calibri"/>
              </a:rPr>
              <a:t>Dubai Health</a:t>
            </a:r>
            <a:endParaRPr sz="1100" b="0" i="0" u="none" strike="noStrike" cap="none">
              <a:solidFill>
                <a:schemeClr val="dk1"/>
              </a:solidFill>
              <a:latin typeface="Calibri"/>
              <a:ea typeface="Calibri"/>
              <a:cs typeface="Calibri"/>
              <a:sym typeface="Calibri"/>
            </a:endParaRPr>
          </a:p>
        </p:txBody>
      </p:sp>
      <p:sp>
        <p:nvSpPr>
          <p:cNvPr id="20" name="Google Shape;20;p1"/>
          <p:cNvSpPr/>
          <p:nvPr/>
        </p:nvSpPr>
        <p:spPr>
          <a:xfrm>
            <a:off x="3474720" y="0"/>
            <a:ext cx="54864" cy="5143500"/>
          </a:xfrm>
          <a:prstGeom prst="rect">
            <a:avLst/>
          </a:prstGeom>
          <a:solidFill>
            <a:srgbClr val="00A1C2"/>
          </a:solidFill>
          <a:ln w="12700" cap="flat" cmpd="sng">
            <a:solidFill>
              <a:srgbClr val="00A1C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1"/>
          <p:cNvSpPr/>
          <p:nvPr/>
        </p:nvSpPr>
        <p:spPr>
          <a:xfrm>
            <a:off x="274320" y="1188720"/>
            <a:ext cx="292608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A1C2"/>
              </a:buClr>
              <a:buSzPts val="1000"/>
              <a:buFont typeface="Calibri"/>
              <a:buNone/>
            </a:pPr>
            <a:r>
              <a:rPr lang="en-US" sz="1000" b="1" i="0" u="none" strike="noStrike" cap="none">
                <a:solidFill>
                  <a:srgbClr val="00A1C2"/>
                </a:solidFill>
                <a:latin typeface="Calibri"/>
                <a:ea typeface="Calibri"/>
                <a:cs typeface="Calibri"/>
                <a:sym typeface="Calibri"/>
              </a:rPr>
              <a:t>USE CASE</a:t>
            </a:r>
            <a:endParaRPr sz="1000" b="0" i="0" u="none" strike="noStrike" cap="none">
              <a:solidFill>
                <a:schemeClr val="dk1"/>
              </a:solidFill>
              <a:latin typeface="Calibri"/>
              <a:ea typeface="Calibri"/>
              <a:cs typeface="Calibri"/>
              <a:sym typeface="Calibri"/>
            </a:endParaRPr>
          </a:p>
        </p:txBody>
      </p:sp>
      <p:sp>
        <p:nvSpPr>
          <p:cNvPr id="22" name="Google Shape;22;p1"/>
          <p:cNvSpPr/>
          <p:nvPr/>
        </p:nvSpPr>
        <p:spPr>
          <a:xfrm>
            <a:off x="274320" y="1600200"/>
            <a:ext cx="2926200" cy="22860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FFFFFF"/>
              </a:buClr>
              <a:buSzPts val="2200"/>
              <a:buFont typeface="Calibri"/>
              <a:buNone/>
            </a:pPr>
            <a:r>
              <a:rPr lang="en-US" sz="2200" b="1" i="0" u="none" strike="noStrike" cap="none" dirty="0">
                <a:solidFill>
                  <a:srgbClr val="FFFFFF"/>
                </a:solidFill>
                <a:latin typeface="Calibri"/>
                <a:ea typeface="Calibri"/>
                <a:cs typeface="Calibri"/>
                <a:sym typeface="Calibri"/>
              </a:rPr>
              <a:t>AI-Assisted</a:t>
            </a:r>
            <a:endParaRPr sz="2200" b="0" i="0" u="none" strike="noStrike" cap="none" dirty="0">
              <a:solidFill>
                <a:schemeClr val="dk1"/>
              </a:solidFill>
              <a:latin typeface="Calibri"/>
              <a:ea typeface="Calibri"/>
              <a:cs typeface="Calibri"/>
              <a:sym typeface="Calibri"/>
            </a:endParaRPr>
          </a:p>
          <a:p>
            <a:pPr marL="0" marR="0" lvl="0" indent="0" algn="l" rtl="0">
              <a:spcBef>
                <a:spcPts val="0"/>
              </a:spcBef>
              <a:spcAft>
                <a:spcPts val="0"/>
              </a:spcAft>
              <a:buClr>
                <a:srgbClr val="FFFFFF"/>
              </a:buClr>
              <a:buSzPts val="2200"/>
              <a:buFont typeface="Calibri"/>
              <a:buNone/>
            </a:pPr>
            <a:r>
              <a:rPr lang="en-US" sz="2200" b="1" i="0" u="none" strike="noStrike" cap="none" dirty="0">
                <a:solidFill>
                  <a:srgbClr val="FFFFFF"/>
                </a:solidFill>
                <a:latin typeface="Calibri"/>
                <a:ea typeface="Calibri"/>
                <a:cs typeface="Calibri"/>
                <a:sym typeface="Calibri"/>
              </a:rPr>
              <a:t>Code</a:t>
            </a:r>
            <a:endParaRPr sz="2200" b="0" i="0" u="none" strike="noStrike" cap="none" dirty="0">
              <a:solidFill>
                <a:schemeClr val="dk1"/>
              </a:solidFill>
              <a:latin typeface="Calibri"/>
              <a:ea typeface="Calibri"/>
              <a:cs typeface="Calibri"/>
              <a:sym typeface="Calibri"/>
            </a:endParaRPr>
          </a:p>
          <a:p>
            <a:pPr marL="0" marR="0" lvl="0" indent="0" algn="l" rtl="0">
              <a:spcBef>
                <a:spcPts val="0"/>
              </a:spcBef>
              <a:spcAft>
                <a:spcPts val="0"/>
              </a:spcAft>
              <a:buClr>
                <a:srgbClr val="FFFFFF"/>
              </a:buClr>
              <a:buSzPts val="2200"/>
              <a:buFont typeface="Calibri"/>
              <a:buNone/>
            </a:pPr>
            <a:r>
              <a:rPr lang="en-US" sz="2200" b="1" i="0" u="none" strike="noStrike" cap="none" dirty="0">
                <a:solidFill>
                  <a:srgbClr val="FFFFFF"/>
                </a:solidFill>
                <a:latin typeface="Calibri"/>
                <a:ea typeface="Calibri"/>
                <a:cs typeface="Calibri"/>
                <a:sym typeface="Calibri"/>
              </a:rPr>
              <a:t>Performance/Review</a:t>
            </a:r>
            <a:endParaRPr sz="2200" b="0" i="0" u="none" strike="noStrike" cap="none" dirty="0">
              <a:solidFill>
                <a:schemeClr val="dk1"/>
              </a:solidFill>
              <a:latin typeface="Calibri"/>
              <a:ea typeface="Calibri"/>
              <a:cs typeface="Calibri"/>
              <a:sym typeface="Calibri"/>
            </a:endParaRPr>
          </a:p>
          <a:p>
            <a:pPr marL="0" marR="0" lvl="0" indent="0" algn="l" rtl="0">
              <a:spcBef>
                <a:spcPts val="0"/>
              </a:spcBef>
              <a:spcAft>
                <a:spcPts val="0"/>
              </a:spcAft>
              <a:buClr>
                <a:srgbClr val="FFFFFF"/>
              </a:buClr>
              <a:buSzPts val="2200"/>
              <a:buFont typeface="Calibri"/>
              <a:buNone/>
            </a:pPr>
            <a:r>
              <a:rPr lang="en-US" sz="2200" b="1" i="0" u="none" strike="noStrike" cap="none" dirty="0">
                <a:solidFill>
                  <a:srgbClr val="FFFFFF"/>
                </a:solidFill>
                <a:latin typeface="Calibri"/>
                <a:ea typeface="Calibri"/>
                <a:cs typeface="Calibri"/>
                <a:sym typeface="Calibri"/>
              </a:rPr>
              <a:t>Analysis</a:t>
            </a:r>
            <a:endParaRPr sz="2200" b="0" i="0" u="none" strike="noStrike" cap="none" dirty="0">
              <a:solidFill>
                <a:schemeClr val="dk1"/>
              </a:solidFill>
              <a:latin typeface="Calibri"/>
              <a:ea typeface="Calibri"/>
              <a:cs typeface="Calibri"/>
              <a:sym typeface="Calibri"/>
            </a:endParaRPr>
          </a:p>
        </p:txBody>
      </p:sp>
      <p:sp>
        <p:nvSpPr>
          <p:cNvPr id="23" name="Google Shape;23;p1"/>
          <p:cNvSpPr/>
          <p:nvPr/>
        </p:nvSpPr>
        <p:spPr>
          <a:xfrm>
            <a:off x="3840480" y="1280160"/>
            <a:ext cx="5029200" cy="12801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600"/>
              <a:buFont typeface="Calibri"/>
              <a:buNone/>
            </a:pPr>
            <a:r>
              <a:rPr lang="en-US" sz="2600" b="1" i="0" u="none" strike="noStrike" cap="none">
                <a:solidFill>
                  <a:srgbClr val="FFFFFF"/>
                </a:solidFill>
                <a:latin typeface="Calibri"/>
                <a:ea typeface="Calibri"/>
                <a:cs typeface="Calibri"/>
                <a:sym typeface="Calibri"/>
              </a:rPr>
              <a:t>Detecting Performance Risks</a:t>
            </a:r>
            <a:endParaRPr sz="26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rgbClr val="FFFFFF"/>
              </a:buClr>
              <a:buSzPts val="2600"/>
              <a:buFont typeface="Calibri"/>
              <a:buNone/>
            </a:pPr>
            <a:r>
              <a:rPr lang="en-US" sz="2600" b="1" i="0" u="none" strike="noStrike" cap="none">
                <a:solidFill>
                  <a:srgbClr val="FFFFFF"/>
                </a:solidFill>
                <a:latin typeface="Calibri"/>
                <a:ea typeface="Calibri"/>
                <a:cs typeface="Calibri"/>
                <a:sym typeface="Calibri"/>
              </a:rPr>
              <a:t>Before They Reach Production</a:t>
            </a:r>
            <a:endParaRPr sz="2600" b="0" i="0" u="none" strike="noStrike" cap="none">
              <a:solidFill>
                <a:schemeClr val="dk1"/>
              </a:solidFill>
              <a:latin typeface="Calibri"/>
              <a:ea typeface="Calibri"/>
              <a:cs typeface="Calibri"/>
              <a:sym typeface="Calibri"/>
            </a:endParaRPr>
          </a:p>
        </p:txBody>
      </p:sp>
      <p:sp>
        <p:nvSpPr>
          <p:cNvPr id="24" name="Google Shape;24;p1"/>
          <p:cNvSpPr/>
          <p:nvPr/>
        </p:nvSpPr>
        <p:spPr>
          <a:xfrm>
            <a:off x="3840480" y="2651760"/>
            <a:ext cx="4937760" cy="27432"/>
          </a:xfrm>
          <a:prstGeom prst="rect">
            <a:avLst/>
          </a:prstGeom>
          <a:solidFill>
            <a:srgbClr val="00A1C2"/>
          </a:solidFill>
          <a:ln w="12700" cap="flat" cmpd="sng">
            <a:solidFill>
              <a:srgbClr val="00A1C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1"/>
          <p:cNvSpPr/>
          <p:nvPr/>
        </p:nvSpPr>
        <p:spPr>
          <a:xfrm>
            <a:off x="3840480" y="2788920"/>
            <a:ext cx="5029200" cy="914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B0D4E0"/>
              </a:buClr>
              <a:buSzPts val="1300"/>
              <a:buFont typeface="Calibri"/>
              <a:buNone/>
            </a:pPr>
            <a:r>
              <a:rPr lang="en-US" sz="1300" b="0" i="0" u="none" strike="noStrike" cap="none" dirty="0">
                <a:solidFill>
                  <a:srgbClr val="B0D4E0"/>
                </a:solidFill>
                <a:latin typeface="Calibri"/>
                <a:ea typeface="Calibri"/>
                <a:cs typeface="Calibri"/>
                <a:sym typeface="Calibri"/>
              </a:rPr>
              <a:t>Using artificial intelligence to analyze source code and identify</a:t>
            </a:r>
            <a:endParaRPr sz="1300" b="0" i="0" u="none" strike="noStrike" cap="none" dirty="0">
              <a:solidFill>
                <a:schemeClr val="dk1"/>
              </a:solidFill>
              <a:latin typeface="Calibri"/>
              <a:ea typeface="Calibri"/>
              <a:cs typeface="Calibri"/>
              <a:sym typeface="Calibri"/>
            </a:endParaRPr>
          </a:p>
          <a:p>
            <a:pPr marL="0" marR="0" lvl="0" indent="0" algn="l" rtl="0">
              <a:spcBef>
                <a:spcPts val="0"/>
              </a:spcBef>
              <a:spcAft>
                <a:spcPts val="0"/>
              </a:spcAft>
              <a:buClr>
                <a:srgbClr val="B0D4E0"/>
              </a:buClr>
              <a:buSzPts val="1300"/>
              <a:buFont typeface="Calibri"/>
              <a:buNone/>
            </a:pPr>
            <a:r>
              <a:rPr lang="en-US" sz="1300" b="0" i="0" u="none" strike="noStrike" cap="none" dirty="0">
                <a:solidFill>
                  <a:srgbClr val="B0D4E0"/>
                </a:solidFill>
                <a:latin typeface="Calibri"/>
                <a:ea typeface="Calibri"/>
                <a:cs typeface="Calibri"/>
                <a:sym typeface="Calibri"/>
              </a:rPr>
              <a:t>performance inefficiencies before they impact production systems.</a:t>
            </a:r>
            <a:endParaRPr sz="1300" b="0" i="0" u="none" strike="noStrike" cap="none" dirty="0">
              <a:solidFill>
                <a:schemeClr val="dk1"/>
              </a:solidFill>
              <a:latin typeface="Calibri"/>
              <a:ea typeface="Calibri"/>
              <a:cs typeface="Calibri"/>
              <a:sym typeface="Calibri"/>
            </a:endParaRPr>
          </a:p>
        </p:txBody>
      </p:sp>
      <p:sp>
        <p:nvSpPr>
          <p:cNvPr id="26" name="Google Shape;26;p1"/>
          <p:cNvSpPr/>
          <p:nvPr/>
        </p:nvSpPr>
        <p:spPr>
          <a:xfrm>
            <a:off x="3888890" y="3931920"/>
            <a:ext cx="1097400" cy="320100"/>
          </a:xfrm>
          <a:prstGeom prst="rect">
            <a:avLst/>
          </a:prstGeom>
          <a:solidFill>
            <a:srgbClr val="007B9E"/>
          </a:solidFill>
          <a:ln w="12700" cap="flat" cmpd="sng">
            <a:solidFill>
              <a:srgbClr val="00A1C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1"/>
          <p:cNvSpPr/>
          <p:nvPr/>
        </p:nvSpPr>
        <p:spPr>
          <a:xfrm>
            <a:off x="3888890" y="3931920"/>
            <a:ext cx="1097400" cy="3201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n-US" sz="900" b="0" i="0" u="none" strike="noStrike" cap="none" dirty="0">
                <a:solidFill>
                  <a:srgbClr val="FFFFFF"/>
                </a:solidFill>
                <a:latin typeface="Calibri"/>
                <a:ea typeface="Calibri"/>
                <a:cs typeface="Calibri"/>
                <a:sym typeface="Calibri"/>
              </a:rPr>
              <a:t>Performance</a:t>
            </a:r>
            <a:endParaRPr sz="900" b="0" i="0" u="none" strike="noStrike" cap="none" dirty="0">
              <a:solidFill>
                <a:schemeClr val="dk1"/>
              </a:solidFill>
              <a:latin typeface="Calibri"/>
              <a:ea typeface="Calibri"/>
              <a:cs typeface="Calibri"/>
              <a:sym typeface="Calibri"/>
            </a:endParaRPr>
          </a:p>
        </p:txBody>
      </p:sp>
      <p:sp>
        <p:nvSpPr>
          <p:cNvPr id="28" name="Google Shape;28;p1"/>
          <p:cNvSpPr/>
          <p:nvPr/>
        </p:nvSpPr>
        <p:spPr>
          <a:xfrm>
            <a:off x="5123330" y="3931920"/>
            <a:ext cx="1097400" cy="320100"/>
          </a:xfrm>
          <a:prstGeom prst="rect">
            <a:avLst/>
          </a:prstGeom>
          <a:solidFill>
            <a:srgbClr val="007B9E"/>
          </a:solidFill>
          <a:ln w="12700" cap="flat" cmpd="sng">
            <a:solidFill>
              <a:srgbClr val="00A1C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1"/>
          <p:cNvSpPr/>
          <p:nvPr/>
        </p:nvSpPr>
        <p:spPr>
          <a:xfrm>
            <a:off x="5123330" y="3931920"/>
            <a:ext cx="1097400" cy="3201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n-US" sz="900" b="0" i="0" u="none" strike="noStrike" cap="none">
                <a:solidFill>
                  <a:srgbClr val="FFFFFF"/>
                </a:solidFill>
                <a:latin typeface="Calibri"/>
                <a:ea typeface="Calibri"/>
                <a:cs typeface="Calibri"/>
                <a:sym typeface="Calibri"/>
              </a:rPr>
              <a:t>AI Review</a:t>
            </a:r>
            <a:endParaRPr sz="900" b="0" i="0" u="none" strike="noStrike" cap="none">
              <a:solidFill>
                <a:schemeClr val="dk1"/>
              </a:solidFill>
              <a:latin typeface="Calibri"/>
              <a:ea typeface="Calibri"/>
              <a:cs typeface="Calibri"/>
              <a:sym typeface="Calibri"/>
            </a:endParaRPr>
          </a:p>
        </p:txBody>
      </p:sp>
      <p:sp>
        <p:nvSpPr>
          <p:cNvPr id="30" name="Google Shape;30;p1"/>
          <p:cNvSpPr/>
          <p:nvPr/>
        </p:nvSpPr>
        <p:spPr>
          <a:xfrm>
            <a:off x="6357770" y="3931920"/>
            <a:ext cx="1097400" cy="320100"/>
          </a:xfrm>
          <a:prstGeom prst="rect">
            <a:avLst/>
          </a:prstGeom>
          <a:solidFill>
            <a:srgbClr val="007B9E"/>
          </a:solidFill>
          <a:ln w="12700" cap="flat" cmpd="sng">
            <a:solidFill>
              <a:srgbClr val="00A1C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1"/>
          <p:cNvSpPr/>
          <p:nvPr/>
        </p:nvSpPr>
        <p:spPr>
          <a:xfrm>
            <a:off x="6357770" y="3931920"/>
            <a:ext cx="1097400" cy="3201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n-US" sz="900" b="0" i="0" u="none" strike="noStrike" cap="none" dirty="0">
                <a:solidFill>
                  <a:srgbClr val="FFFFFF"/>
                </a:solidFill>
                <a:latin typeface="Calibri"/>
                <a:ea typeface="Calibri"/>
                <a:cs typeface="Calibri"/>
                <a:sym typeface="Calibri"/>
              </a:rPr>
              <a:t>API Quality</a:t>
            </a:r>
            <a:endParaRPr sz="900" b="0" i="0" u="none" strike="noStrike" cap="none" dirty="0">
              <a:solidFill>
                <a:schemeClr val="dk1"/>
              </a:solidFill>
              <a:latin typeface="Calibri"/>
              <a:ea typeface="Calibri"/>
              <a:cs typeface="Calibri"/>
              <a:sym typeface="Calibri"/>
            </a:endParaRPr>
          </a:p>
        </p:txBody>
      </p:sp>
      <p:sp>
        <p:nvSpPr>
          <p:cNvPr id="32" name="Google Shape;32;p1"/>
          <p:cNvSpPr/>
          <p:nvPr/>
        </p:nvSpPr>
        <p:spPr>
          <a:xfrm>
            <a:off x="274327" y="3703325"/>
            <a:ext cx="1368000" cy="27300"/>
          </a:xfrm>
          <a:prstGeom prst="rect">
            <a:avLst/>
          </a:prstGeom>
          <a:solidFill>
            <a:srgbClr val="00BF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1"/>
          <p:cNvSpPr/>
          <p:nvPr/>
        </p:nvSpPr>
        <p:spPr>
          <a:xfrm>
            <a:off x="274322" y="3931925"/>
            <a:ext cx="2590500" cy="9144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600"/>
              <a:buFont typeface="Calibri"/>
              <a:buNone/>
            </a:pPr>
            <a:r>
              <a:rPr lang="en-US" sz="1600" b="1" i="0" u="none" strike="noStrike" cap="none">
                <a:solidFill>
                  <a:srgbClr val="FFFFFF"/>
                </a:solidFill>
                <a:latin typeface="Calibri"/>
                <a:ea typeface="Calibri"/>
                <a:cs typeface="Calibri"/>
                <a:sym typeface="Calibri"/>
              </a:rPr>
              <a:t>Safaa Soliman</a:t>
            </a:r>
            <a:endParaRPr sz="1600" b="0" i="0" u="none" strike="noStrike" cap="none">
              <a:solidFill>
                <a:srgbClr val="000000"/>
              </a:solidFill>
              <a:latin typeface="Calibri"/>
              <a:ea typeface="Calibri"/>
              <a:cs typeface="Calibri"/>
              <a:sym typeface="Calibri"/>
            </a:endParaRPr>
          </a:p>
          <a:p>
            <a:pPr marL="0" marR="0" lvl="0" indent="0" algn="l" rtl="0">
              <a:spcBef>
                <a:spcPts val="0"/>
              </a:spcBef>
              <a:spcAft>
                <a:spcPts val="0"/>
              </a:spcAft>
              <a:buClr>
                <a:srgbClr val="94A3B8"/>
              </a:buClr>
              <a:buSzPts val="1300"/>
              <a:buFont typeface="Calibri"/>
              <a:buNone/>
            </a:pPr>
            <a:r>
              <a:rPr lang="en-US" sz="1300" b="0" i="0" u="none" strike="noStrike" cap="none">
                <a:solidFill>
                  <a:srgbClr val="94A3B8"/>
                </a:solidFill>
                <a:latin typeface="Calibri"/>
                <a:ea typeface="Calibri"/>
                <a:cs typeface="Calibri"/>
                <a:sym typeface="Calibri"/>
              </a:rPr>
              <a:t>Dubai Health Authority</a:t>
            </a:r>
            <a:endParaRPr sz="1600" b="0" i="0" u="none" strike="noStrike" cap="none">
              <a:solidFill>
                <a:srgbClr val="000000"/>
              </a:solidFill>
              <a:latin typeface="Calibri"/>
              <a:ea typeface="Calibri"/>
              <a:cs typeface="Calibri"/>
              <a:sym typeface="Calibri"/>
            </a:endParaRPr>
          </a:p>
        </p:txBody>
      </p:sp>
      <p:sp>
        <p:nvSpPr>
          <p:cNvPr id="6" name="Google Shape;30;p1">
            <a:extLst>
              <a:ext uri="{FF2B5EF4-FFF2-40B4-BE49-F238E27FC236}">
                <a16:creationId xmlns:a16="http://schemas.microsoft.com/office/drawing/2014/main" id="{CD137280-78E8-1F6F-6CD4-89A4FA1F1B0A}"/>
              </a:ext>
            </a:extLst>
          </p:cNvPr>
          <p:cNvSpPr/>
          <p:nvPr/>
        </p:nvSpPr>
        <p:spPr>
          <a:xfrm>
            <a:off x="7592210" y="3931920"/>
            <a:ext cx="1097400" cy="320100"/>
          </a:xfrm>
          <a:prstGeom prst="rect">
            <a:avLst/>
          </a:prstGeom>
          <a:solidFill>
            <a:srgbClr val="007B9E"/>
          </a:solidFill>
          <a:ln w="12700" cap="flat" cmpd="sng">
            <a:solidFill>
              <a:srgbClr val="00A1C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31;p1">
            <a:extLst>
              <a:ext uri="{FF2B5EF4-FFF2-40B4-BE49-F238E27FC236}">
                <a16:creationId xmlns:a16="http://schemas.microsoft.com/office/drawing/2014/main" id="{D2445BAC-16B6-DE49-EB26-982560A3FB72}"/>
              </a:ext>
            </a:extLst>
          </p:cNvPr>
          <p:cNvSpPr/>
          <p:nvPr/>
        </p:nvSpPr>
        <p:spPr>
          <a:xfrm>
            <a:off x="7592210" y="3931920"/>
            <a:ext cx="1097400" cy="3201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n-US" sz="900" dirty="0">
                <a:solidFill>
                  <a:srgbClr val="FFFFFF"/>
                </a:solidFill>
                <a:latin typeface="Calibri"/>
                <a:ea typeface="Calibri"/>
                <a:cs typeface="Calibri"/>
                <a:sym typeface="Calibri"/>
              </a:rPr>
              <a:t>Security</a:t>
            </a:r>
            <a:endParaRPr sz="900" b="0" i="0" u="none" strike="noStrike" cap="none" dirty="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8"/>
        <p:cNvGrpSpPr/>
        <p:nvPr/>
      </p:nvGrpSpPr>
      <p:grpSpPr>
        <a:xfrm>
          <a:off x="0" y="0"/>
          <a:ext cx="0" cy="0"/>
          <a:chOff x="0" y="0"/>
          <a:chExt cx="0" cy="0"/>
        </a:xfrm>
      </p:grpSpPr>
      <p:sp>
        <p:nvSpPr>
          <p:cNvPr id="39" name="Google Shape;39;p2"/>
          <p:cNvSpPr/>
          <p:nvPr/>
        </p:nvSpPr>
        <p:spPr>
          <a:xfrm>
            <a:off x="0" y="0"/>
            <a:ext cx="9144000" cy="1005840"/>
          </a:xfrm>
          <a:prstGeom prst="rect">
            <a:avLst/>
          </a:prstGeom>
          <a:solidFill>
            <a:srgbClr val="00567D"/>
          </a:solidFill>
          <a:ln w="12700" cap="flat" cmpd="sng">
            <a:solidFill>
              <a:srgbClr val="00567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2"/>
          <p:cNvSpPr/>
          <p:nvPr/>
        </p:nvSpPr>
        <p:spPr>
          <a:xfrm>
            <a:off x="457200" y="91440"/>
            <a:ext cx="640080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200"/>
              <a:buFont typeface="Calibri"/>
              <a:buNone/>
            </a:pPr>
            <a:r>
              <a:rPr lang="en-US" sz="2200" b="1" i="0" u="none" strike="noStrike" cap="none">
                <a:solidFill>
                  <a:srgbClr val="FFFFFF"/>
                </a:solidFill>
                <a:latin typeface="Calibri"/>
                <a:ea typeface="Calibri"/>
                <a:cs typeface="Calibri"/>
                <a:sym typeface="Calibri"/>
              </a:rPr>
              <a:t>Problem Statement</a:t>
            </a:r>
            <a:endParaRPr sz="2200" b="0" i="0" u="none" strike="noStrike" cap="none">
              <a:solidFill>
                <a:schemeClr val="dk1"/>
              </a:solidFill>
              <a:latin typeface="Calibri"/>
              <a:ea typeface="Calibri"/>
              <a:cs typeface="Calibri"/>
              <a:sym typeface="Calibri"/>
            </a:endParaRPr>
          </a:p>
        </p:txBody>
      </p:sp>
      <p:sp>
        <p:nvSpPr>
          <p:cNvPr id="41" name="Google Shape;41;p2"/>
          <p:cNvSpPr/>
          <p:nvPr/>
        </p:nvSpPr>
        <p:spPr>
          <a:xfrm>
            <a:off x="457200" y="594360"/>
            <a:ext cx="640080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A1C2"/>
              </a:buClr>
              <a:buSzPts val="1200"/>
              <a:buFont typeface="Calibri"/>
              <a:buNone/>
            </a:pPr>
            <a:r>
              <a:rPr lang="en-US" sz="1200" b="0" i="0" u="none" strike="noStrike" cap="none" dirty="0">
                <a:solidFill>
                  <a:srgbClr val="00A1C2"/>
                </a:solidFill>
                <a:latin typeface="Calibri"/>
                <a:ea typeface="Calibri"/>
                <a:cs typeface="Calibri"/>
                <a:sym typeface="Calibri"/>
              </a:rPr>
              <a:t xml:space="preserve">Why AI-Assisted </a:t>
            </a:r>
            <a:r>
              <a:rPr lang="en-US" sz="1200" dirty="0">
                <a:solidFill>
                  <a:srgbClr val="00A1C2"/>
                </a:solidFill>
                <a:latin typeface="Calibri"/>
                <a:ea typeface="Calibri"/>
                <a:cs typeface="Calibri"/>
                <a:sym typeface="Calibri"/>
              </a:rPr>
              <a:t>Code Performance</a:t>
            </a:r>
            <a:r>
              <a:rPr lang="en-US" sz="1200" b="0" i="0" u="none" strike="noStrike" cap="none" dirty="0">
                <a:solidFill>
                  <a:srgbClr val="00A1C2"/>
                </a:solidFill>
                <a:latin typeface="Calibri"/>
                <a:ea typeface="Calibri"/>
                <a:cs typeface="Calibri"/>
                <a:sym typeface="Calibri"/>
              </a:rPr>
              <a:t xml:space="preserve"> Analysis?</a:t>
            </a:r>
            <a:endParaRPr sz="1200" b="0" i="0" u="none" strike="noStrike" cap="none" dirty="0">
              <a:solidFill>
                <a:schemeClr val="dk1"/>
              </a:solidFill>
              <a:latin typeface="Calibri"/>
              <a:ea typeface="Calibri"/>
              <a:cs typeface="Calibri"/>
              <a:sym typeface="Calibri"/>
            </a:endParaRPr>
          </a:p>
        </p:txBody>
      </p:sp>
      <p:sp>
        <p:nvSpPr>
          <p:cNvPr id="42" name="Google Shape;42;p2"/>
          <p:cNvSpPr/>
          <p:nvPr/>
        </p:nvSpPr>
        <p:spPr>
          <a:xfrm>
            <a:off x="7498080" y="182880"/>
            <a:ext cx="1463040" cy="548640"/>
          </a:xfrm>
          <a:prstGeom prst="rect">
            <a:avLst/>
          </a:prstGeom>
          <a:solidFill>
            <a:srgbClr val="00A1C2"/>
          </a:solidFill>
          <a:ln w="12700" cap="flat" cmpd="sng">
            <a:solidFill>
              <a:srgbClr val="00A1C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a:off x="7498080" y="182880"/>
            <a:ext cx="1463040" cy="5486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n-US" sz="900" b="1" i="0" u="none" strike="noStrike" cap="none">
                <a:solidFill>
                  <a:srgbClr val="FFFFFF"/>
                </a:solidFill>
                <a:latin typeface="Calibri"/>
                <a:ea typeface="Calibri"/>
                <a:cs typeface="Calibri"/>
                <a:sym typeface="Calibri"/>
              </a:rPr>
              <a:t>Dubai Health</a:t>
            </a:r>
            <a:endParaRPr sz="900" b="0" i="0" u="none" strike="noStrike" cap="none">
              <a:solidFill>
                <a:schemeClr val="dk1"/>
              </a:solidFill>
              <a:latin typeface="Calibri"/>
              <a:ea typeface="Calibri"/>
              <a:cs typeface="Calibri"/>
              <a:sym typeface="Calibri"/>
            </a:endParaRPr>
          </a:p>
        </p:txBody>
      </p:sp>
      <p:sp>
        <p:nvSpPr>
          <p:cNvPr id="44" name="Google Shape;44;p2"/>
          <p:cNvSpPr/>
          <p:nvPr/>
        </p:nvSpPr>
        <p:spPr>
          <a:xfrm>
            <a:off x="365760" y="1188720"/>
            <a:ext cx="5303520" cy="3291840"/>
          </a:xfrm>
          <a:prstGeom prst="rect">
            <a:avLst/>
          </a:prstGeom>
          <a:solidFill>
            <a:srgbClr val="EBF7FC"/>
          </a:solidFill>
          <a:ln w="12700" cap="flat" cmpd="sng">
            <a:solidFill>
              <a:srgbClr val="00A1C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2"/>
          <p:cNvSpPr/>
          <p:nvPr/>
        </p:nvSpPr>
        <p:spPr>
          <a:xfrm>
            <a:off x="548640" y="1325880"/>
            <a:ext cx="4937760" cy="30175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A2E3B"/>
              </a:buClr>
              <a:buSzPts val="1250"/>
              <a:buFont typeface="Calibri"/>
              <a:buNone/>
            </a:pPr>
            <a:r>
              <a:rPr lang="en-US" sz="1250" b="0" i="0" u="none" strike="noStrike" cap="none" dirty="0">
                <a:solidFill>
                  <a:srgbClr val="1A2E3B"/>
                </a:solidFill>
                <a:latin typeface="Calibri"/>
                <a:ea typeface="Calibri"/>
                <a:cs typeface="Calibri"/>
                <a:sym typeface="Calibri"/>
              </a:rPr>
              <a:t xml:space="preserve">Our code are </a:t>
            </a:r>
            <a:r>
              <a:rPr lang="en-US" sz="1250" b="0" i="0" u="none" strike="noStrike" cap="none">
                <a:solidFill>
                  <a:srgbClr val="1A2E3B"/>
                </a:solidFill>
                <a:latin typeface="Calibri"/>
                <a:ea typeface="Calibri"/>
                <a:cs typeface="Calibri"/>
                <a:sym typeface="Calibri"/>
              </a:rPr>
              <a:t xml:space="preserve">a main </a:t>
            </a:r>
            <a:r>
              <a:rPr lang="en-US" sz="1250" b="0" i="0" u="none" strike="noStrike" cap="none" dirty="0">
                <a:solidFill>
                  <a:srgbClr val="1A2E3B"/>
                </a:solidFill>
                <a:latin typeface="Calibri"/>
                <a:ea typeface="Calibri"/>
                <a:cs typeface="Calibri"/>
                <a:sym typeface="Calibri"/>
              </a:rPr>
              <a:t>part of applications, but potential performance issues are not always identified early during development.</a:t>
            </a:r>
            <a:endParaRPr sz="1250" b="0" i="0" u="none" strike="noStrike" cap="none" dirty="0">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1250"/>
              <a:buFont typeface="Calibri"/>
              <a:buNone/>
            </a:pPr>
            <a:endParaRPr sz="1250" b="0" i="0" u="none" strike="noStrike" cap="none" dirty="0">
              <a:solidFill>
                <a:schemeClr val="dk1"/>
              </a:solidFill>
              <a:latin typeface="Calibri"/>
              <a:ea typeface="Calibri"/>
              <a:cs typeface="Calibri"/>
              <a:sym typeface="Calibri"/>
            </a:endParaRPr>
          </a:p>
          <a:p>
            <a:pPr marL="0" marR="0" lvl="0" indent="0" algn="l" rtl="0">
              <a:spcBef>
                <a:spcPts val="0"/>
              </a:spcBef>
              <a:spcAft>
                <a:spcPts val="0"/>
              </a:spcAft>
              <a:buClr>
                <a:srgbClr val="1A2E3B"/>
              </a:buClr>
              <a:buSzPts val="1250"/>
              <a:buFont typeface="Calibri"/>
              <a:buNone/>
            </a:pPr>
            <a:r>
              <a:rPr lang="en-US" sz="1250" b="0" i="0" u="none" strike="noStrike" cap="none" dirty="0">
                <a:solidFill>
                  <a:srgbClr val="1A2E3B"/>
                </a:solidFill>
                <a:latin typeface="Calibri"/>
                <a:ea typeface="Calibri"/>
                <a:cs typeface="Calibri"/>
                <a:sym typeface="Calibri"/>
              </a:rPr>
              <a:t>Without advanced monitoring or telemetry, teams rely heavily on manual code review and developer experience to detect inefficiencies.</a:t>
            </a:r>
            <a:endParaRPr sz="1250" b="0" i="0" u="none" strike="noStrike" cap="none" dirty="0">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1250"/>
              <a:buFont typeface="Calibri"/>
              <a:buNone/>
            </a:pPr>
            <a:endParaRPr sz="1250" b="0" i="0" u="none" strike="noStrike" cap="none" dirty="0">
              <a:solidFill>
                <a:schemeClr val="dk1"/>
              </a:solidFill>
              <a:latin typeface="Calibri"/>
              <a:ea typeface="Calibri"/>
              <a:cs typeface="Calibri"/>
              <a:sym typeface="Calibri"/>
            </a:endParaRPr>
          </a:p>
          <a:p>
            <a:pPr marL="0" marR="0" lvl="0" indent="0" algn="l" rtl="0">
              <a:spcBef>
                <a:spcPts val="0"/>
              </a:spcBef>
              <a:spcAft>
                <a:spcPts val="0"/>
              </a:spcAft>
              <a:buClr>
                <a:srgbClr val="1A2E3B"/>
              </a:buClr>
              <a:buSzPts val="1250"/>
              <a:buFont typeface="Calibri"/>
              <a:buNone/>
            </a:pPr>
            <a:r>
              <a:rPr lang="en-US" sz="1250" b="0" i="0" u="none" strike="noStrike" cap="none" dirty="0">
                <a:solidFill>
                  <a:srgbClr val="1A2E3B"/>
                </a:solidFill>
                <a:latin typeface="Calibri"/>
                <a:ea typeface="Calibri"/>
                <a:cs typeface="Calibri"/>
                <a:sym typeface="Calibri"/>
              </a:rPr>
              <a:t>This increases the risk of performance issues, scalability limitations, and delayed optimization after deployment.</a:t>
            </a:r>
            <a:endParaRPr sz="1250" b="0" i="0" u="none" strike="noStrike" cap="none" dirty="0">
              <a:solidFill>
                <a:schemeClr val="dk1"/>
              </a:solidFill>
              <a:latin typeface="Calibri"/>
              <a:ea typeface="Calibri"/>
              <a:cs typeface="Calibri"/>
              <a:sym typeface="Calibri"/>
            </a:endParaRPr>
          </a:p>
        </p:txBody>
      </p:sp>
      <p:sp>
        <p:nvSpPr>
          <p:cNvPr id="46" name="Google Shape;46;p2"/>
          <p:cNvSpPr/>
          <p:nvPr/>
        </p:nvSpPr>
        <p:spPr>
          <a:xfrm>
            <a:off x="5943600" y="1188720"/>
            <a:ext cx="2926080" cy="713232"/>
          </a:xfrm>
          <a:prstGeom prst="rect">
            <a:avLst/>
          </a:prstGeom>
          <a:solidFill>
            <a:srgbClr val="EBF7FC"/>
          </a:solidFill>
          <a:ln w="12700" cap="flat" cmpd="sng">
            <a:solidFill>
              <a:srgbClr val="00A1C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2"/>
          <p:cNvSpPr/>
          <p:nvPr/>
        </p:nvSpPr>
        <p:spPr>
          <a:xfrm>
            <a:off x="5943600" y="1188720"/>
            <a:ext cx="54864" cy="713232"/>
          </a:xfrm>
          <a:prstGeom prst="rect">
            <a:avLst/>
          </a:prstGeom>
          <a:solidFill>
            <a:srgbClr val="00567D"/>
          </a:solidFill>
          <a:ln w="12700" cap="flat" cmpd="sng">
            <a:solidFill>
              <a:srgbClr val="00567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2"/>
          <p:cNvSpPr/>
          <p:nvPr/>
        </p:nvSpPr>
        <p:spPr>
          <a:xfrm>
            <a:off x="6080760" y="1234440"/>
            <a:ext cx="269748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567D"/>
              </a:buClr>
              <a:buSzPts val="1100"/>
              <a:buFont typeface="Calibri"/>
              <a:buNone/>
            </a:pPr>
            <a:r>
              <a:rPr lang="en-US" sz="1100" b="1" i="0" u="none" strike="noStrike" cap="none">
                <a:solidFill>
                  <a:srgbClr val="00567D"/>
                </a:solidFill>
                <a:latin typeface="Calibri"/>
                <a:ea typeface="Calibri"/>
                <a:cs typeface="Calibri"/>
                <a:sym typeface="Calibri"/>
              </a:rPr>
              <a:t>⚠ Late Detection</a:t>
            </a:r>
            <a:endParaRPr sz="1100" b="0" i="0" u="none" strike="noStrike" cap="none">
              <a:solidFill>
                <a:schemeClr val="dk1"/>
              </a:solidFill>
              <a:latin typeface="Calibri"/>
              <a:ea typeface="Calibri"/>
              <a:cs typeface="Calibri"/>
              <a:sym typeface="Calibri"/>
            </a:endParaRPr>
          </a:p>
        </p:txBody>
      </p:sp>
      <p:sp>
        <p:nvSpPr>
          <p:cNvPr id="49" name="Google Shape;49;p2"/>
          <p:cNvSpPr/>
          <p:nvPr/>
        </p:nvSpPr>
        <p:spPr>
          <a:xfrm>
            <a:off x="6080760" y="1536192"/>
            <a:ext cx="269748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000"/>
              <a:buFont typeface="Calibri"/>
              <a:buNone/>
            </a:pPr>
            <a:r>
              <a:rPr lang="en-US" sz="1000" b="0" i="0" u="none" strike="noStrike" cap="none">
                <a:solidFill>
                  <a:srgbClr val="64748B"/>
                </a:solidFill>
                <a:latin typeface="Calibri"/>
                <a:ea typeface="Calibri"/>
                <a:cs typeface="Calibri"/>
                <a:sym typeface="Calibri"/>
              </a:rPr>
              <a:t xml:space="preserve">Issues found </a:t>
            </a:r>
            <a:r>
              <a:rPr lang="en-US" sz="1000">
                <a:solidFill>
                  <a:srgbClr val="64748B"/>
                </a:solidFill>
                <a:latin typeface="Calibri"/>
                <a:ea typeface="Calibri"/>
                <a:cs typeface="Calibri"/>
                <a:sym typeface="Calibri"/>
              </a:rPr>
              <a:t xml:space="preserve">after </a:t>
            </a:r>
            <a:r>
              <a:rPr lang="en-US" sz="1000" b="0" i="0" u="none" strike="noStrike" cap="none">
                <a:solidFill>
                  <a:srgbClr val="64748B"/>
                </a:solidFill>
                <a:latin typeface="Calibri"/>
                <a:ea typeface="Calibri"/>
                <a:cs typeface="Calibri"/>
                <a:sym typeface="Calibri"/>
              </a:rPr>
              <a:t>deployment</a:t>
            </a:r>
            <a:endParaRPr sz="1000" b="0" i="0" u="none" strike="noStrike" cap="none">
              <a:solidFill>
                <a:schemeClr val="dk1"/>
              </a:solidFill>
              <a:latin typeface="Calibri"/>
              <a:ea typeface="Calibri"/>
              <a:cs typeface="Calibri"/>
              <a:sym typeface="Calibri"/>
            </a:endParaRPr>
          </a:p>
        </p:txBody>
      </p:sp>
      <p:sp>
        <p:nvSpPr>
          <p:cNvPr id="50" name="Google Shape;50;p2"/>
          <p:cNvSpPr/>
          <p:nvPr/>
        </p:nvSpPr>
        <p:spPr>
          <a:xfrm>
            <a:off x="5943600" y="2011680"/>
            <a:ext cx="2926080" cy="713232"/>
          </a:xfrm>
          <a:prstGeom prst="rect">
            <a:avLst/>
          </a:prstGeom>
          <a:solidFill>
            <a:srgbClr val="FFFFFF"/>
          </a:solidFill>
          <a:ln w="12700" cap="flat" cmpd="sng">
            <a:solidFill>
              <a:srgbClr val="00A1C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2"/>
          <p:cNvSpPr/>
          <p:nvPr/>
        </p:nvSpPr>
        <p:spPr>
          <a:xfrm>
            <a:off x="5943600" y="2011680"/>
            <a:ext cx="54864" cy="713232"/>
          </a:xfrm>
          <a:prstGeom prst="rect">
            <a:avLst/>
          </a:prstGeom>
          <a:solidFill>
            <a:srgbClr val="00567D"/>
          </a:solidFill>
          <a:ln w="12700" cap="flat" cmpd="sng">
            <a:solidFill>
              <a:srgbClr val="00567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2"/>
          <p:cNvSpPr/>
          <p:nvPr/>
        </p:nvSpPr>
        <p:spPr>
          <a:xfrm>
            <a:off x="6080760" y="2057400"/>
            <a:ext cx="269748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567D"/>
              </a:buClr>
              <a:buSzPts val="1100"/>
              <a:buFont typeface="Calibri"/>
              <a:buNone/>
            </a:pPr>
            <a:r>
              <a:rPr lang="en-US" sz="1100" b="1" i="0" u="none" strike="noStrike" cap="none">
                <a:solidFill>
                  <a:srgbClr val="00567D"/>
                </a:solidFill>
                <a:latin typeface="Calibri"/>
                <a:ea typeface="Calibri"/>
                <a:cs typeface="Calibri"/>
                <a:sym typeface="Calibri"/>
              </a:rPr>
              <a:t>👁 Manual Review</a:t>
            </a:r>
            <a:endParaRPr sz="1100" b="0" i="0" u="none" strike="noStrike" cap="none">
              <a:solidFill>
                <a:schemeClr val="dk1"/>
              </a:solidFill>
              <a:latin typeface="Calibri"/>
              <a:ea typeface="Calibri"/>
              <a:cs typeface="Calibri"/>
              <a:sym typeface="Calibri"/>
            </a:endParaRPr>
          </a:p>
        </p:txBody>
      </p:sp>
      <p:sp>
        <p:nvSpPr>
          <p:cNvPr id="53" name="Google Shape;53;p2"/>
          <p:cNvSpPr/>
          <p:nvPr/>
        </p:nvSpPr>
        <p:spPr>
          <a:xfrm>
            <a:off x="6080760" y="2359152"/>
            <a:ext cx="269748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000"/>
              <a:buFont typeface="Calibri"/>
              <a:buNone/>
            </a:pPr>
            <a:r>
              <a:rPr lang="en-US" sz="1000" b="0" i="0" u="none" strike="noStrike" cap="none">
                <a:solidFill>
                  <a:srgbClr val="64748B"/>
                </a:solidFill>
                <a:latin typeface="Calibri"/>
                <a:ea typeface="Calibri"/>
                <a:cs typeface="Calibri"/>
                <a:sym typeface="Calibri"/>
              </a:rPr>
              <a:t>Relies on developer experience</a:t>
            </a:r>
            <a:endParaRPr sz="1000" b="0" i="0" u="none" strike="noStrike" cap="none">
              <a:solidFill>
                <a:schemeClr val="dk1"/>
              </a:solidFill>
              <a:latin typeface="Calibri"/>
              <a:ea typeface="Calibri"/>
              <a:cs typeface="Calibri"/>
              <a:sym typeface="Calibri"/>
            </a:endParaRPr>
          </a:p>
        </p:txBody>
      </p:sp>
      <p:sp>
        <p:nvSpPr>
          <p:cNvPr id="54" name="Google Shape;54;p2"/>
          <p:cNvSpPr/>
          <p:nvPr/>
        </p:nvSpPr>
        <p:spPr>
          <a:xfrm>
            <a:off x="5943600" y="2834640"/>
            <a:ext cx="2926080" cy="713232"/>
          </a:xfrm>
          <a:prstGeom prst="rect">
            <a:avLst/>
          </a:prstGeom>
          <a:solidFill>
            <a:srgbClr val="EBF7FC"/>
          </a:solidFill>
          <a:ln w="12700" cap="flat" cmpd="sng">
            <a:solidFill>
              <a:srgbClr val="00A1C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2"/>
          <p:cNvSpPr/>
          <p:nvPr/>
        </p:nvSpPr>
        <p:spPr>
          <a:xfrm>
            <a:off x="5943600" y="2834640"/>
            <a:ext cx="54864" cy="713232"/>
          </a:xfrm>
          <a:prstGeom prst="rect">
            <a:avLst/>
          </a:prstGeom>
          <a:solidFill>
            <a:srgbClr val="00567D"/>
          </a:solidFill>
          <a:ln w="12700" cap="flat" cmpd="sng">
            <a:solidFill>
              <a:srgbClr val="00567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2"/>
          <p:cNvSpPr/>
          <p:nvPr/>
        </p:nvSpPr>
        <p:spPr>
          <a:xfrm>
            <a:off x="6080760" y="2880360"/>
            <a:ext cx="269748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567D"/>
              </a:buClr>
              <a:buSzPts val="1100"/>
              <a:buFont typeface="Calibri"/>
              <a:buNone/>
            </a:pPr>
            <a:r>
              <a:rPr lang="en-US" sz="1100" b="1" i="0" u="none" strike="noStrike" cap="none">
                <a:solidFill>
                  <a:srgbClr val="00567D"/>
                </a:solidFill>
                <a:latin typeface="Calibri"/>
                <a:ea typeface="Calibri"/>
                <a:cs typeface="Calibri"/>
                <a:sym typeface="Calibri"/>
              </a:rPr>
              <a:t>📉 Scale Risk</a:t>
            </a:r>
            <a:endParaRPr sz="1100" b="0" i="0" u="none" strike="noStrike" cap="none">
              <a:solidFill>
                <a:schemeClr val="dk1"/>
              </a:solidFill>
              <a:latin typeface="Calibri"/>
              <a:ea typeface="Calibri"/>
              <a:cs typeface="Calibri"/>
              <a:sym typeface="Calibri"/>
            </a:endParaRPr>
          </a:p>
        </p:txBody>
      </p:sp>
      <p:sp>
        <p:nvSpPr>
          <p:cNvPr id="57" name="Google Shape;57;p2"/>
          <p:cNvSpPr/>
          <p:nvPr/>
        </p:nvSpPr>
        <p:spPr>
          <a:xfrm>
            <a:off x="6080760" y="3182112"/>
            <a:ext cx="269748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000"/>
              <a:buFont typeface="Calibri"/>
              <a:buNone/>
            </a:pPr>
            <a:r>
              <a:rPr lang="en-US" sz="1000" b="0" i="0" u="none" strike="noStrike" cap="none">
                <a:solidFill>
                  <a:srgbClr val="64748B"/>
                </a:solidFill>
                <a:latin typeface="Calibri"/>
                <a:ea typeface="Calibri"/>
                <a:cs typeface="Calibri"/>
                <a:sym typeface="Calibri"/>
              </a:rPr>
              <a:t>Scalability limits undetected</a:t>
            </a:r>
            <a:endParaRPr sz="1000" b="0" i="0" u="none" strike="noStrike" cap="none">
              <a:solidFill>
                <a:schemeClr val="dk1"/>
              </a:solidFill>
              <a:latin typeface="Calibri"/>
              <a:ea typeface="Calibri"/>
              <a:cs typeface="Calibri"/>
              <a:sym typeface="Calibri"/>
            </a:endParaRPr>
          </a:p>
        </p:txBody>
      </p:sp>
      <p:sp>
        <p:nvSpPr>
          <p:cNvPr id="58" name="Google Shape;58;p2"/>
          <p:cNvSpPr/>
          <p:nvPr/>
        </p:nvSpPr>
        <p:spPr>
          <a:xfrm>
            <a:off x="5943600" y="3657600"/>
            <a:ext cx="2926080" cy="713232"/>
          </a:xfrm>
          <a:prstGeom prst="rect">
            <a:avLst/>
          </a:prstGeom>
          <a:solidFill>
            <a:srgbClr val="FFFFFF"/>
          </a:solidFill>
          <a:ln w="12700" cap="flat" cmpd="sng">
            <a:solidFill>
              <a:srgbClr val="00A1C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2"/>
          <p:cNvSpPr/>
          <p:nvPr/>
        </p:nvSpPr>
        <p:spPr>
          <a:xfrm>
            <a:off x="5943600" y="3657600"/>
            <a:ext cx="54864" cy="713232"/>
          </a:xfrm>
          <a:prstGeom prst="rect">
            <a:avLst/>
          </a:prstGeom>
          <a:solidFill>
            <a:srgbClr val="00567D"/>
          </a:solidFill>
          <a:ln w="12700" cap="flat" cmpd="sng">
            <a:solidFill>
              <a:srgbClr val="00567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2"/>
          <p:cNvSpPr/>
          <p:nvPr/>
        </p:nvSpPr>
        <p:spPr>
          <a:xfrm>
            <a:off x="6080760" y="3703320"/>
            <a:ext cx="269748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567D"/>
              </a:buClr>
              <a:buSzPts val="1100"/>
              <a:buFont typeface="Calibri"/>
              <a:buNone/>
            </a:pPr>
            <a:r>
              <a:rPr lang="en-US" sz="1100" b="1" i="0" u="none" strike="noStrike" cap="none">
                <a:solidFill>
                  <a:srgbClr val="00567D"/>
                </a:solidFill>
                <a:latin typeface="Calibri"/>
                <a:ea typeface="Calibri"/>
                <a:cs typeface="Calibri"/>
                <a:sym typeface="Calibri"/>
              </a:rPr>
              <a:t>⏱ Delayed Fix</a:t>
            </a:r>
            <a:endParaRPr sz="1100" b="0" i="0" u="none" strike="noStrike" cap="none">
              <a:solidFill>
                <a:schemeClr val="dk1"/>
              </a:solidFill>
              <a:latin typeface="Calibri"/>
              <a:ea typeface="Calibri"/>
              <a:cs typeface="Calibri"/>
              <a:sym typeface="Calibri"/>
            </a:endParaRPr>
          </a:p>
        </p:txBody>
      </p:sp>
      <p:sp>
        <p:nvSpPr>
          <p:cNvPr id="61" name="Google Shape;61;p2"/>
          <p:cNvSpPr/>
          <p:nvPr/>
        </p:nvSpPr>
        <p:spPr>
          <a:xfrm>
            <a:off x="6080760" y="4005072"/>
            <a:ext cx="269748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000"/>
              <a:buFont typeface="Calibri"/>
              <a:buNone/>
            </a:pPr>
            <a:r>
              <a:rPr lang="en-US" sz="1000" b="0" i="0" u="none" strike="noStrike" cap="none">
                <a:solidFill>
                  <a:srgbClr val="64748B"/>
                </a:solidFill>
                <a:latin typeface="Calibri"/>
                <a:ea typeface="Calibri"/>
                <a:cs typeface="Calibri"/>
                <a:sym typeface="Calibri"/>
              </a:rPr>
              <a:t>Optimization happens too late</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6"/>
        <p:cNvGrpSpPr/>
        <p:nvPr/>
      </p:nvGrpSpPr>
      <p:grpSpPr>
        <a:xfrm>
          <a:off x="0" y="0"/>
          <a:ext cx="0" cy="0"/>
          <a:chOff x="0" y="0"/>
          <a:chExt cx="0" cy="0"/>
        </a:xfrm>
      </p:grpSpPr>
      <p:sp>
        <p:nvSpPr>
          <p:cNvPr id="67" name="Google Shape;67;p3"/>
          <p:cNvSpPr/>
          <p:nvPr/>
        </p:nvSpPr>
        <p:spPr>
          <a:xfrm>
            <a:off x="0" y="0"/>
            <a:ext cx="9144000" cy="1005840"/>
          </a:xfrm>
          <a:prstGeom prst="rect">
            <a:avLst/>
          </a:prstGeom>
          <a:solidFill>
            <a:srgbClr val="00567D"/>
          </a:solidFill>
          <a:ln w="12700" cap="flat" cmpd="sng">
            <a:solidFill>
              <a:srgbClr val="00567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3"/>
          <p:cNvSpPr/>
          <p:nvPr/>
        </p:nvSpPr>
        <p:spPr>
          <a:xfrm>
            <a:off x="457200" y="228600"/>
            <a:ext cx="7315200"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200"/>
              <a:buFont typeface="Calibri"/>
              <a:buNone/>
            </a:pPr>
            <a:r>
              <a:rPr lang="en-US" sz="2200" b="1" i="0" u="none" strike="noStrike" cap="none">
                <a:solidFill>
                  <a:srgbClr val="FFFFFF"/>
                </a:solidFill>
                <a:latin typeface="Calibri"/>
                <a:ea typeface="Calibri"/>
                <a:cs typeface="Calibri"/>
                <a:sym typeface="Calibri"/>
              </a:rPr>
              <a:t>Expected Benefits &amp; Key Audience</a:t>
            </a:r>
            <a:endParaRPr sz="2200" b="0" i="0" u="none" strike="noStrike" cap="none">
              <a:solidFill>
                <a:schemeClr val="dk1"/>
              </a:solidFill>
              <a:latin typeface="Calibri"/>
              <a:ea typeface="Calibri"/>
              <a:cs typeface="Calibri"/>
              <a:sym typeface="Calibri"/>
            </a:endParaRPr>
          </a:p>
        </p:txBody>
      </p:sp>
      <p:sp>
        <p:nvSpPr>
          <p:cNvPr id="69" name="Google Shape;69;p3"/>
          <p:cNvSpPr/>
          <p:nvPr/>
        </p:nvSpPr>
        <p:spPr>
          <a:xfrm>
            <a:off x="7498080" y="182880"/>
            <a:ext cx="1463040" cy="548640"/>
          </a:xfrm>
          <a:prstGeom prst="rect">
            <a:avLst/>
          </a:prstGeom>
          <a:solidFill>
            <a:srgbClr val="00A1C2"/>
          </a:solidFill>
          <a:ln w="12700" cap="flat" cmpd="sng">
            <a:solidFill>
              <a:srgbClr val="00A1C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3"/>
          <p:cNvSpPr/>
          <p:nvPr/>
        </p:nvSpPr>
        <p:spPr>
          <a:xfrm>
            <a:off x="7498080" y="182880"/>
            <a:ext cx="1463040" cy="5486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n-US" sz="900" b="1" i="0" u="none" strike="noStrike" cap="none">
                <a:solidFill>
                  <a:srgbClr val="FFFFFF"/>
                </a:solidFill>
                <a:latin typeface="Calibri"/>
                <a:ea typeface="Calibri"/>
                <a:cs typeface="Calibri"/>
                <a:sym typeface="Calibri"/>
              </a:rPr>
              <a:t>Dubai Health</a:t>
            </a:r>
            <a:endParaRPr sz="900" b="0" i="0" u="none" strike="noStrike" cap="none">
              <a:solidFill>
                <a:schemeClr val="dk1"/>
              </a:solidFill>
              <a:latin typeface="Calibri"/>
              <a:ea typeface="Calibri"/>
              <a:cs typeface="Calibri"/>
              <a:sym typeface="Calibri"/>
            </a:endParaRPr>
          </a:p>
        </p:txBody>
      </p:sp>
      <p:sp>
        <p:nvSpPr>
          <p:cNvPr id="71" name="Google Shape;71;p3"/>
          <p:cNvSpPr/>
          <p:nvPr/>
        </p:nvSpPr>
        <p:spPr>
          <a:xfrm>
            <a:off x="365760" y="1097280"/>
            <a:ext cx="5029200" cy="365760"/>
          </a:xfrm>
          <a:prstGeom prst="rect">
            <a:avLst/>
          </a:prstGeom>
          <a:solidFill>
            <a:srgbClr val="007B9E"/>
          </a:solidFill>
          <a:ln w="12700" cap="flat" cmpd="sng">
            <a:solidFill>
              <a:srgbClr val="007B9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3"/>
          <p:cNvSpPr/>
          <p:nvPr/>
        </p:nvSpPr>
        <p:spPr>
          <a:xfrm>
            <a:off x="365760" y="1097280"/>
            <a:ext cx="502920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300"/>
              <a:buFont typeface="Calibri"/>
              <a:buNone/>
            </a:pPr>
            <a:r>
              <a:rPr lang="en-US" sz="1300" b="1" i="0" u="none" strike="noStrike" cap="none">
                <a:solidFill>
                  <a:srgbClr val="FFFFFF"/>
                </a:solidFill>
                <a:latin typeface="Calibri"/>
                <a:ea typeface="Calibri"/>
                <a:cs typeface="Calibri"/>
                <a:sym typeface="Calibri"/>
              </a:rPr>
              <a:t>Expected Benefits</a:t>
            </a:r>
            <a:endParaRPr sz="1300" b="0" i="0" u="none" strike="noStrike" cap="none">
              <a:solidFill>
                <a:schemeClr val="dk1"/>
              </a:solidFill>
              <a:latin typeface="Calibri"/>
              <a:ea typeface="Calibri"/>
              <a:cs typeface="Calibri"/>
              <a:sym typeface="Calibri"/>
            </a:endParaRPr>
          </a:p>
        </p:txBody>
      </p:sp>
      <p:sp>
        <p:nvSpPr>
          <p:cNvPr id="73" name="Google Shape;73;p3"/>
          <p:cNvSpPr/>
          <p:nvPr/>
        </p:nvSpPr>
        <p:spPr>
          <a:xfrm>
            <a:off x="457200" y="1554480"/>
            <a:ext cx="4846320" cy="1719072"/>
          </a:xfrm>
          <a:prstGeom prst="rect">
            <a:avLst/>
          </a:prstGeom>
          <a:noFill/>
          <a:ln>
            <a:noFill/>
          </a:ln>
        </p:spPr>
        <p:txBody>
          <a:bodyPr spcFirstLastPara="1" wrap="square" lIns="0" tIns="63500" rIns="0" bIns="0" anchor="ctr" anchorCtr="0">
            <a:noAutofit/>
          </a:bodyPr>
          <a:lstStyle/>
          <a:p>
            <a:pPr marL="342900" marR="0" lvl="0" indent="-342900" algn="l" rtl="0">
              <a:spcBef>
                <a:spcPts val="0"/>
              </a:spcBef>
              <a:spcAft>
                <a:spcPts val="0"/>
              </a:spcAft>
              <a:buClr>
                <a:srgbClr val="1A2E3B"/>
              </a:buClr>
              <a:buSzPts val="1100"/>
              <a:buFont typeface="Calibri"/>
              <a:buChar char="•"/>
            </a:pPr>
            <a:r>
              <a:rPr lang="en-US" sz="1100" b="0" i="0" u="none" strike="noStrike" cap="none" dirty="0">
                <a:solidFill>
                  <a:srgbClr val="1A2E3B"/>
                </a:solidFill>
                <a:latin typeface="Calibri"/>
                <a:ea typeface="Calibri"/>
                <a:cs typeface="Calibri"/>
                <a:sym typeface="Calibri"/>
              </a:rPr>
              <a:t>Detect performance risks earlier in the development lifecycle</a:t>
            </a:r>
            <a:endParaRPr sz="1100" b="0" i="0" u="none" strike="noStrike" cap="none" dirty="0">
              <a:solidFill>
                <a:schemeClr val="dk1"/>
              </a:solidFill>
              <a:latin typeface="Calibri"/>
              <a:ea typeface="Calibri"/>
              <a:cs typeface="Calibri"/>
              <a:sym typeface="Calibri"/>
            </a:endParaRPr>
          </a:p>
          <a:p>
            <a:pPr marL="342900" marR="0" lvl="0" indent="-342900" algn="l" rtl="0">
              <a:spcBef>
                <a:spcPts val="400"/>
              </a:spcBef>
              <a:spcAft>
                <a:spcPts val="0"/>
              </a:spcAft>
              <a:buClr>
                <a:srgbClr val="1A2E3B"/>
              </a:buClr>
              <a:buSzPts val="1100"/>
              <a:buFont typeface="Calibri"/>
              <a:buChar char="•"/>
            </a:pPr>
            <a:r>
              <a:rPr lang="en-US" sz="1100" b="0" i="0" u="none" strike="noStrike" cap="none" dirty="0">
                <a:solidFill>
                  <a:srgbClr val="1A2E3B"/>
                </a:solidFill>
                <a:latin typeface="Calibri"/>
                <a:ea typeface="Calibri"/>
                <a:cs typeface="Calibri"/>
                <a:sym typeface="Calibri"/>
              </a:rPr>
              <a:t>Reduce manual effort in code review</a:t>
            </a:r>
            <a:endParaRPr sz="1100" b="0" i="0" u="none" strike="noStrike" cap="none" dirty="0">
              <a:solidFill>
                <a:schemeClr val="dk1"/>
              </a:solidFill>
              <a:latin typeface="Calibri"/>
              <a:ea typeface="Calibri"/>
              <a:cs typeface="Calibri"/>
              <a:sym typeface="Calibri"/>
            </a:endParaRPr>
          </a:p>
          <a:p>
            <a:pPr marL="342900" marR="0" lvl="0" indent="-342900" algn="l" rtl="0">
              <a:spcBef>
                <a:spcPts val="400"/>
              </a:spcBef>
              <a:spcAft>
                <a:spcPts val="0"/>
              </a:spcAft>
              <a:buClr>
                <a:srgbClr val="1A2E3B"/>
              </a:buClr>
              <a:buSzPts val="1100"/>
              <a:buFont typeface="Calibri"/>
              <a:buChar char="•"/>
            </a:pPr>
            <a:r>
              <a:rPr lang="en-US" sz="1100" b="0" i="0" u="none" strike="noStrike" cap="none" dirty="0">
                <a:solidFill>
                  <a:srgbClr val="1A2E3B"/>
                </a:solidFill>
                <a:latin typeface="Calibri"/>
                <a:ea typeface="Calibri"/>
                <a:cs typeface="Calibri"/>
                <a:sym typeface="Calibri"/>
              </a:rPr>
              <a:t>Improve code design and implementation quality</a:t>
            </a:r>
            <a:endParaRPr sz="1100" b="0" i="0" u="none" strike="noStrike" cap="none" dirty="0">
              <a:solidFill>
                <a:schemeClr val="dk1"/>
              </a:solidFill>
              <a:latin typeface="Calibri"/>
              <a:ea typeface="Calibri"/>
              <a:cs typeface="Calibri"/>
              <a:sym typeface="Calibri"/>
            </a:endParaRPr>
          </a:p>
          <a:p>
            <a:pPr marL="342900" marR="0" lvl="0" indent="-342900" algn="l" rtl="0">
              <a:spcBef>
                <a:spcPts val="400"/>
              </a:spcBef>
              <a:spcAft>
                <a:spcPts val="0"/>
              </a:spcAft>
              <a:buClr>
                <a:srgbClr val="1A2E3B"/>
              </a:buClr>
              <a:buSzPts val="1100"/>
              <a:buFont typeface="Calibri"/>
              <a:buChar char="•"/>
            </a:pPr>
            <a:r>
              <a:rPr lang="en-US" sz="1100" b="0" i="0" u="none" strike="noStrike" cap="none" dirty="0">
                <a:solidFill>
                  <a:srgbClr val="1A2E3B"/>
                </a:solidFill>
                <a:latin typeface="Calibri"/>
                <a:ea typeface="Calibri"/>
                <a:cs typeface="Calibri"/>
                <a:sym typeface="Calibri"/>
              </a:rPr>
              <a:t>Identify inefficient patterns before deployment</a:t>
            </a:r>
            <a:endParaRPr sz="1100" b="0" i="0" u="none" strike="noStrike" cap="none" dirty="0">
              <a:solidFill>
                <a:schemeClr val="dk1"/>
              </a:solidFill>
              <a:latin typeface="Calibri"/>
              <a:ea typeface="Calibri"/>
              <a:cs typeface="Calibri"/>
              <a:sym typeface="Calibri"/>
            </a:endParaRPr>
          </a:p>
          <a:p>
            <a:pPr marL="342900" marR="0" lvl="0" indent="-342900" algn="l" rtl="0">
              <a:spcBef>
                <a:spcPts val="400"/>
              </a:spcBef>
              <a:spcAft>
                <a:spcPts val="0"/>
              </a:spcAft>
              <a:buClr>
                <a:srgbClr val="1A2E3B"/>
              </a:buClr>
              <a:buSzPts val="1100"/>
              <a:buFont typeface="Calibri"/>
              <a:buChar char="•"/>
            </a:pPr>
            <a:r>
              <a:rPr lang="en-US" sz="1100" b="0" i="0" u="none" strike="noStrike" cap="none" dirty="0">
                <a:solidFill>
                  <a:srgbClr val="1A2E3B"/>
                </a:solidFill>
                <a:latin typeface="Calibri"/>
                <a:ea typeface="Calibri"/>
                <a:cs typeface="Calibri"/>
                <a:sym typeface="Calibri"/>
              </a:rPr>
              <a:t>Support developers with optimization recommendations</a:t>
            </a:r>
            <a:endParaRPr sz="1100" b="0" i="0" u="none" strike="noStrike" cap="none" dirty="0">
              <a:solidFill>
                <a:schemeClr val="dk1"/>
              </a:solidFill>
              <a:latin typeface="Calibri"/>
              <a:ea typeface="Calibri"/>
              <a:cs typeface="Calibri"/>
              <a:sym typeface="Calibri"/>
            </a:endParaRPr>
          </a:p>
          <a:p>
            <a:pPr marL="342900" marR="0" lvl="0" indent="-342900" algn="l" rtl="0">
              <a:spcBef>
                <a:spcPts val="400"/>
              </a:spcBef>
              <a:spcAft>
                <a:spcPts val="0"/>
              </a:spcAft>
              <a:buClr>
                <a:srgbClr val="1A2E3B"/>
              </a:buClr>
              <a:buSzPts val="1100"/>
              <a:buFont typeface="Calibri"/>
              <a:buChar char="•"/>
            </a:pPr>
            <a:r>
              <a:rPr lang="en-US" sz="1100" b="0" i="0" u="none" strike="noStrike" cap="none" dirty="0">
                <a:solidFill>
                  <a:srgbClr val="1A2E3B"/>
                </a:solidFill>
                <a:latin typeface="Calibri"/>
                <a:ea typeface="Calibri"/>
                <a:cs typeface="Calibri"/>
                <a:sym typeface="Calibri"/>
              </a:rPr>
              <a:t>Improve scalability and maintainability of code</a:t>
            </a:r>
            <a:endParaRPr sz="1100" b="0" i="0" u="none" strike="noStrike" cap="none" dirty="0">
              <a:solidFill>
                <a:schemeClr val="dk1"/>
              </a:solidFill>
              <a:latin typeface="Calibri"/>
              <a:ea typeface="Calibri"/>
              <a:cs typeface="Calibri"/>
              <a:sym typeface="Calibri"/>
            </a:endParaRPr>
          </a:p>
          <a:p>
            <a:pPr marL="342900" marR="0" lvl="0" indent="-342900" algn="l" rtl="0">
              <a:spcBef>
                <a:spcPts val="400"/>
              </a:spcBef>
              <a:spcAft>
                <a:spcPts val="0"/>
              </a:spcAft>
              <a:buClr>
                <a:srgbClr val="1A2E3B"/>
              </a:buClr>
              <a:buSzPts val="1100"/>
              <a:buFont typeface="Calibri"/>
              <a:buChar char="•"/>
            </a:pPr>
            <a:r>
              <a:rPr lang="en-US" sz="1100" b="0" i="0" u="none" strike="noStrike" cap="none" dirty="0">
                <a:solidFill>
                  <a:srgbClr val="1A2E3B"/>
                </a:solidFill>
                <a:latin typeface="Calibri"/>
                <a:ea typeface="Calibri"/>
                <a:cs typeface="Calibri"/>
                <a:sym typeface="Calibri"/>
              </a:rPr>
              <a:t>Reduce future troubleshooting effort</a:t>
            </a:r>
            <a:endParaRPr sz="1100" b="0" i="0" u="none" strike="noStrike" cap="none" dirty="0">
              <a:solidFill>
                <a:schemeClr val="dk1"/>
              </a:solidFill>
              <a:latin typeface="Calibri"/>
              <a:ea typeface="Calibri"/>
              <a:cs typeface="Calibri"/>
              <a:sym typeface="Calibri"/>
            </a:endParaRPr>
          </a:p>
        </p:txBody>
      </p:sp>
      <p:sp>
        <p:nvSpPr>
          <p:cNvPr id="74" name="Google Shape;74;p3"/>
          <p:cNvSpPr/>
          <p:nvPr/>
        </p:nvSpPr>
        <p:spPr>
          <a:xfrm>
            <a:off x="5577840" y="1097280"/>
            <a:ext cx="3200400" cy="365760"/>
          </a:xfrm>
          <a:prstGeom prst="rect">
            <a:avLst/>
          </a:prstGeom>
          <a:solidFill>
            <a:srgbClr val="007B9E"/>
          </a:solidFill>
          <a:ln w="12700" cap="flat" cmpd="sng">
            <a:solidFill>
              <a:srgbClr val="007B9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3"/>
          <p:cNvSpPr/>
          <p:nvPr/>
        </p:nvSpPr>
        <p:spPr>
          <a:xfrm>
            <a:off x="5577840" y="1097280"/>
            <a:ext cx="320040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300"/>
              <a:buFont typeface="Calibri"/>
              <a:buNone/>
            </a:pPr>
            <a:r>
              <a:rPr lang="en-US" sz="1300" b="1" i="0" u="none" strike="noStrike" cap="none">
                <a:solidFill>
                  <a:srgbClr val="FFFFFF"/>
                </a:solidFill>
                <a:latin typeface="Calibri"/>
                <a:ea typeface="Calibri"/>
                <a:cs typeface="Calibri"/>
                <a:sym typeface="Calibri"/>
              </a:rPr>
              <a:t>Key Audience</a:t>
            </a:r>
            <a:endParaRPr sz="1300" b="0" i="0" u="none" strike="noStrike" cap="none">
              <a:solidFill>
                <a:schemeClr val="dk1"/>
              </a:solidFill>
              <a:latin typeface="Calibri"/>
              <a:ea typeface="Calibri"/>
              <a:cs typeface="Calibri"/>
              <a:sym typeface="Calibri"/>
            </a:endParaRPr>
          </a:p>
        </p:txBody>
      </p:sp>
      <p:sp>
        <p:nvSpPr>
          <p:cNvPr id="76" name="Google Shape;76;p3"/>
          <p:cNvSpPr/>
          <p:nvPr/>
        </p:nvSpPr>
        <p:spPr>
          <a:xfrm>
            <a:off x="5577840" y="1572768"/>
            <a:ext cx="3200400" cy="384048"/>
          </a:xfrm>
          <a:prstGeom prst="rect">
            <a:avLst/>
          </a:prstGeom>
          <a:solidFill>
            <a:srgbClr val="EBF7FC"/>
          </a:solidFill>
          <a:ln w="9525" cap="flat" cmpd="sng">
            <a:solidFill>
              <a:srgbClr val="D0E8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3"/>
          <p:cNvSpPr/>
          <p:nvPr/>
        </p:nvSpPr>
        <p:spPr>
          <a:xfrm>
            <a:off x="5623560" y="1655064"/>
            <a:ext cx="201168" cy="201168"/>
          </a:xfrm>
          <a:prstGeom prst="ellipse">
            <a:avLst/>
          </a:prstGeom>
          <a:solidFill>
            <a:srgbClr val="00567D"/>
          </a:solidFill>
          <a:ln w="12700" cap="flat" cmpd="sng">
            <a:solidFill>
              <a:srgbClr val="00567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3"/>
          <p:cNvSpPr/>
          <p:nvPr/>
        </p:nvSpPr>
        <p:spPr>
          <a:xfrm>
            <a:off x="5897880" y="1618488"/>
            <a:ext cx="2834640" cy="31089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2E3B"/>
              </a:buClr>
              <a:buSzPts val="1100"/>
              <a:buFont typeface="Calibri"/>
              <a:buNone/>
            </a:pPr>
            <a:r>
              <a:rPr lang="en-US" sz="1100" b="0" i="0" u="none" strike="noStrike" cap="none">
                <a:solidFill>
                  <a:srgbClr val="1A2E3B"/>
                </a:solidFill>
                <a:latin typeface="Calibri"/>
                <a:ea typeface="Calibri"/>
                <a:cs typeface="Calibri"/>
                <a:sym typeface="Calibri"/>
              </a:rPr>
              <a:t>API Developers</a:t>
            </a:r>
            <a:endParaRPr sz="1100" b="0" i="0" u="none" strike="noStrike" cap="none">
              <a:solidFill>
                <a:schemeClr val="dk1"/>
              </a:solidFill>
              <a:latin typeface="Calibri"/>
              <a:ea typeface="Calibri"/>
              <a:cs typeface="Calibri"/>
              <a:sym typeface="Calibri"/>
            </a:endParaRPr>
          </a:p>
        </p:txBody>
      </p:sp>
      <p:sp>
        <p:nvSpPr>
          <p:cNvPr id="79" name="Google Shape;79;p3"/>
          <p:cNvSpPr/>
          <p:nvPr/>
        </p:nvSpPr>
        <p:spPr>
          <a:xfrm>
            <a:off x="5577840" y="2029968"/>
            <a:ext cx="3200400" cy="384048"/>
          </a:xfrm>
          <a:prstGeom prst="rect">
            <a:avLst/>
          </a:prstGeom>
          <a:solidFill>
            <a:srgbClr val="EBF7FC"/>
          </a:solidFill>
          <a:ln w="9525" cap="flat" cmpd="sng">
            <a:solidFill>
              <a:srgbClr val="D0E8F0"/>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80" name="Google Shape;80;p3"/>
          <p:cNvSpPr/>
          <p:nvPr/>
        </p:nvSpPr>
        <p:spPr>
          <a:xfrm>
            <a:off x="5623560" y="2103120"/>
            <a:ext cx="201168" cy="201168"/>
          </a:xfrm>
          <a:prstGeom prst="ellipse">
            <a:avLst/>
          </a:prstGeom>
          <a:solidFill>
            <a:srgbClr val="00567D"/>
          </a:solidFill>
          <a:ln w="12700" cap="flat" cmpd="sng">
            <a:solidFill>
              <a:srgbClr val="00567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3"/>
          <p:cNvSpPr/>
          <p:nvPr/>
        </p:nvSpPr>
        <p:spPr>
          <a:xfrm>
            <a:off x="5897880" y="2066544"/>
            <a:ext cx="2834640" cy="31089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2E3B"/>
              </a:buClr>
              <a:buSzPts val="1100"/>
              <a:buFont typeface="Calibri"/>
              <a:buNone/>
            </a:pPr>
            <a:r>
              <a:rPr lang="en-US" sz="1100" b="0" i="0" u="none" strike="noStrike" cap="none" dirty="0">
                <a:solidFill>
                  <a:srgbClr val="1A2E3B"/>
                </a:solidFill>
                <a:latin typeface="Calibri"/>
                <a:ea typeface="Calibri"/>
                <a:cs typeface="Calibri"/>
                <a:sym typeface="Calibri"/>
              </a:rPr>
              <a:t>Software Engineers</a:t>
            </a:r>
            <a:endParaRPr sz="1100" b="0" i="0" u="none" strike="noStrike" cap="none" dirty="0">
              <a:solidFill>
                <a:schemeClr val="dk1"/>
              </a:solidFill>
              <a:latin typeface="Calibri"/>
              <a:ea typeface="Calibri"/>
              <a:cs typeface="Calibri"/>
              <a:sym typeface="Calibri"/>
            </a:endParaRPr>
          </a:p>
        </p:txBody>
      </p:sp>
      <p:sp>
        <p:nvSpPr>
          <p:cNvPr id="82" name="Google Shape;82;p3"/>
          <p:cNvSpPr/>
          <p:nvPr/>
        </p:nvSpPr>
        <p:spPr>
          <a:xfrm>
            <a:off x="5577840" y="2468880"/>
            <a:ext cx="3200400" cy="384048"/>
          </a:xfrm>
          <a:prstGeom prst="rect">
            <a:avLst/>
          </a:prstGeom>
          <a:solidFill>
            <a:srgbClr val="EBF7FC"/>
          </a:solidFill>
          <a:ln w="9525" cap="flat" cmpd="sng">
            <a:solidFill>
              <a:srgbClr val="D0E8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3"/>
          <p:cNvSpPr/>
          <p:nvPr/>
        </p:nvSpPr>
        <p:spPr>
          <a:xfrm>
            <a:off x="5623560" y="2551176"/>
            <a:ext cx="201168" cy="201168"/>
          </a:xfrm>
          <a:prstGeom prst="ellipse">
            <a:avLst/>
          </a:prstGeom>
          <a:solidFill>
            <a:srgbClr val="00567D"/>
          </a:solidFill>
          <a:ln w="12700" cap="flat" cmpd="sng">
            <a:solidFill>
              <a:srgbClr val="00567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3"/>
          <p:cNvSpPr/>
          <p:nvPr/>
        </p:nvSpPr>
        <p:spPr>
          <a:xfrm>
            <a:off x="5897880" y="2514600"/>
            <a:ext cx="2834640" cy="31089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2E3B"/>
              </a:buClr>
              <a:buSzPts val="1100"/>
              <a:buFont typeface="Calibri"/>
              <a:buNone/>
            </a:pPr>
            <a:r>
              <a:rPr lang="en-US" sz="1100" b="0" i="0" u="none" strike="noStrike" cap="none" dirty="0">
                <a:solidFill>
                  <a:srgbClr val="1A2E3B"/>
                </a:solidFill>
                <a:latin typeface="Calibri"/>
                <a:ea typeface="Calibri"/>
                <a:cs typeface="Calibri"/>
                <a:sym typeface="Calibri"/>
              </a:rPr>
              <a:t>Technical Leads</a:t>
            </a:r>
            <a:endParaRPr sz="1100" b="0" i="0" u="none" strike="noStrike" cap="none" dirty="0">
              <a:solidFill>
                <a:schemeClr val="dk1"/>
              </a:solidFill>
              <a:latin typeface="Calibri"/>
              <a:ea typeface="Calibri"/>
              <a:cs typeface="Calibri"/>
              <a:sym typeface="Calibri"/>
            </a:endParaRPr>
          </a:p>
        </p:txBody>
      </p:sp>
      <p:sp>
        <p:nvSpPr>
          <p:cNvPr id="88" name="Google Shape;88;p3"/>
          <p:cNvSpPr/>
          <p:nvPr/>
        </p:nvSpPr>
        <p:spPr>
          <a:xfrm>
            <a:off x="5577840" y="2935224"/>
            <a:ext cx="3200400" cy="384048"/>
          </a:xfrm>
          <a:prstGeom prst="rect">
            <a:avLst/>
          </a:prstGeom>
          <a:solidFill>
            <a:srgbClr val="EBF7FC"/>
          </a:solidFill>
          <a:ln w="9525" cap="flat" cmpd="sng">
            <a:solidFill>
              <a:srgbClr val="D0E8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3"/>
          <p:cNvSpPr/>
          <p:nvPr/>
        </p:nvSpPr>
        <p:spPr>
          <a:xfrm>
            <a:off x="5623560" y="3017520"/>
            <a:ext cx="201168" cy="201168"/>
          </a:xfrm>
          <a:prstGeom prst="ellipse">
            <a:avLst/>
          </a:prstGeom>
          <a:solidFill>
            <a:srgbClr val="00567D"/>
          </a:solidFill>
          <a:ln w="12700" cap="flat" cmpd="sng">
            <a:solidFill>
              <a:srgbClr val="00567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3"/>
          <p:cNvSpPr/>
          <p:nvPr/>
        </p:nvSpPr>
        <p:spPr>
          <a:xfrm>
            <a:off x="5897880" y="2980944"/>
            <a:ext cx="2834640" cy="31089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2E3B"/>
              </a:buClr>
              <a:buSzPts val="1100"/>
              <a:buFont typeface="Calibri"/>
              <a:buNone/>
            </a:pPr>
            <a:r>
              <a:rPr lang="en-US" sz="1100" b="0" i="0" u="none" strike="noStrike" cap="none" dirty="0">
                <a:solidFill>
                  <a:srgbClr val="1A2E3B"/>
                </a:solidFill>
                <a:latin typeface="Calibri"/>
                <a:ea typeface="Calibri"/>
                <a:cs typeface="Calibri"/>
                <a:sym typeface="Calibri"/>
              </a:rPr>
              <a:t>Solution Architects</a:t>
            </a:r>
            <a:endParaRPr sz="1100" b="0" i="0" u="none" strike="noStrike" cap="none" dirty="0">
              <a:solidFill>
                <a:schemeClr val="dk1"/>
              </a:solidFill>
              <a:latin typeface="Calibri"/>
              <a:ea typeface="Calibri"/>
              <a:cs typeface="Calibri"/>
              <a:sym typeface="Calibri"/>
            </a:endParaRPr>
          </a:p>
        </p:txBody>
      </p:sp>
      <p:sp>
        <p:nvSpPr>
          <p:cNvPr id="2" name="Google Shape;100;p4">
            <a:extLst>
              <a:ext uri="{FF2B5EF4-FFF2-40B4-BE49-F238E27FC236}">
                <a16:creationId xmlns:a16="http://schemas.microsoft.com/office/drawing/2014/main" id="{B9DA4FC4-8712-2FB9-69AC-E67F9920E006}"/>
              </a:ext>
            </a:extLst>
          </p:cNvPr>
          <p:cNvSpPr/>
          <p:nvPr/>
        </p:nvSpPr>
        <p:spPr>
          <a:xfrm>
            <a:off x="365760" y="3415348"/>
            <a:ext cx="5029200" cy="365760"/>
          </a:xfrm>
          <a:prstGeom prst="rect">
            <a:avLst/>
          </a:prstGeom>
          <a:solidFill>
            <a:srgbClr val="007B9E"/>
          </a:solidFill>
          <a:ln w="12700" cap="flat" cmpd="sng">
            <a:solidFill>
              <a:srgbClr val="007B9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Google Shape;101;p4">
            <a:extLst>
              <a:ext uri="{FF2B5EF4-FFF2-40B4-BE49-F238E27FC236}">
                <a16:creationId xmlns:a16="http://schemas.microsoft.com/office/drawing/2014/main" id="{F9A35D83-EBF6-16FF-4E36-E0AB665DDBE6}"/>
              </a:ext>
            </a:extLst>
          </p:cNvPr>
          <p:cNvSpPr/>
          <p:nvPr/>
        </p:nvSpPr>
        <p:spPr>
          <a:xfrm>
            <a:off x="320040" y="3415348"/>
            <a:ext cx="402336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Data Requirement (Data Type)</a:t>
            </a:r>
            <a:endParaRPr sz="1200" b="0" i="0" u="none" strike="noStrike" cap="none">
              <a:solidFill>
                <a:schemeClr val="dk1"/>
              </a:solidFill>
              <a:latin typeface="Calibri"/>
              <a:ea typeface="Calibri"/>
              <a:cs typeface="Calibri"/>
              <a:sym typeface="Calibri"/>
            </a:endParaRPr>
          </a:p>
        </p:txBody>
      </p:sp>
      <p:sp>
        <p:nvSpPr>
          <p:cNvPr id="4" name="Google Shape;102;p4">
            <a:extLst>
              <a:ext uri="{FF2B5EF4-FFF2-40B4-BE49-F238E27FC236}">
                <a16:creationId xmlns:a16="http://schemas.microsoft.com/office/drawing/2014/main" id="{2934D0A0-7A2E-0617-CC03-01849F37D941}"/>
              </a:ext>
            </a:extLst>
          </p:cNvPr>
          <p:cNvSpPr/>
          <p:nvPr/>
        </p:nvSpPr>
        <p:spPr>
          <a:xfrm>
            <a:off x="411480" y="3872548"/>
            <a:ext cx="3840480" cy="941832"/>
          </a:xfrm>
          <a:prstGeom prst="rect">
            <a:avLst/>
          </a:prstGeom>
          <a:noFill/>
          <a:ln>
            <a:noFill/>
          </a:ln>
        </p:spPr>
        <p:txBody>
          <a:bodyPr spcFirstLastPara="1" wrap="square" lIns="0" tIns="63500" rIns="0" bIns="0" anchor="ctr" anchorCtr="0">
            <a:noAutofit/>
          </a:bodyPr>
          <a:lstStyle/>
          <a:p>
            <a:pPr marL="342900" marR="0" lvl="0" indent="-342900" algn="l" rtl="0">
              <a:spcBef>
                <a:spcPts val="0"/>
              </a:spcBef>
              <a:spcAft>
                <a:spcPts val="0"/>
              </a:spcAft>
              <a:buClr>
                <a:srgbClr val="1A2E3B"/>
              </a:buClr>
              <a:buSzPts val="1100"/>
              <a:buFont typeface="Calibri"/>
              <a:buChar char="•"/>
            </a:pPr>
            <a:r>
              <a:rPr lang="en-US" sz="1100" b="0" i="0" u="none" strike="noStrike" cap="none" dirty="0">
                <a:solidFill>
                  <a:srgbClr val="1A2E3B"/>
                </a:solidFill>
                <a:latin typeface="Calibri"/>
                <a:ea typeface="Calibri"/>
                <a:cs typeface="Calibri"/>
                <a:sym typeface="Calibri"/>
              </a:rPr>
              <a:t>Source code</a:t>
            </a:r>
            <a:endParaRPr sz="1100" b="0" i="0" u="none" strike="noStrike" cap="none" dirty="0">
              <a:solidFill>
                <a:schemeClr val="dk1"/>
              </a:solidFill>
              <a:latin typeface="Calibri"/>
              <a:ea typeface="Calibri"/>
              <a:cs typeface="Calibri"/>
              <a:sym typeface="Calibri"/>
            </a:endParaRPr>
          </a:p>
          <a:p>
            <a:pPr marL="342900" marR="0" lvl="0" indent="-342900" algn="l" rtl="0">
              <a:spcBef>
                <a:spcPts val="500"/>
              </a:spcBef>
              <a:spcAft>
                <a:spcPts val="0"/>
              </a:spcAft>
              <a:buClr>
                <a:srgbClr val="1A2E3B"/>
              </a:buClr>
              <a:buSzPts val="1100"/>
              <a:buFont typeface="Calibri"/>
              <a:buChar char="•"/>
            </a:pPr>
            <a:r>
              <a:rPr lang="en-US" sz="1100" b="0" i="0" u="none" strike="noStrike" cap="none" dirty="0">
                <a:solidFill>
                  <a:srgbClr val="1A2E3B"/>
                </a:solidFill>
                <a:latin typeface="Calibri"/>
                <a:ea typeface="Calibri"/>
                <a:cs typeface="Calibri"/>
                <a:sym typeface="Calibri"/>
              </a:rPr>
              <a:t>Controller and service logic</a:t>
            </a:r>
            <a:endParaRPr sz="1100" b="0" i="0" u="none" strike="noStrike" cap="none" dirty="0">
              <a:solidFill>
                <a:schemeClr val="dk1"/>
              </a:solidFill>
              <a:latin typeface="Calibri"/>
              <a:ea typeface="Calibri"/>
              <a:cs typeface="Calibri"/>
              <a:sym typeface="Calibri"/>
            </a:endParaRPr>
          </a:p>
          <a:p>
            <a:pPr marL="342900" marR="0" lvl="0" indent="-342900" algn="l" rtl="0">
              <a:spcBef>
                <a:spcPts val="500"/>
              </a:spcBef>
              <a:spcAft>
                <a:spcPts val="0"/>
              </a:spcAft>
              <a:buClr>
                <a:srgbClr val="1A2E3B"/>
              </a:buClr>
              <a:buSzPts val="1100"/>
              <a:buFont typeface="Calibri"/>
              <a:buChar char="•"/>
            </a:pPr>
            <a:r>
              <a:rPr lang="en-US" sz="1100" b="0" i="0" u="none" strike="noStrike" cap="none" dirty="0">
                <a:solidFill>
                  <a:srgbClr val="1A2E3B"/>
                </a:solidFill>
                <a:latin typeface="Calibri"/>
                <a:ea typeface="Calibri"/>
                <a:cs typeface="Calibri"/>
                <a:sym typeface="Calibri"/>
              </a:rPr>
              <a:t>Data access code</a:t>
            </a:r>
            <a:endParaRPr sz="1100" b="0" i="0" u="none" strike="noStrike" cap="none" dirty="0">
              <a:solidFill>
                <a:schemeClr val="dk1"/>
              </a:solidFill>
              <a:latin typeface="Calibri"/>
              <a:ea typeface="Calibri"/>
              <a:cs typeface="Calibri"/>
              <a:sym typeface="Calibri"/>
            </a:endParaRPr>
          </a:p>
        </p:txBody>
      </p:sp>
      <p:sp>
        <p:nvSpPr>
          <p:cNvPr id="5" name="Google Shape;103;p4">
            <a:extLst>
              <a:ext uri="{FF2B5EF4-FFF2-40B4-BE49-F238E27FC236}">
                <a16:creationId xmlns:a16="http://schemas.microsoft.com/office/drawing/2014/main" id="{2B3FADEB-FA14-8CC5-527E-A5D696AE3047}"/>
              </a:ext>
            </a:extLst>
          </p:cNvPr>
          <p:cNvSpPr/>
          <p:nvPr/>
        </p:nvSpPr>
        <p:spPr>
          <a:xfrm>
            <a:off x="5577840" y="3415348"/>
            <a:ext cx="3200400" cy="365760"/>
          </a:xfrm>
          <a:prstGeom prst="rect">
            <a:avLst/>
          </a:prstGeom>
          <a:solidFill>
            <a:srgbClr val="007B9E"/>
          </a:solidFill>
          <a:ln w="12700" cap="flat" cmpd="sng">
            <a:solidFill>
              <a:srgbClr val="007B9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104;p4">
            <a:extLst>
              <a:ext uri="{FF2B5EF4-FFF2-40B4-BE49-F238E27FC236}">
                <a16:creationId xmlns:a16="http://schemas.microsoft.com/office/drawing/2014/main" id="{0180DA69-30D6-E15D-9BC5-2358374C0102}"/>
              </a:ext>
            </a:extLst>
          </p:cNvPr>
          <p:cNvSpPr/>
          <p:nvPr/>
        </p:nvSpPr>
        <p:spPr>
          <a:xfrm>
            <a:off x="5577840" y="3415348"/>
            <a:ext cx="315468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System Dependencies</a:t>
            </a:r>
            <a:endParaRPr sz="1200" b="0" i="0" u="none" strike="noStrike" cap="none">
              <a:solidFill>
                <a:schemeClr val="dk1"/>
              </a:solidFill>
              <a:latin typeface="Calibri"/>
              <a:ea typeface="Calibri"/>
              <a:cs typeface="Calibri"/>
              <a:sym typeface="Calibri"/>
            </a:endParaRPr>
          </a:p>
        </p:txBody>
      </p:sp>
      <p:sp>
        <p:nvSpPr>
          <p:cNvPr id="15" name="Google Shape;102;p4">
            <a:extLst>
              <a:ext uri="{FF2B5EF4-FFF2-40B4-BE49-F238E27FC236}">
                <a16:creationId xmlns:a16="http://schemas.microsoft.com/office/drawing/2014/main" id="{FBBF58A5-728A-49EB-9D25-366A7B4DE87F}"/>
              </a:ext>
            </a:extLst>
          </p:cNvPr>
          <p:cNvSpPr/>
          <p:nvPr/>
        </p:nvSpPr>
        <p:spPr>
          <a:xfrm>
            <a:off x="5623560" y="3909124"/>
            <a:ext cx="3154680" cy="1051496"/>
          </a:xfrm>
          <a:prstGeom prst="rect">
            <a:avLst/>
          </a:prstGeom>
          <a:noFill/>
          <a:ln>
            <a:noFill/>
          </a:ln>
        </p:spPr>
        <p:txBody>
          <a:bodyPr spcFirstLastPara="1" wrap="square" lIns="0" tIns="63500" rIns="0" bIns="0" anchor="ctr" anchorCtr="0">
            <a:noAutofit/>
          </a:bodyPr>
          <a:lstStyle/>
          <a:p>
            <a:pPr marL="342900" indent="-342900">
              <a:buClr>
                <a:srgbClr val="1A2E3B"/>
              </a:buClr>
              <a:buSzPts val="1100"/>
              <a:buFont typeface="Calibri"/>
              <a:buChar char="•"/>
            </a:pPr>
            <a:r>
              <a:rPr lang="en-US" sz="1100" b="0" i="0" u="none" strike="noStrike" cap="none" dirty="0">
                <a:solidFill>
                  <a:srgbClr val="1A2E3B"/>
                </a:solidFill>
                <a:latin typeface="Calibri"/>
                <a:ea typeface="Calibri"/>
                <a:cs typeface="Calibri"/>
                <a:sym typeface="Calibri"/>
              </a:rPr>
              <a:t xml:space="preserve">Option 1 (local/self hosted) : (GPU-powered server, </a:t>
            </a:r>
            <a:r>
              <a:rPr lang="en-US" sz="1100" dirty="0">
                <a:solidFill>
                  <a:srgbClr val="1A2E3B"/>
                </a:solidFill>
                <a:latin typeface="Calibri"/>
                <a:ea typeface="Calibri"/>
                <a:cs typeface="Calibri"/>
                <a:sym typeface="Calibri"/>
              </a:rPr>
              <a:t>Kubernetes/Docker cluster</a:t>
            </a:r>
            <a:r>
              <a:rPr lang="en-US" sz="1100" dirty="0">
                <a:solidFill>
                  <a:schemeClr val="dk1"/>
                </a:solidFill>
                <a:latin typeface="Calibri"/>
                <a:ea typeface="Calibri"/>
                <a:cs typeface="Calibri"/>
                <a:sym typeface="Calibri"/>
              </a:rPr>
              <a:t xml:space="preserve">) </a:t>
            </a:r>
            <a:r>
              <a:rPr lang="en-US" sz="1100" dirty="0">
                <a:solidFill>
                  <a:schemeClr val="dk1"/>
                </a:solidFill>
                <a:latin typeface="Calibri"/>
                <a:ea typeface="Calibri"/>
                <a:cs typeface="Calibri"/>
                <a:sym typeface="Wingdings" panose="05000000000000000000" pitchFamily="2" charset="2"/>
              </a:rPr>
              <a:t></a:t>
            </a:r>
            <a:r>
              <a:rPr lang="en-US" sz="1100" dirty="0">
                <a:solidFill>
                  <a:schemeClr val="dk1"/>
                </a:solidFill>
                <a:latin typeface="Calibri"/>
                <a:ea typeface="Calibri"/>
                <a:cs typeface="Calibri"/>
                <a:sym typeface="Calibri"/>
              </a:rPr>
              <a:t xml:space="preserve"> </a:t>
            </a:r>
            <a:r>
              <a:rPr lang="en-US" sz="1100" dirty="0">
                <a:solidFill>
                  <a:srgbClr val="C00000"/>
                </a:solidFill>
                <a:latin typeface="Calibri"/>
                <a:ea typeface="Calibri"/>
                <a:cs typeface="Calibri"/>
                <a:sym typeface="Calibri"/>
              </a:rPr>
              <a:t>most secured</a:t>
            </a:r>
          </a:p>
          <a:p>
            <a:pPr marL="342900" indent="-342900">
              <a:buClr>
                <a:srgbClr val="1A2E3B"/>
              </a:buClr>
              <a:buSzPts val="1100"/>
              <a:buFont typeface="Calibri"/>
              <a:buChar char="•"/>
            </a:pPr>
            <a:r>
              <a:rPr lang="en-US" sz="1100" dirty="0">
                <a:solidFill>
                  <a:srgbClr val="1A2E3B"/>
                </a:solidFill>
                <a:latin typeface="Calibri"/>
                <a:ea typeface="Calibri"/>
                <a:cs typeface="Calibri"/>
                <a:sym typeface="Calibri"/>
              </a:rPr>
              <a:t>Option 2 (if integrated with Azure DevOps): (azure DevOps access (project), personal access token , git repository in Azure DevOps , pipeline agent)</a:t>
            </a:r>
            <a:r>
              <a:rPr lang="en-US" sz="1100" dirty="0">
                <a:solidFill>
                  <a:schemeClr val="dk1"/>
                </a:solidFill>
                <a:latin typeface="Calibri"/>
                <a:ea typeface="Calibri"/>
                <a:cs typeface="Calibri"/>
                <a:sym typeface="Calibri"/>
              </a:rPr>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6">
          <a:extLst>
            <a:ext uri="{FF2B5EF4-FFF2-40B4-BE49-F238E27FC236}">
              <a16:creationId xmlns:a16="http://schemas.microsoft.com/office/drawing/2014/main" id="{48FAA5B4-4027-C061-7A39-E017E6E9920C}"/>
            </a:ext>
          </a:extLst>
        </p:cNvPr>
        <p:cNvGrpSpPr/>
        <p:nvPr/>
      </p:nvGrpSpPr>
      <p:grpSpPr>
        <a:xfrm>
          <a:off x="0" y="0"/>
          <a:ext cx="0" cy="0"/>
          <a:chOff x="0" y="0"/>
          <a:chExt cx="0" cy="0"/>
        </a:xfrm>
      </p:grpSpPr>
      <p:sp>
        <p:nvSpPr>
          <p:cNvPr id="67" name="Google Shape;67;p3">
            <a:extLst>
              <a:ext uri="{FF2B5EF4-FFF2-40B4-BE49-F238E27FC236}">
                <a16:creationId xmlns:a16="http://schemas.microsoft.com/office/drawing/2014/main" id="{D89319B3-21DB-E40E-FFAB-862F07772DC9}"/>
              </a:ext>
            </a:extLst>
          </p:cNvPr>
          <p:cNvSpPr/>
          <p:nvPr/>
        </p:nvSpPr>
        <p:spPr>
          <a:xfrm>
            <a:off x="0" y="0"/>
            <a:ext cx="9144000" cy="1005840"/>
          </a:xfrm>
          <a:prstGeom prst="rect">
            <a:avLst/>
          </a:prstGeom>
          <a:solidFill>
            <a:srgbClr val="00567D"/>
          </a:solidFill>
          <a:ln w="12700" cap="flat" cmpd="sng">
            <a:solidFill>
              <a:srgbClr val="00567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3">
            <a:extLst>
              <a:ext uri="{FF2B5EF4-FFF2-40B4-BE49-F238E27FC236}">
                <a16:creationId xmlns:a16="http://schemas.microsoft.com/office/drawing/2014/main" id="{22C9D6F2-9558-09D9-E7EA-A3FBF69B6B13}"/>
              </a:ext>
            </a:extLst>
          </p:cNvPr>
          <p:cNvSpPr/>
          <p:nvPr/>
        </p:nvSpPr>
        <p:spPr>
          <a:xfrm>
            <a:off x="457200" y="228600"/>
            <a:ext cx="7315200"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200"/>
              <a:buFont typeface="Calibri"/>
              <a:buNone/>
            </a:pPr>
            <a:r>
              <a:rPr lang="en-US" sz="2200" b="1" i="0" u="none" strike="noStrike" cap="none" dirty="0">
                <a:solidFill>
                  <a:srgbClr val="FFFFFF"/>
                </a:solidFill>
                <a:latin typeface="Calibri"/>
                <a:ea typeface="Calibri"/>
                <a:cs typeface="Calibri"/>
                <a:sym typeface="Calibri"/>
              </a:rPr>
              <a:t>Ai Tool</a:t>
            </a:r>
            <a:endParaRPr sz="2200" b="0" i="0" u="none" strike="noStrike" cap="none" dirty="0">
              <a:solidFill>
                <a:schemeClr val="dk1"/>
              </a:solidFill>
              <a:latin typeface="Calibri"/>
              <a:ea typeface="Calibri"/>
              <a:cs typeface="Calibri"/>
              <a:sym typeface="Calibri"/>
            </a:endParaRPr>
          </a:p>
        </p:txBody>
      </p:sp>
      <p:sp>
        <p:nvSpPr>
          <p:cNvPr id="69" name="Google Shape;69;p3">
            <a:extLst>
              <a:ext uri="{FF2B5EF4-FFF2-40B4-BE49-F238E27FC236}">
                <a16:creationId xmlns:a16="http://schemas.microsoft.com/office/drawing/2014/main" id="{6CA12194-7A4B-176C-9DDA-51AE09352161}"/>
              </a:ext>
            </a:extLst>
          </p:cNvPr>
          <p:cNvSpPr/>
          <p:nvPr/>
        </p:nvSpPr>
        <p:spPr>
          <a:xfrm>
            <a:off x="7498080" y="182880"/>
            <a:ext cx="1463040" cy="548640"/>
          </a:xfrm>
          <a:prstGeom prst="rect">
            <a:avLst/>
          </a:prstGeom>
          <a:solidFill>
            <a:srgbClr val="00A1C2"/>
          </a:solidFill>
          <a:ln w="12700" cap="flat" cmpd="sng">
            <a:solidFill>
              <a:srgbClr val="00A1C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3">
            <a:extLst>
              <a:ext uri="{FF2B5EF4-FFF2-40B4-BE49-F238E27FC236}">
                <a16:creationId xmlns:a16="http://schemas.microsoft.com/office/drawing/2014/main" id="{E9E0AA31-FC2A-5B1A-1347-AD891778F275}"/>
              </a:ext>
            </a:extLst>
          </p:cNvPr>
          <p:cNvSpPr/>
          <p:nvPr/>
        </p:nvSpPr>
        <p:spPr>
          <a:xfrm>
            <a:off x="7498080" y="182880"/>
            <a:ext cx="1463040" cy="5486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n-US" sz="900" b="1" i="0" u="none" strike="noStrike" cap="none">
                <a:solidFill>
                  <a:srgbClr val="FFFFFF"/>
                </a:solidFill>
                <a:latin typeface="Calibri"/>
                <a:ea typeface="Calibri"/>
                <a:cs typeface="Calibri"/>
                <a:sym typeface="Calibri"/>
              </a:rPr>
              <a:t>Dubai Health</a:t>
            </a:r>
            <a:endParaRPr sz="900" b="0" i="0" u="none" strike="noStrike" cap="none">
              <a:solidFill>
                <a:schemeClr val="dk1"/>
              </a:solidFill>
              <a:latin typeface="Calibri"/>
              <a:ea typeface="Calibri"/>
              <a:cs typeface="Calibri"/>
              <a:sym typeface="Calibri"/>
            </a:endParaRPr>
          </a:p>
        </p:txBody>
      </p:sp>
      <p:sp>
        <p:nvSpPr>
          <p:cNvPr id="71" name="Google Shape;71;p3">
            <a:extLst>
              <a:ext uri="{FF2B5EF4-FFF2-40B4-BE49-F238E27FC236}">
                <a16:creationId xmlns:a16="http://schemas.microsoft.com/office/drawing/2014/main" id="{4A96BCEE-EA9B-F6C4-915D-F4593A3FB2F0}"/>
              </a:ext>
            </a:extLst>
          </p:cNvPr>
          <p:cNvSpPr/>
          <p:nvPr/>
        </p:nvSpPr>
        <p:spPr>
          <a:xfrm>
            <a:off x="365760" y="1097280"/>
            <a:ext cx="4457378" cy="365760"/>
          </a:xfrm>
          <a:prstGeom prst="rect">
            <a:avLst/>
          </a:prstGeom>
          <a:solidFill>
            <a:srgbClr val="007B9E"/>
          </a:solidFill>
          <a:ln w="12700" cap="flat" cmpd="sng">
            <a:solidFill>
              <a:srgbClr val="007B9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3">
            <a:extLst>
              <a:ext uri="{FF2B5EF4-FFF2-40B4-BE49-F238E27FC236}">
                <a16:creationId xmlns:a16="http://schemas.microsoft.com/office/drawing/2014/main" id="{BB8906A1-105D-38B2-022D-43B92EFD4FC2}"/>
              </a:ext>
            </a:extLst>
          </p:cNvPr>
          <p:cNvSpPr/>
          <p:nvPr/>
        </p:nvSpPr>
        <p:spPr>
          <a:xfrm>
            <a:off x="365760" y="1097280"/>
            <a:ext cx="5029200" cy="365760"/>
          </a:xfrm>
          <a:prstGeom prst="rect">
            <a:avLst/>
          </a:prstGeom>
          <a:noFill/>
          <a:ln>
            <a:noFill/>
          </a:ln>
        </p:spPr>
        <p:txBody>
          <a:bodyPr spcFirstLastPara="1" wrap="square" lIns="0" tIns="0" rIns="0" bIns="0" anchor="ctr" anchorCtr="0">
            <a:noAutofit/>
          </a:bodyPr>
          <a:lstStyle/>
          <a:p>
            <a:pPr lvl="0" algn="ctr">
              <a:buClr>
                <a:srgbClr val="FFFFFF"/>
              </a:buClr>
              <a:buSzPts val="1300"/>
            </a:pPr>
            <a:r>
              <a:rPr lang="en-US" sz="1300" b="1" dirty="0">
                <a:solidFill>
                  <a:srgbClr val="FFFFFF"/>
                </a:solidFill>
                <a:latin typeface="Calibri"/>
                <a:ea typeface="Calibri"/>
                <a:cs typeface="Calibri"/>
              </a:rPr>
              <a:t>CodeAnt</a:t>
            </a:r>
            <a:endParaRPr sz="1300" b="1" dirty="0">
              <a:solidFill>
                <a:srgbClr val="FFFFFF"/>
              </a:solidFill>
              <a:latin typeface="Calibri"/>
              <a:ea typeface="Calibri"/>
              <a:cs typeface="Calibri"/>
              <a:sym typeface="Calibri"/>
            </a:endParaRPr>
          </a:p>
        </p:txBody>
      </p:sp>
      <p:sp>
        <p:nvSpPr>
          <p:cNvPr id="73" name="Google Shape;73;p3">
            <a:extLst>
              <a:ext uri="{FF2B5EF4-FFF2-40B4-BE49-F238E27FC236}">
                <a16:creationId xmlns:a16="http://schemas.microsoft.com/office/drawing/2014/main" id="{42513FF4-AFF9-141E-95DF-F1373257F7B2}"/>
              </a:ext>
            </a:extLst>
          </p:cNvPr>
          <p:cNvSpPr/>
          <p:nvPr/>
        </p:nvSpPr>
        <p:spPr>
          <a:xfrm>
            <a:off x="457200" y="1554480"/>
            <a:ext cx="4365938" cy="1719072"/>
          </a:xfrm>
          <a:prstGeom prst="rect">
            <a:avLst/>
          </a:prstGeom>
          <a:noFill/>
          <a:ln>
            <a:noFill/>
          </a:ln>
        </p:spPr>
        <p:txBody>
          <a:bodyPr spcFirstLastPara="1" wrap="square" lIns="0" tIns="63500" rIns="0" bIns="0" anchor="ctr" anchorCtr="0">
            <a:noAutofit/>
          </a:bodyPr>
          <a:lstStyle/>
          <a:p>
            <a:pPr marL="342900" marR="0" lvl="0" indent="-342900" algn="l" rtl="0">
              <a:spcBef>
                <a:spcPts val="0"/>
              </a:spcBef>
              <a:spcAft>
                <a:spcPts val="0"/>
              </a:spcAft>
              <a:buClr>
                <a:srgbClr val="1A2E3B"/>
              </a:buClr>
              <a:buSzPts val="1100"/>
              <a:buFont typeface="Calibri"/>
              <a:buChar char="•"/>
            </a:pPr>
            <a:endParaRPr sz="1100" b="0" i="0" u="none" strike="noStrike" cap="none" dirty="0">
              <a:solidFill>
                <a:schemeClr val="dk1"/>
              </a:solidFill>
              <a:latin typeface="Calibri"/>
              <a:ea typeface="Calibri"/>
              <a:cs typeface="Calibri"/>
              <a:sym typeface="Calibri"/>
            </a:endParaRPr>
          </a:p>
        </p:txBody>
      </p:sp>
      <p:sp>
        <p:nvSpPr>
          <p:cNvPr id="74" name="Google Shape;74;p3">
            <a:extLst>
              <a:ext uri="{FF2B5EF4-FFF2-40B4-BE49-F238E27FC236}">
                <a16:creationId xmlns:a16="http://schemas.microsoft.com/office/drawing/2014/main" id="{BFF47B77-CF3E-88B2-2E6A-3B6998EB37CE}"/>
              </a:ext>
            </a:extLst>
          </p:cNvPr>
          <p:cNvSpPr/>
          <p:nvPr/>
        </p:nvSpPr>
        <p:spPr>
          <a:xfrm>
            <a:off x="4906851" y="1097280"/>
            <a:ext cx="3871389" cy="365760"/>
          </a:xfrm>
          <a:prstGeom prst="rect">
            <a:avLst/>
          </a:prstGeom>
          <a:solidFill>
            <a:srgbClr val="007B9E"/>
          </a:solidFill>
          <a:ln w="12700" cap="flat" cmpd="sng">
            <a:solidFill>
              <a:srgbClr val="007B9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3">
            <a:extLst>
              <a:ext uri="{FF2B5EF4-FFF2-40B4-BE49-F238E27FC236}">
                <a16:creationId xmlns:a16="http://schemas.microsoft.com/office/drawing/2014/main" id="{F5E0C6B7-BBA2-098A-23B5-991D9B9239C4}"/>
              </a:ext>
            </a:extLst>
          </p:cNvPr>
          <p:cNvSpPr/>
          <p:nvPr/>
        </p:nvSpPr>
        <p:spPr>
          <a:xfrm>
            <a:off x="5577840" y="1097280"/>
            <a:ext cx="3200400" cy="365760"/>
          </a:xfrm>
          <a:prstGeom prst="rect">
            <a:avLst/>
          </a:prstGeom>
          <a:noFill/>
          <a:ln>
            <a:noFill/>
          </a:ln>
        </p:spPr>
        <p:txBody>
          <a:bodyPr spcFirstLastPara="1" wrap="square" lIns="0" tIns="0" rIns="0" bIns="0" anchor="ctr" anchorCtr="0">
            <a:noAutofit/>
          </a:bodyPr>
          <a:lstStyle/>
          <a:p>
            <a:pPr lvl="0" algn="ctr">
              <a:buClr>
                <a:srgbClr val="FFFFFF"/>
              </a:buClr>
              <a:buSzPts val="1300"/>
            </a:pPr>
            <a:r>
              <a:rPr lang="en-US" sz="1300" b="1" dirty="0">
                <a:solidFill>
                  <a:srgbClr val="FFFFFF"/>
                </a:solidFill>
                <a:latin typeface="Calibri"/>
                <a:ea typeface="Calibri"/>
                <a:cs typeface="Calibri"/>
                <a:sym typeface="Calibri"/>
              </a:rPr>
              <a:t>Why CodeAnt</a:t>
            </a:r>
            <a:endParaRPr sz="1300" b="1" dirty="0">
              <a:solidFill>
                <a:srgbClr val="FFFFFF"/>
              </a:solidFill>
              <a:latin typeface="Calibri"/>
              <a:ea typeface="Calibri"/>
              <a:cs typeface="Calibri"/>
              <a:sym typeface="Calibri"/>
            </a:endParaRPr>
          </a:p>
        </p:txBody>
      </p:sp>
      <p:sp>
        <p:nvSpPr>
          <p:cNvPr id="76" name="Google Shape;76;p3">
            <a:extLst>
              <a:ext uri="{FF2B5EF4-FFF2-40B4-BE49-F238E27FC236}">
                <a16:creationId xmlns:a16="http://schemas.microsoft.com/office/drawing/2014/main" id="{612EA18A-2B3A-4EEC-FC8E-9202E9F03583}"/>
              </a:ext>
            </a:extLst>
          </p:cNvPr>
          <p:cNvSpPr/>
          <p:nvPr/>
        </p:nvSpPr>
        <p:spPr>
          <a:xfrm>
            <a:off x="4906851" y="1572768"/>
            <a:ext cx="3871389" cy="384048"/>
          </a:xfrm>
          <a:prstGeom prst="rect">
            <a:avLst/>
          </a:prstGeom>
          <a:solidFill>
            <a:srgbClr val="EBF7FC"/>
          </a:solidFill>
          <a:ln w="9525" cap="flat" cmpd="sng">
            <a:solidFill>
              <a:srgbClr val="D0E8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 name="Google Shape;77;p3">
            <a:extLst>
              <a:ext uri="{FF2B5EF4-FFF2-40B4-BE49-F238E27FC236}">
                <a16:creationId xmlns:a16="http://schemas.microsoft.com/office/drawing/2014/main" id="{83D55735-8538-2925-FA79-D02701CEF30C}"/>
              </a:ext>
            </a:extLst>
          </p:cNvPr>
          <p:cNvSpPr/>
          <p:nvPr/>
        </p:nvSpPr>
        <p:spPr>
          <a:xfrm>
            <a:off x="4999321" y="1664208"/>
            <a:ext cx="201168" cy="201168"/>
          </a:xfrm>
          <a:prstGeom prst="ellipse">
            <a:avLst/>
          </a:prstGeom>
          <a:solidFill>
            <a:srgbClr val="00567D"/>
          </a:solidFill>
          <a:ln w="12700" cap="flat" cmpd="sng">
            <a:solidFill>
              <a:srgbClr val="00567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3">
            <a:extLst>
              <a:ext uri="{FF2B5EF4-FFF2-40B4-BE49-F238E27FC236}">
                <a16:creationId xmlns:a16="http://schemas.microsoft.com/office/drawing/2014/main" id="{CEDE59E9-6581-883B-D69C-E6B6B7D073B4}"/>
              </a:ext>
            </a:extLst>
          </p:cNvPr>
          <p:cNvSpPr/>
          <p:nvPr/>
        </p:nvSpPr>
        <p:spPr>
          <a:xfrm>
            <a:off x="5292959" y="1618488"/>
            <a:ext cx="3439561" cy="310896"/>
          </a:xfrm>
          <a:prstGeom prst="rect">
            <a:avLst/>
          </a:prstGeom>
          <a:noFill/>
          <a:ln>
            <a:noFill/>
          </a:ln>
        </p:spPr>
        <p:txBody>
          <a:bodyPr spcFirstLastPara="1" wrap="square" lIns="0" tIns="0" rIns="0" bIns="0" anchor="ctr" anchorCtr="0">
            <a:noAutofit/>
          </a:bodyPr>
          <a:lstStyle/>
          <a:p>
            <a:pPr lvl="0">
              <a:buClr>
                <a:srgbClr val="1A2E3B"/>
              </a:buClr>
              <a:buSzPts val="1100"/>
            </a:pPr>
            <a:r>
              <a:rPr lang="en-US" sz="1100" b="1" dirty="0">
                <a:solidFill>
                  <a:srgbClr val="1A2E3B"/>
                </a:solidFill>
                <a:latin typeface="Calibri"/>
                <a:ea typeface="Calibri"/>
                <a:cs typeface="Calibri"/>
                <a:sym typeface="Calibri"/>
              </a:rPr>
              <a:t>SOC2 (</a:t>
            </a:r>
            <a:r>
              <a:rPr lang="en-US" sz="900" dirty="0">
                <a:solidFill>
                  <a:srgbClr val="1A2E3B"/>
                </a:solidFill>
                <a:latin typeface="Calibri"/>
                <a:ea typeface="Calibri"/>
                <a:cs typeface="Calibri"/>
                <a:sym typeface="Calibri"/>
              </a:rPr>
              <a:t>protect customer data</a:t>
            </a:r>
            <a:r>
              <a:rPr lang="en-US" sz="1100" b="1" dirty="0">
                <a:solidFill>
                  <a:srgbClr val="1A2E3B"/>
                </a:solidFill>
                <a:latin typeface="Calibri"/>
                <a:ea typeface="Calibri"/>
                <a:cs typeface="Calibri"/>
                <a:sym typeface="Calibri"/>
              </a:rPr>
              <a:t>)&amp; HIPAA (</a:t>
            </a:r>
            <a:r>
              <a:rPr lang="en-US" sz="900" dirty="0">
                <a:solidFill>
                  <a:srgbClr val="1A2E3B"/>
                </a:solidFill>
                <a:latin typeface="Calibri"/>
                <a:ea typeface="Calibri"/>
                <a:cs typeface="Calibri"/>
                <a:sym typeface="Calibri"/>
              </a:rPr>
              <a:t>protect healthcare data</a:t>
            </a:r>
            <a:r>
              <a:rPr lang="en-US" sz="1100" b="1" dirty="0">
                <a:solidFill>
                  <a:srgbClr val="1A2E3B"/>
                </a:solidFill>
                <a:latin typeface="Calibri"/>
                <a:ea typeface="Calibri"/>
                <a:cs typeface="Calibri"/>
                <a:sym typeface="Calibri"/>
              </a:rPr>
              <a:t>) Compliant</a:t>
            </a:r>
            <a:endParaRPr sz="1100" b="1" dirty="0">
              <a:solidFill>
                <a:srgbClr val="1A2E3B"/>
              </a:solidFill>
              <a:latin typeface="Calibri"/>
              <a:ea typeface="Calibri"/>
              <a:cs typeface="Calibri"/>
              <a:sym typeface="Calibri"/>
            </a:endParaRPr>
          </a:p>
        </p:txBody>
      </p:sp>
      <p:sp>
        <p:nvSpPr>
          <p:cNvPr id="79" name="Google Shape;79;p3">
            <a:extLst>
              <a:ext uri="{FF2B5EF4-FFF2-40B4-BE49-F238E27FC236}">
                <a16:creationId xmlns:a16="http://schemas.microsoft.com/office/drawing/2014/main" id="{13964FE3-B352-818B-05F1-24151B8FF240}"/>
              </a:ext>
            </a:extLst>
          </p:cNvPr>
          <p:cNvSpPr/>
          <p:nvPr/>
        </p:nvSpPr>
        <p:spPr>
          <a:xfrm>
            <a:off x="4906851" y="2029968"/>
            <a:ext cx="3871389" cy="384048"/>
          </a:xfrm>
          <a:prstGeom prst="rect">
            <a:avLst/>
          </a:prstGeom>
          <a:solidFill>
            <a:srgbClr val="EBF7FC"/>
          </a:solidFill>
          <a:ln w="9525" cap="flat" cmpd="sng">
            <a:solidFill>
              <a:srgbClr val="D0E8F0"/>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80" name="Google Shape;80;p3">
            <a:extLst>
              <a:ext uri="{FF2B5EF4-FFF2-40B4-BE49-F238E27FC236}">
                <a16:creationId xmlns:a16="http://schemas.microsoft.com/office/drawing/2014/main" id="{F8DB461C-6B9A-44CC-DA84-68444ABF033A}"/>
              </a:ext>
            </a:extLst>
          </p:cNvPr>
          <p:cNvSpPr/>
          <p:nvPr/>
        </p:nvSpPr>
        <p:spPr>
          <a:xfrm>
            <a:off x="4999321" y="2110010"/>
            <a:ext cx="201168" cy="201168"/>
          </a:xfrm>
          <a:prstGeom prst="ellipse">
            <a:avLst/>
          </a:prstGeom>
          <a:solidFill>
            <a:srgbClr val="00567D"/>
          </a:solidFill>
          <a:ln w="12700" cap="flat" cmpd="sng">
            <a:solidFill>
              <a:srgbClr val="00567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3">
            <a:extLst>
              <a:ext uri="{FF2B5EF4-FFF2-40B4-BE49-F238E27FC236}">
                <a16:creationId xmlns:a16="http://schemas.microsoft.com/office/drawing/2014/main" id="{9DF17CD1-1C37-B3D4-0062-7CB37CF0E299}"/>
              </a:ext>
            </a:extLst>
          </p:cNvPr>
          <p:cNvSpPr/>
          <p:nvPr/>
        </p:nvSpPr>
        <p:spPr>
          <a:xfrm>
            <a:off x="5292959" y="2066544"/>
            <a:ext cx="3439561" cy="31089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2E3B"/>
              </a:buClr>
              <a:buSzPts val="1100"/>
              <a:buFont typeface="Calibri"/>
              <a:buNone/>
            </a:pPr>
            <a:r>
              <a:rPr lang="en-US" sz="1100" b="1" dirty="0">
                <a:solidFill>
                  <a:srgbClr val="1A2E3B"/>
                </a:solidFill>
                <a:latin typeface="Calibri"/>
                <a:ea typeface="Calibri"/>
                <a:cs typeface="Calibri"/>
                <a:sym typeface="Calibri"/>
              </a:rPr>
              <a:t>Real-time feedback :</a:t>
            </a:r>
            <a:r>
              <a:rPr lang="en-US" sz="1100" dirty="0">
                <a:solidFill>
                  <a:srgbClr val="1A2E3B"/>
                </a:solidFill>
                <a:latin typeface="Calibri"/>
                <a:ea typeface="Calibri"/>
                <a:cs typeface="Calibri"/>
                <a:sym typeface="Calibri"/>
              </a:rPr>
              <a:t xml:space="preserve"> during the development phase beside masking sensitive data in review report</a:t>
            </a:r>
            <a:endParaRPr sz="1100" b="0" i="0" u="none" strike="noStrike" cap="none" dirty="0">
              <a:solidFill>
                <a:schemeClr val="dk1"/>
              </a:solidFill>
              <a:latin typeface="Calibri"/>
              <a:ea typeface="Calibri"/>
              <a:cs typeface="Calibri"/>
              <a:sym typeface="Calibri"/>
            </a:endParaRPr>
          </a:p>
        </p:txBody>
      </p:sp>
      <p:sp>
        <p:nvSpPr>
          <p:cNvPr id="82" name="Google Shape;82;p3">
            <a:extLst>
              <a:ext uri="{FF2B5EF4-FFF2-40B4-BE49-F238E27FC236}">
                <a16:creationId xmlns:a16="http://schemas.microsoft.com/office/drawing/2014/main" id="{60E04220-2D97-D168-9F08-F3D437367274}"/>
              </a:ext>
            </a:extLst>
          </p:cNvPr>
          <p:cNvSpPr/>
          <p:nvPr/>
        </p:nvSpPr>
        <p:spPr>
          <a:xfrm>
            <a:off x="4906851" y="2468880"/>
            <a:ext cx="3871389" cy="594360"/>
          </a:xfrm>
          <a:prstGeom prst="rect">
            <a:avLst/>
          </a:prstGeom>
          <a:solidFill>
            <a:srgbClr val="EBF7FC"/>
          </a:solidFill>
          <a:ln w="9525" cap="flat" cmpd="sng">
            <a:solidFill>
              <a:srgbClr val="D0E8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3">
            <a:extLst>
              <a:ext uri="{FF2B5EF4-FFF2-40B4-BE49-F238E27FC236}">
                <a16:creationId xmlns:a16="http://schemas.microsoft.com/office/drawing/2014/main" id="{3F95EE29-9449-DE39-C13D-B82863F94CEB}"/>
              </a:ext>
            </a:extLst>
          </p:cNvPr>
          <p:cNvSpPr/>
          <p:nvPr/>
        </p:nvSpPr>
        <p:spPr>
          <a:xfrm>
            <a:off x="4999321" y="2564892"/>
            <a:ext cx="201168" cy="201168"/>
          </a:xfrm>
          <a:prstGeom prst="ellipse">
            <a:avLst/>
          </a:prstGeom>
          <a:solidFill>
            <a:srgbClr val="00567D"/>
          </a:solidFill>
          <a:ln w="12700" cap="flat" cmpd="sng">
            <a:solidFill>
              <a:srgbClr val="00567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3">
            <a:extLst>
              <a:ext uri="{FF2B5EF4-FFF2-40B4-BE49-F238E27FC236}">
                <a16:creationId xmlns:a16="http://schemas.microsoft.com/office/drawing/2014/main" id="{11C7BD4B-0EFB-6FA7-75BB-D95211315F5E}"/>
              </a:ext>
            </a:extLst>
          </p:cNvPr>
          <p:cNvSpPr/>
          <p:nvPr/>
        </p:nvSpPr>
        <p:spPr>
          <a:xfrm>
            <a:off x="5292959" y="2514600"/>
            <a:ext cx="3439561" cy="470980"/>
          </a:xfrm>
          <a:prstGeom prst="rect">
            <a:avLst/>
          </a:prstGeom>
          <a:noFill/>
          <a:ln>
            <a:noFill/>
          </a:ln>
        </p:spPr>
        <p:txBody>
          <a:bodyPr spcFirstLastPara="1" wrap="square" lIns="0" tIns="0" rIns="0" bIns="0" anchor="ctr" anchorCtr="0">
            <a:noAutofit/>
          </a:bodyPr>
          <a:lstStyle/>
          <a:p>
            <a:pPr marL="0" marR="0" lvl="0" indent="0" algn="l">
              <a:spcBef>
                <a:spcPts val="0"/>
              </a:spcBef>
              <a:spcAft>
                <a:spcPts val="0"/>
              </a:spcAft>
              <a:buClr>
                <a:srgbClr val="1A2E3B"/>
              </a:buClr>
              <a:buSzPts val="1100"/>
              <a:buFont typeface="Calibri"/>
              <a:buNone/>
            </a:pPr>
            <a:r>
              <a:rPr lang="en-US" sz="1100" b="1" i="0" u="none" strike="noStrike" cap="none" dirty="0">
                <a:solidFill>
                  <a:schemeClr val="dk1"/>
                </a:solidFill>
                <a:latin typeface="Calibri"/>
                <a:ea typeface="Calibri"/>
                <a:cs typeface="Calibri"/>
                <a:sym typeface="Calibri"/>
              </a:rPr>
              <a:t>Architecture-aware</a:t>
            </a:r>
            <a:r>
              <a:rPr lang="en-US" sz="1100" b="0" i="0" u="none" strike="noStrike" cap="none" dirty="0">
                <a:solidFill>
                  <a:schemeClr val="dk1"/>
                </a:solidFill>
                <a:latin typeface="Calibri"/>
                <a:ea typeface="Calibri"/>
                <a:cs typeface="Calibri"/>
                <a:sym typeface="Calibri"/>
              </a:rPr>
              <a:t xml:space="preserve"> -&gt; it understands how different parts our system interact, not just individual files , we can add custom prompts rules.</a:t>
            </a:r>
            <a:endParaRPr sz="1100" b="0" i="0" u="none" strike="noStrike" cap="none" dirty="0">
              <a:solidFill>
                <a:schemeClr val="dk1"/>
              </a:solidFill>
              <a:latin typeface="Calibri"/>
              <a:ea typeface="Calibri"/>
              <a:cs typeface="Calibri"/>
              <a:sym typeface="Calibri"/>
            </a:endParaRPr>
          </a:p>
        </p:txBody>
      </p:sp>
      <p:sp>
        <p:nvSpPr>
          <p:cNvPr id="88" name="Google Shape;88;p3">
            <a:extLst>
              <a:ext uri="{FF2B5EF4-FFF2-40B4-BE49-F238E27FC236}">
                <a16:creationId xmlns:a16="http://schemas.microsoft.com/office/drawing/2014/main" id="{0B0042A9-A59E-EA4C-21E0-8F5BA35AB2F7}"/>
              </a:ext>
            </a:extLst>
          </p:cNvPr>
          <p:cNvSpPr/>
          <p:nvPr/>
        </p:nvSpPr>
        <p:spPr>
          <a:xfrm>
            <a:off x="4906851" y="3172967"/>
            <a:ext cx="3871389" cy="1741933"/>
          </a:xfrm>
          <a:prstGeom prst="rect">
            <a:avLst/>
          </a:prstGeom>
          <a:solidFill>
            <a:srgbClr val="EBF7FC"/>
          </a:solidFill>
          <a:ln w="9525" cap="flat" cmpd="sng">
            <a:solidFill>
              <a:srgbClr val="D0E8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9" name="Google Shape;89;p3">
            <a:extLst>
              <a:ext uri="{FF2B5EF4-FFF2-40B4-BE49-F238E27FC236}">
                <a16:creationId xmlns:a16="http://schemas.microsoft.com/office/drawing/2014/main" id="{BA88A22F-56AD-82F0-023A-B7958BF507E0}"/>
              </a:ext>
            </a:extLst>
          </p:cNvPr>
          <p:cNvSpPr/>
          <p:nvPr/>
        </p:nvSpPr>
        <p:spPr>
          <a:xfrm>
            <a:off x="4999321" y="3273552"/>
            <a:ext cx="201168" cy="201168"/>
          </a:xfrm>
          <a:prstGeom prst="ellipse">
            <a:avLst/>
          </a:prstGeom>
          <a:solidFill>
            <a:srgbClr val="00567D"/>
          </a:solidFill>
          <a:ln w="12700" cap="flat" cmpd="sng">
            <a:solidFill>
              <a:srgbClr val="00567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3">
            <a:extLst>
              <a:ext uri="{FF2B5EF4-FFF2-40B4-BE49-F238E27FC236}">
                <a16:creationId xmlns:a16="http://schemas.microsoft.com/office/drawing/2014/main" id="{F209EEF4-791D-B67B-79FA-63A681A038B7}"/>
              </a:ext>
            </a:extLst>
          </p:cNvPr>
          <p:cNvSpPr/>
          <p:nvPr/>
        </p:nvSpPr>
        <p:spPr>
          <a:xfrm>
            <a:off x="5292959" y="3218688"/>
            <a:ext cx="3439561" cy="16962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2E3B"/>
              </a:buClr>
              <a:buSzPts val="1100"/>
              <a:buFont typeface="Calibri"/>
              <a:buNone/>
            </a:pPr>
            <a:r>
              <a:rPr lang="en-US" sz="1100" b="1" i="0" u="none" strike="noStrike" cap="none" dirty="0">
                <a:solidFill>
                  <a:srgbClr val="1A2E3B"/>
                </a:solidFill>
                <a:latin typeface="Calibri"/>
                <a:ea typeface="Calibri"/>
                <a:cs typeface="Calibri"/>
                <a:sym typeface="Calibri"/>
              </a:rPr>
              <a:t xml:space="preserve">UAE Compliance &amp; </a:t>
            </a:r>
            <a:r>
              <a:rPr lang="en-US" sz="1100" b="1" dirty="0">
                <a:solidFill>
                  <a:srgbClr val="1A2E3B"/>
                </a:solidFill>
                <a:latin typeface="Calibri"/>
                <a:ea typeface="Calibri"/>
                <a:cs typeface="Calibri"/>
                <a:sym typeface="Calibri"/>
              </a:rPr>
              <a:t xml:space="preserve">Data Sovereignty </a:t>
            </a:r>
            <a:r>
              <a:rPr lang="en-US" sz="1100" dirty="0">
                <a:solidFill>
                  <a:srgbClr val="1A2E3B"/>
                </a:solidFill>
                <a:latin typeface="Calibri"/>
                <a:ea typeface="Calibri"/>
                <a:cs typeface="Calibri"/>
                <a:sym typeface="Calibri"/>
              </a:rPr>
              <a:t>:</a:t>
            </a:r>
            <a:br>
              <a:rPr lang="en-US" sz="1100" dirty="0">
                <a:solidFill>
                  <a:srgbClr val="1A2E3B"/>
                </a:solidFill>
                <a:latin typeface="Calibri"/>
                <a:ea typeface="Calibri"/>
                <a:cs typeface="Calibri"/>
                <a:sym typeface="Calibri"/>
              </a:rPr>
            </a:br>
            <a:r>
              <a:rPr lang="en-US" sz="1100" dirty="0">
                <a:solidFill>
                  <a:srgbClr val="1A2E3B"/>
                </a:solidFill>
                <a:latin typeface="Calibri"/>
                <a:ea typeface="Calibri"/>
                <a:cs typeface="Calibri"/>
                <a:sym typeface="Calibri"/>
              </a:rPr>
              <a:t>since CodeAnt offers self-hosted/on-premise version, our source never leaves our internal network. This ensures 100% compliance with local data protection regulations and internal security policies. It also offer dashboard that provides management with high-level visibility into the ‘technical debt’ and the overall health of our codebase.</a:t>
            </a:r>
            <a:br>
              <a:rPr lang="en-US" sz="1100" dirty="0">
                <a:solidFill>
                  <a:srgbClr val="1A2E3B"/>
                </a:solidFill>
                <a:latin typeface="Calibri"/>
                <a:ea typeface="Calibri"/>
                <a:cs typeface="Calibri"/>
                <a:sym typeface="Calibri"/>
              </a:rPr>
            </a:br>
            <a:r>
              <a:rPr lang="en-US" sz="1100" b="0" i="0" u="none" strike="noStrike" cap="none" dirty="0">
                <a:solidFill>
                  <a:srgbClr val="1A2E3B"/>
                </a:solidFill>
                <a:latin typeface="Calibri"/>
                <a:ea typeface="Calibri"/>
                <a:cs typeface="Calibri"/>
                <a:sym typeface="Calibri"/>
              </a:rPr>
              <a:t>We can use it without internet</a:t>
            </a:r>
            <a:endParaRPr sz="1100" b="0" i="0" u="none" strike="noStrike" cap="none" dirty="0">
              <a:solidFill>
                <a:schemeClr val="dk1"/>
              </a:solidFill>
              <a:latin typeface="Calibri"/>
              <a:ea typeface="Calibri"/>
              <a:cs typeface="Calibri"/>
              <a:sym typeface="Calibri"/>
            </a:endParaRPr>
          </a:p>
        </p:txBody>
      </p:sp>
      <p:sp>
        <p:nvSpPr>
          <p:cNvPr id="3" name="Google Shape;101;p4">
            <a:extLst>
              <a:ext uri="{FF2B5EF4-FFF2-40B4-BE49-F238E27FC236}">
                <a16:creationId xmlns:a16="http://schemas.microsoft.com/office/drawing/2014/main" id="{7546C24E-A88F-426C-9566-AE3D24DA0DC9}"/>
              </a:ext>
            </a:extLst>
          </p:cNvPr>
          <p:cNvSpPr/>
          <p:nvPr/>
        </p:nvSpPr>
        <p:spPr>
          <a:xfrm>
            <a:off x="320040" y="3415348"/>
            <a:ext cx="402336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Data Requirement (Data Type)</a:t>
            </a:r>
            <a:endParaRPr sz="1200" b="0" i="0" u="none" strike="noStrike" cap="none">
              <a:solidFill>
                <a:schemeClr val="dk1"/>
              </a:solidFill>
              <a:latin typeface="Calibri"/>
              <a:ea typeface="Calibri"/>
              <a:cs typeface="Calibri"/>
              <a:sym typeface="Calibri"/>
            </a:endParaRPr>
          </a:p>
        </p:txBody>
      </p:sp>
      <p:sp>
        <p:nvSpPr>
          <p:cNvPr id="4" name="Google Shape;102;p4">
            <a:extLst>
              <a:ext uri="{FF2B5EF4-FFF2-40B4-BE49-F238E27FC236}">
                <a16:creationId xmlns:a16="http://schemas.microsoft.com/office/drawing/2014/main" id="{419E2373-3924-BA16-BD4D-40E4F40A7A80}"/>
              </a:ext>
            </a:extLst>
          </p:cNvPr>
          <p:cNvSpPr/>
          <p:nvPr/>
        </p:nvSpPr>
        <p:spPr>
          <a:xfrm>
            <a:off x="457200" y="1655064"/>
            <a:ext cx="4365938" cy="1719072"/>
          </a:xfrm>
          <a:prstGeom prst="rect">
            <a:avLst/>
          </a:prstGeom>
          <a:noFill/>
          <a:ln>
            <a:noFill/>
          </a:ln>
        </p:spPr>
        <p:txBody>
          <a:bodyPr spcFirstLastPara="1" wrap="square" lIns="0" tIns="63500" rIns="0" bIns="0" anchor="ctr" anchorCtr="0">
            <a:noAutofit/>
          </a:bodyPr>
          <a:lstStyle/>
          <a:p>
            <a:pPr marL="342900" lvl="0" indent="-342900">
              <a:buClr>
                <a:srgbClr val="1A2E3B"/>
              </a:buClr>
              <a:buSzPts val="1100"/>
              <a:buFont typeface="Calibri"/>
              <a:buChar char="•"/>
            </a:pPr>
            <a:r>
              <a:rPr lang="en-US" sz="1100" dirty="0">
                <a:solidFill>
                  <a:srgbClr val="1A2E3B"/>
                </a:solidFill>
                <a:latin typeface="Calibri"/>
                <a:ea typeface="Calibri"/>
                <a:cs typeface="Calibri"/>
              </a:rPr>
              <a:t>CodeAnt :</a:t>
            </a:r>
            <a:r>
              <a:rPr lang="en-US" sz="1100" dirty="0">
                <a:solidFill>
                  <a:srgbClr val="1A2E3B"/>
                </a:solidFill>
                <a:latin typeface="Calibri"/>
                <a:ea typeface="Calibri"/>
                <a:cs typeface="Calibri"/>
                <a:sym typeface="Wingdings" panose="05000000000000000000" pitchFamily="2" charset="2"/>
              </a:rPr>
              <a:t xml:space="preserve"> </a:t>
            </a:r>
            <a:r>
              <a:rPr lang="en-US" sz="1100" dirty="0">
                <a:solidFill>
                  <a:srgbClr val="1A2E3B"/>
                </a:solidFill>
                <a:latin typeface="Calibri"/>
                <a:ea typeface="Calibri"/>
                <a:cs typeface="Calibri"/>
              </a:rPr>
              <a:t xml:space="preserve">is a comprehensive AI-powered "Code Health" platform designed to automate code reviews, enhance security, and enforce quality standards directly within the development workflow. </a:t>
            </a:r>
            <a:r>
              <a:rPr lang="en-US" sz="1100" b="1" dirty="0">
                <a:solidFill>
                  <a:srgbClr val="1A2E3B"/>
                </a:solidFill>
                <a:latin typeface="Calibri"/>
                <a:ea typeface="Calibri"/>
                <a:cs typeface="Calibri"/>
              </a:rPr>
              <a:t>Unlike general-purpose AI assistants that focus on writing code, CodeAnt is built to ensure that the code being merged is clean, secure, and maintainable.</a:t>
            </a:r>
            <a:endParaRPr lang="en-US" sz="1100" b="1" dirty="0">
              <a:solidFill>
                <a:srgbClr val="1A2E3B"/>
              </a:solidFill>
              <a:latin typeface="Calibri"/>
              <a:ea typeface="Calibri"/>
              <a:cs typeface="Calibri"/>
              <a:sym typeface="Calibri"/>
            </a:endParaRPr>
          </a:p>
          <a:p>
            <a:pPr marR="0" lvl="0" algn="l" rtl="0">
              <a:spcBef>
                <a:spcPts val="500"/>
              </a:spcBef>
              <a:spcAft>
                <a:spcPts val="0"/>
              </a:spcAft>
              <a:buClr>
                <a:srgbClr val="1A2E3B"/>
              </a:buClr>
              <a:buSzPts val="1100"/>
            </a:pPr>
            <a:endParaRPr lang="en-US" sz="11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5288017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18"/>
        <p:cNvGrpSpPr/>
        <p:nvPr/>
      </p:nvGrpSpPr>
      <p:grpSpPr>
        <a:xfrm>
          <a:off x="0" y="0"/>
          <a:ext cx="0" cy="0"/>
          <a:chOff x="0" y="0"/>
          <a:chExt cx="0" cy="0"/>
        </a:xfrm>
      </p:grpSpPr>
      <p:sp>
        <p:nvSpPr>
          <p:cNvPr id="119" name="Google Shape;119;p5"/>
          <p:cNvSpPr/>
          <p:nvPr/>
        </p:nvSpPr>
        <p:spPr>
          <a:xfrm>
            <a:off x="0" y="0"/>
            <a:ext cx="9144000" cy="1005840"/>
          </a:xfrm>
          <a:prstGeom prst="rect">
            <a:avLst/>
          </a:prstGeom>
          <a:solidFill>
            <a:srgbClr val="00567D"/>
          </a:solidFill>
          <a:ln w="12700" cap="flat" cmpd="sng">
            <a:solidFill>
              <a:srgbClr val="00567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5"/>
          <p:cNvSpPr/>
          <p:nvPr/>
        </p:nvSpPr>
        <p:spPr>
          <a:xfrm>
            <a:off x="457200" y="228600"/>
            <a:ext cx="7315200"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000"/>
              <a:buFont typeface="Calibri"/>
              <a:buNone/>
            </a:pPr>
            <a:r>
              <a:rPr lang="en-US" sz="2000" b="1" i="0" u="none" strike="noStrike" cap="none">
                <a:solidFill>
                  <a:srgbClr val="FFFFFF"/>
                </a:solidFill>
                <a:latin typeface="Calibri"/>
                <a:ea typeface="Calibri"/>
                <a:cs typeface="Calibri"/>
                <a:sym typeface="Calibri"/>
              </a:rPr>
              <a:t>Top 10 Things AI Can Do in This Use Case</a:t>
            </a:r>
            <a:endParaRPr sz="2000" b="0" i="0" u="none" strike="noStrike" cap="none">
              <a:solidFill>
                <a:schemeClr val="dk1"/>
              </a:solidFill>
              <a:latin typeface="Calibri"/>
              <a:ea typeface="Calibri"/>
              <a:cs typeface="Calibri"/>
              <a:sym typeface="Calibri"/>
            </a:endParaRPr>
          </a:p>
        </p:txBody>
      </p:sp>
      <p:sp>
        <p:nvSpPr>
          <p:cNvPr id="121" name="Google Shape;121;p5"/>
          <p:cNvSpPr/>
          <p:nvPr/>
        </p:nvSpPr>
        <p:spPr>
          <a:xfrm>
            <a:off x="7498080" y="182880"/>
            <a:ext cx="1463040" cy="548640"/>
          </a:xfrm>
          <a:prstGeom prst="rect">
            <a:avLst/>
          </a:prstGeom>
          <a:solidFill>
            <a:srgbClr val="00A1C2"/>
          </a:solidFill>
          <a:ln w="12700" cap="flat" cmpd="sng">
            <a:solidFill>
              <a:srgbClr val="00A1C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5"/>
          <p:cNvSpPr/>
          <p:nvPr/>
        </p:nvSpPr>
        <p:spPr>
          <a:xfrm>
            <a:off x="7498080" y="182880"/>
            <a:ext cx="1463040" cy="5486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n-US" sz="900" b="1" i="0" u="none" strike="noStrike" cap="none">
                <a:solidFill>
                  <a:srgbClr val="FFFFFF"/>
                </a:solidFill>
                <a:latin typeface="Calibri"/>
                <a:ea typeface="Calibri"/>
                <a:cs typeface="Calibri"/>
                <a:sym typeface="Calibri"/>
              </a:rPr>
              <a:t>Dubai Health</a:t>
            </a:r>
            <a:endParaRPr sz="900" b="0" i="0" u="none" strike="noStrike" cap="none">
              <a:solidFill>
                <a:schemeClr val="dk1"/>
              </a:solidFill>
              <a:latin typeface="Calibri"/>
              <a:ea typeface="Calibri"/>
              <a:cs typeface="Calibri"/>
              <a:sym typeface="Calibri"/>
            </a:endParaRPr>
          </a:p>
        </p:txBody>
      </p:sp>
      <p:sp>
        <p:nvSpPr>
          <p:cNvPr id="123" name="Google Shape;123;p5"/>
          <p:cNvSpPr/>
          <p:nvPr/>
        </p:nvSpPr>
        <p:spPr>
          <a:xfrm>
            <a:off x="365760" y="1143000"/>
            <a:ext cx="4114800" cy="713232"/>
          </a:xfrm>
          <a:prstGeom prst="rect">
            <a:avLst/>
          </a:prstGeom>
          <a:solidFill>
            <a:srgbClr val="EBF7FC"/>
          </a:solidFill>
          <a:ln w="9525" cap="flat" cmpd="sng">
            <a:solidFill>
              <a:srgbClr val="D0E8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4" name="Google Shape;124;p5"/>
          <p:cNvSpPr/>
          <p:nvPr/>
        </p:nvSpPr>
        <p:spPr>
          <a:xfrm>
            <a:off x="365760" y="1143000"/>
            <a:ext cx="457200" cy="713232"/>
          </a:xfrm>
          <a:prstGeom prst="rect">
            <a:avLst/>
          </a:prstGeom>
          <a:solidFill>
            <a:srgbClr val="00567D"/>
          </a:solidFill>
          <a:ln w="12700" cap="flat" cmpd="sng">
            <a:solidFill>
              <a:srgbClr val="00567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5"/>
          <p:cNvSpPr/>
          <p:nvPr/>
        </p:nvSpPr>
        <p:spPr>
          <a:xfrm>
            <a:off x="365760" y="1143000"/>
            <a:ext cx="457200" cy="71323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i="0" u="none" strike="noStrike" cap="none">
                <a:solidFill>
                  <a:srgbClr val="FFFFFF"/>
                </a:solidFill>
                <a:latin typeface="Calibri"/>
                <a:ea typeface="Calibri"/>
                <a:cs typeface="Calibri"/>
                <a:sym typeface="Calibri"/>
              </a:rPr>
              <a:t>01</a:t>
            </a:r>
            <a:endParaRPr sz="1100" b="0" i="0" u="none" strike="noStrike" cap="none">
              <a:solidFill>
                <a:schemeClr val="dk1"/>
              </a:solidFill>
              <a:latin typeface="Calibri"/>
              <a:ea typeface="Calibri"/>
              <a:cs typeface="Calibri"/>
              <a:sym typeface="Calibri"/>
            </a:endParaRPr>
          </a:p>
        </p:txBody>
      </p:sp>
      <p:sp>
        <p:nvSpPr>
          <p:cNvPr id="126" name="Google Shape;126;p5"/>
          <p:cNvSpPr/>
          <p:nvPr/>
        </p:nvSpPr>
        <p:spPr>
          <a:xfrm>
            <a:off x="896112" y="1179576"/>
            <a:ext cx="352044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567D"/>
              </a:buClr>
              <a:buSzPts val="1100"/>
              <a:buFont typeface="Calibri"/>
              <a:buNone/>
            </a:pPr>
            <a:r>
              <a:rPr lang="en-US" sz="1100" b="1" i="0" u="none" strike="noStrike" cap="none">
                <a:solidFill>
                  <a:srgbClr val="00567D"/>
                </a:solidFill>
                <a:latin typeface="Calibri"/>
                <a:ea typeface="Calibri"/>
                <a:cs typeface="Calibri"/>
                <a:sym typeface="Calibri"/>
              </a:rPr>
              <a:t>Detect Inefficient Queries</a:t>
            </a:r>
            <a:endParaRPr sz="1100" b="0" i="0" u="none" strike="noStrike" cap="none">
              <a:solidFill>
                <a:schemeClr val="dk1"/>
              </a:solidFill>
              <a:latin typeface="Calibri"/>
              <a:ea typeface="Calibri"/>
              <a:cs typeface="Calibri"/>
              <a:sym typeface="Calibri"/>
            </a:endParaRPr>
          </a:p>
        </p:txBody>
      </p:sp>
      <p:sp>
        <p:nvSpPr>
          <p:cNvPr id="127" name="Google Shape;127;p5"/>
          <p:cNvSpPr/>
          <p:nvPr/>
        </p:nvSpPr>
        <p:spPr>
          <a:xfrm>
            <a:off x="896112" y="1490472"/>
            <a:ext cx="352044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950"/>
              <a:buFont typeface="Calibri"/>
              <a:buNone/>
            </a:pPr>
            <a:r>
              <a:rPr lang="en-US" sz="950" b="0" i="0" u="none" strike="noStrike" cap="none" dirty="0">
                <a:solidFill>
                  <a:srgbClr val="64748B"/>
                </a:solidFill>
                <a:latin typeface="Calibri"/>
                <a:ea typeface="Calibri"/>
                <a:cs typeface="Calibri"/>
                <a:sym typeface="Calibri"/>
              </a:rPr>
              <a:t>Identify code triggering slow or repeated DB queries (N+1 issues)</a:t>
            </a:r>
            <a:endParaRPr sz="950" b="0" i="0" u="none" strike="noStrike" cap="none" dirty="0">
              <a:solidFill>
                <a:schemeClr val="dk1"/>
              </a:solidFill>
              <a:latin typeface="Calibri"/>
              <a:ea typeface="Calibri"/>
              <a:cs typeface="Calibri"/>
              <a:sym typeface="Calibri"/>
            </a:endParaRPr>
          </a:p>
        </p:txBody>
      </p:sp>
      <p:sp>
        <p:nvSpPr>
          <p:cNvPr id="128" name="Google Shape;128;p5"/>
          <p:cNvSpPr/>
          <p:nvPr/>
        </p:nvSpPr>
        <p:spPr>
          <a:xfrm>
            <a:off x="4754880" y="1143000"/>
            <a:ext cx="4114800" cy="713232"/>
          </a:xfrm>
          <a:prstGeom prst="rect">
            <a:avLst/>
          </a:prstGeom>
          <a:solidFill>
            <a:srgbClr val="EBF7FC"/>
          </a:solidFill>
          <a:ln w="9525" cap="flat" cmpd="sng">
            <a:solidFill>
              <a:srgbClr val="D0E8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5"/>
          <p:cNvSpPr/>
          <p:nvPr/>
        </p:nvSpPr>
        <p:spPr>
          <a:xfrm>
            <a:off x="4754880" y="1143000"/>
            <a:ext cx="457200" cy="713232"/>
          </a:xfrm>
          <a:prstGeom prst="rect">
            <a:avLst/>
          </a:prstGeom>
          <a:solidFill>
            <a:srgbClr val="00567D"/>
          </a:solidFill>
          <a:ln w="12700" cap="flat" cmpd="sng">
            <a:solidFill>
              <a:srgbClr val="00567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5"/>
          <p:cNvSpPr/>
          <p:nvPr/>
        </p:nvSpPr>
        <p:spPr>
          <a:xfrm>
            <a:off x="4754880" y="1143000"/>
            <a:ext cx="457200" cy="71323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i="0" u="none" strike="noStrike" cap="none">
                <a:solidFill>
                  <a:srgbClr val="FFFFFF"/>
                </a:solidFill>
                <a:latin typeface="Calibri"/>
                <a:ea typeface="Calibri"/>
                <a:cs typeface="Calibri"/>
                <a:sym typeface="Calibri"/>
              </a:rPr>
              <a:t>02</a:t>
            </a:r>
            <a:endParaRPr sz="1100" b="0" i="0" u="none" strike="noStrike" cap="none">
              <a:solidFill>
                <a:schemeClr val="dk1"/>
              </a:solidFill>
              <a:latin typeface="Calibri"/>
              <a:ea typeface="Calibri"/>
              <a:cs typeface="Calibri"/>
              <a:sym typeface="Calibri"/>
            </a:endParaRPr>
          </a:p>
        </p:txBody>
      </p:sp>
      <p:sp>
        <p:nvSpPr>
          <p:cNvPr id="131" name="Google Shape;131;p5"/>
          <p:cNvSpPr/>
          <p:nvPr/>
        </p:nvSpPr>
        <p:spPr>
          <a:xfrm>
            <a:off x="5285232" y="1179576"/>
            <a:ext cx="352044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567D"/>
              </a:buClr>
              <a:buSzPts val="1100"/>
              <a:buFont typeface="Calibri"/>
              <a:buNone/>
            </a:pPr>
            <a:r>
              <a:rPr lang="en-US" sz="1100" b="1" i="0" u="none" strike="noStrike" cap="none">
                <a:solidFill>
                  <a:srgbClr val="00567D"/>
                </a:solidFill>
                <a:latin typeface="Calibri"/>
                <a:ea typeface="Calibri"/>
                <a:cs typeface="Calibri"/>
                <a:sym typeface="Calibri"/>
              </a:rPr>
              <a:t>Find Missing Pagination</a:t>
            </a:r>
            <a:endParaRPr sz="1100" b="0" i="0" u="none" strike="noStrike" cap="none">
              <a:solidFill>
                <a:schemeClr val="dk1"/>
              </a:solidFill>
              <a:latin typeface="Calibri"/>
              <a:ea typeface="Calibri"/>
              <a:cs typeface="Calibri"/>
              <a:sym typeface="Calibri"/>
            </a:endParaRPr>
          </a:p>
        </p:txBody>
      </p:sp>
      <p:sp>
        <p:nvSpPr>
          <p:cNvPr id="132" name="Google Shape;132;p5"/>
          <p:cNvSpPr/>
          <p:nvPr/>
        </p:nvSpPr>
        <p:spPr>
          <a:xfrm>
            <a:off x="5285232" y="1490472"/>
            <a:ext cx="352044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950"/>
              <a:buFont typeface="Calibri"/>
              <a:buNone/>
            </a:pPr>
            <a:r>
              <a:rPr lang="en-US" sz="950" b="0" i="0" u="none" strike="noStrike" cap="none" dirty="0">
                <a:solidFill>
                  <a:srgbClr val="64748B"/>
                </a:solidFill>
                <a:latin typeface="Calibri"/>
                <a:ea typeface="Calibri"/>
                <a:cs typeface="Calibri"/>
                <a:sym typeface="Calibri"/>
              </a:rPr>
              <a:t>Flag endpoints returning very large datasets</a:t>
            </a:r>
            <a:endParaRPr sz="950" b="0" i="0" u="none" strike="noStrike" cap="none" dirty="0">
              <a:solidFill>
                <a:schemeClr val="dk1"/>
              </a:solidFill>
              <a:latin typeface="Calibri"/>
              <a:ea typeface="Calibri"/>
              <a:cs typeface="Calibri"/>
              <a:sym typeface="Calibri"/>
            </a:endParaRPr>
          </a:p>
        </p:txBody>
      </p:sp>
      <p:sp>
        <p:nvSpPr>
          <p:cNvPr id="133" name="Google Shape;133;p5"/>
          <p:cNvSpPr/>
          <p:nvPr/>
        </p:nvSpPr>
        <p:spPr>
          <a:xfrm>
            <a:off x="365760" y="1938528"/>
            <a:ext cx="4114800" cy="713232"/>
          </a:xfrm>
          <a:prstGeom prst="rect">
            <a:avLst/>
          </a:prstGeom>
          <a:solidFill>
            <a:srgbClr val="EBF7FC"/>
          </a:solidFill>
          <a:ln w="9525" cap="flat" cmpd="sng">
            <a:solidFill>
              <a:srgbClr val="D0E8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5"/>
          <p:cNvSpPr/>
          <p:nvPr/>
        </p:nvSpPr>
        <p:spPr>
          <a:xfrm>
            <a:off x="365760" y="1938528"/>
            <a:ext cx="457200" cy="713232"/>
          </a:xfrm>
          <a:prstGeom prst="rect">
            <a:avLst/>
          </a:prstGeom>
          <a:solidFill>
            <a:srgbClr val="00567D"/>
          </a:solidFill>
          <a:ln w="12700" cap="flat" cmpd="sng">
            <a:solidFill>
              <a:srgbClr val="00567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5"/>
          <p:cNvSpPr/>
          <p:nvPr/>
        </p:nvSpPr>
        <p:spPr>
          <a:xfrm>
            <a:off x="365760" y="1938528"/>
            <a:ext cx="457200" cy="71323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i="0" u="none" strike="noStrike" cap="none">
                <a:solidFill>
                  <a:srgbClr val="FFFFFF"/>
                </a:solidFill>
                <a:latin typeface="Calibri"/>
                <a:ea typeface="Calibri"/>
                <a:cs typeface="Calibri"/>
                <a:sym typeface="Calibri"/>
              </a:rPr>
              <a:t>03</a:t>
            </a:r>
            <a:endParaRPr sz="1100" b="0" i="0" u="none" strike="noStrike" cap="none">
              <a:solidFill>
                <a:schemeClr val="dk1"/>
              </a:solidFill>
              <a:latin typeface="Calibri"/>
              <a:ea typeface="Calibri"/>
              <a:cs typeface="Calibri"/>
              <a:sym typeface="Calibri"/>
            </a:endParaRPr>
          </a:p>
        </p:txBody>
      </p:sp>
      <p:sp>
        <p:nvSpPr>
          <p:cNvPr id="136" name="Google Shape;136;p5"/>
          <p:cNvSpPr/>
          <p:nvPr/>
        </p:nvSpPr>
        <p:spPr>
          <a:xfrm>
            <a:off x="896112" y="1975104"/>
            <a:ext cx="352044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567D"/>
              </a:buClr>
              <a:buSzPts val="1100"/>
              <a:buFont typeface="Calibri"/>
              <a:buNone/>
            </a:pPr>
            <a:r>
              <a:rPr lang="en-US" sz="1100" b="1" i="0" u="none" strike="noStrike" cap="none">
                <a:solidFill>
                  <a:srgbClr val="00567D"/>
                </a:solidFill>
                <a:latin typeface="Calibri"/>
                <a:ea typeface="Calibri"/>
                <a:cs typeface="Calibri"/>
                <a:sym typeface="Calibri"/>
              </a:rPr>
              <a:t>Highlight Blocking Operations</a:t>
            </a:r>
            <a:endParaRPr sz="1100" b="0" i="0" u="none" strike="noStrike" cap="none">
              <a:solidFill>
                <a:schemeClr val="dk1"/>
              </a:solidFill>
              <a:latin typeface="Calibri"/>
              <a:ea typeface="Calibri"/>
              <a:cs typeface="Calibri"/>
              <a:sym typeface="Calibri"/>
            </a:endParaRPr>
          </a:p>
        </p:txBody>
      </p:sp>
      <p:sp>
        <p:nvSpPr>
          <p:cNvPr id="137" name="Google Shape;137;p5"/>
          <p:cNvSpPr/>
          <p:nvPr/>
        </p:nvSpPr>
        <p:spPr>
          <a:xfrm>
            <a:off x="896112" y="2286000"/>
            <a:ext cx="352044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950"/>
              <a:buFont typeface="Calibri"/>
              <a:buNone/>
            </a:pPr>
            <a:r>
              <a:rPr lang="en-US" sz="950" b="0" i="0" u="none" strike="noStrike" cap="none">
                <a:solidFill>
                  <a:srgbClr val="64748B"/>
                </a:solidFill>
                <a:latin typeface="Calibri"/>
                <a:ea typeface="Calibri"/>
                <a:cs typeface="Calibri"/>
                <a:sym typeface="Calibri"/>
              </a:rPr>
              <a:t>Detect synchronous code slowing request handling</a:t>
            </a:r>
            <a:endParaRPr sz="950" b="0" i="0" u="none" strike="noStrike" cap="none">
              <a:solidFill>
                <a:schemeClr val="dk1"/>
              </a:solidFill>
              <a:latin typeface="Calibri"/>
              <a:ea typeface="Calibri"/>
              <a:cs typeface="Calibri"/>
              <a:sym typeface="Calibri"/>
            </a:endParaRPr>
          </a:p>
        </p:txBody>
      </p:sp>
      <p:sp>
        <p:nvSpPr>
          <p:cNvPr id="138" name="Google Shape;138;p5"/>
          <p:cNvSpPr/>
          <p:nvPr/>
        </p:nvSpPr>
        <p:spPr>
          <a:xfrm>
            <a:off x="4754880" y="1938528"/>
            <a:ext cx="4114800" cy="713232"/>
          </a:xfrm>
          <a:prstGeom prst="rect">
            <a:avLst/>
          </a:prstGeom>
          <a:solidFill>
            <a:srgbClr val="EBF7FC"/>
          </a:solidFill>
          <a:ln w="9525" cap="flat" cmpd="sng">
            <a:solidFill>
              <a:srgbClr val="D0E8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5"/>
          <p:cNvSpPr/>
          <p:nvPr/>
        </p:nvSpPr>
        <p:spPr>
          <a:xfrm>
            <a:off x="4754880" y="1938528"/>
            <a:ext cx="457200" cy="713232"/>
          </a:xfrm>
          <a:prstGeom prst="rect">
            <a:avLst/>
          </a:prstGeom>
          <a:solidFill>
            <a:srgbClr val="00567D"/>
          </a:solidFill>
          <a:ln w="12700" cap="flat" cmpd="sng">
            <a:solidFill>
              <a:srgbClr val="00567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5"/>
          <p:cNvSpPr/>
          <p:nvPr/>
        </p:nvSpPr>
        <p:spPr>
          <a:xfrm>
            <a:off x="4754880" y="1938528"/>
            <a:ext cx="457200" cy="71323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i="0" u="none" strike="noStrike" cap="none">
                <a:solidFill>
                  <a:srgbClr val="FFFFFF"/>
                </a:solidFill>
                <a:latin typeface="Calibri"/>
                <a:ea typeface="Calibri"/>
                <a:cs typeface="Calibri"/>
                <a:sym typeface="Calibri"/>
              </a:rPr>
              <a:t>04</a:t>
            </a:r>
            <a:endParaRPr sz="1100" b="0" i="0" u="none" strike="noStrike" cap="none">
              <a:solidFill>
                <a:schemeClr val="dk1"/>
              </a:solidFill>
              <a:latin typeface="Calibri"/>
              <a:ea typeface="Calibri"/>
              <a:cs typeface="Calibri"/>
              <a:sym typeface="Calibri"/>
            </a:endParaRPr>
          </a:p>
        </p:txBody>
      </p:sp>
      <p:sp>
        <p:nvSpPr>
          <p:cNvPr id="141" name="Google Shape;141;p5"/>
          <p:cNvSpPr/>
          <p:nvPr/>
        </p:nvSpPr>
        <p:spPr>
          <a:xfrm>
            <a:off x="5285232" y="1975104"/>
            <a:ext cx="352044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567D"/>
              </a:buClr>
              <a:buSzPts val="1100"/>
              <a:buFont typeface="Calibri"/>
              <a:buNone/>
            </a:pPr>
            <a:r>
              <a:rPr lang="en-US" sz="1100" b="1" i="0" u="none" strike="noStrike" cap="none">
                <a:solidFill>
                  <a:srgbClr val="00567D"/>
                </a:solidFill>
                <a:latin typeface="Calibri"/>
                <a:ea typeface="Calibri"/>
                <a:cs typeface="Calibri"/>
                <a:sym typeface="Calibri"/>
              </a:rPr>
              <a:t>Identify Loops with Repeated Calls</a:t>
            </a:r>
            <a:endParaRPr sz="1100" b="0" i="0" u="none" strike="noStrike" cap="none">
              <a:solidFill>
                <a:schemeClr val="dk1"/>
              </a:solidFill>
              <a:latin typeface="Calibri"/>
              <a:ea typeface="Calibri"/>
              <a:cs typeface="Calibri"/>
              <a:sym typeface="Calibri"/>
            </a:endParaRPr>
          </a:p>
        </p:txBody>
      </p:sp>
      <p:sp>
        <p:nvSpPr>
          <p:cNvPr id="142" name="Google Shape;142;p5"/>
          <p:cNvSpPr/>
          <p:nvPr/>
        </p:nvSpPr>
        <p:spPr>
          <a:xfrm>
            <a:off x="5285232" y="2286000"/>
            <a:ext cx="352044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950"/>
              <a:buFont typeface="Calibri"/>
              <a:buNone/>
            </a:pPr>
            <a:r>
              <a:rPr lang="en-US" sz="950" b="0" i="0" u="none" strike="noStrike" cap="none">
                <a:solidFill>
                  <a:srgbClr val="64748B"/>
                </a:solidFill>
                <a:latin typeface="Calibri"/>
                <a:ea typeface="Calibri"/>
                <a:cs typeface="Calibri"/>
                <a:sym typeface="Calibri"/>
              </a:rPr>
              <a:t>Spot patterns that multiply execution time</a:t>
            </a:r>
            <a:endParaRPr sz="950" b="0" i="0" u="none" strike="noStrike" cap="none">
              <a:solidFill>
                <a:schemeClr val="dk1"/>
              </a:solidFill>
              <a:latin typeface="Calibri"/>
              <a:ea typeface="Calibri"/>
              <a:cs typeface="Calibri"/>
              <a:sym typeface="Calibri"/>
            </a:endParaRPr>
          </a:p>
        </p:txBody>
      </p:sp>
      <p:sp>
        <p:nvSpPr>
          <p:cNvPr id="143" name="Google Shape;143;p5"/>
          <p:cNvSpPr/>
          <p:nvPr/>
        </p:nvSpPr>
        <p:spPr>
          <a:xfrm>
            <a:off x="365760" y="2734056"/>
            <a:ext cx="4114800" cy="713232"/>
          </a:xfrm>
          <a:prstGeom prst="rect">
            <a:avLst/>
          </a:prstGeom>
          <a:solidFill>
            <a:srgbClr val="EBF7FC"/>
          </a:solidFill>
          <a:ln w="9525" cap="flat" cmpd="sng">
            <a:solidFill>
              <a:srgbClr val="D0E8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5"/>
          <p:cNvSpPr/>
          <p:nvPr/>
        </p:nvSpPr>
        <p:spPr>
          <a:xfrm>
            <a:off x="365760" y="2734056"/>
            <a:ext cx="457200" cy="713232"/>
          </a:xfrm>
          <a:prstGeom prst="rect">
            <a:avLst/>
          </a:prstGeom>
          <a:solidFill>
            <a:srgbClr val="00567D"/>
          </a:solidFill>
          <a:ln w="12700" cap="flat" cmpd="sng">
            <a:solidFill>
              <a:srgbClr val="00567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5"/>
          <p:cNvSpPr/>
          <p:nvPr/>
        </p:nvSpPr>
        <p:spPr>
          <a:xfrm>
            <a:off x="365760" y="2734056"/>
            <a:ext cx="457200" cy="71323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i="0" u="none" strike="noStrike" cap="none">
                <a:solidFill>
                  <a:srgbClr val="FFFFFF"/>
                </a:solidFill>
                <a:latin typeface="Calibri"/>
                <a:ea typeface="Calibri"/>
                <a:cs typeface="Calibri"/>
                <a:sym typeface="Calibri"/>
              </a:rPr>
              <a:t>05</a:t>
            </a:r>
            <a:endParaRPr sz="1100" b="0" i="0" u="none" strike="noStrike" cap="none">
              <a:solidFill>
                <a:schemeClr val="dk1"/>
              </a:solidFill>
              <a:latin typeface="Calibri"/>
              <a:ea typeface="Calibri"/>
              <a:cs typeface="Calibri"/>
              <a:sym typeface="Calibri"/>
            </a:endParaRPr>
          </a:p>
        </p:txBody>
      </p:sp>
      <p:sp>
        <p:nvSpPr>
          <p:cNvPr id="146" name="Google Shape;146;p5"/>
          <p:cNvSpPr/>
          <p:nvPr/>
        </p:nvSpPr>
        <p:spPr>
          <a:xfrm>
            <a:off x="896112" y="2770632"/>
            <a:ext cx="352044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567D"/>
              </a:buClr>
              <a:buSzPts val="1100"/>
              <a:buFont typeface="Calibri"/>
              <a:buNone/>
            </a:pPr>
            <a:r>
              <a:rPr lang="en-US" sz="1100" b="1" i="0" u="none" strike="noStrike" cap="none">
                <a:solidFill>
                  <a:srgbClr val="00567D"/>
                </a:solidFill>
                <a:latin typeface="Calibri"/>
                <a:ea typeface="Calibri"/>
                <a:cs typeface="Calibri"/>
                <a:sym typeface="Calibri"/>
              </a:rPr>
              <a:t>Review External Dependencies</a:t>
            </a:r>
            <a:endParaRPr sz="1100" b="0" i="0" u="none" strike="noStrike" cap="none">
              <a:solidFill>
                <a:schemeClr val="dk1"/>
              </a:solidFill>
              <a:latin typeface="Calibri"/>
              <a:ea typeface="Calibri"/>
              <a:cs typeface="Calibri"/>
              <a:sym typeface="Calibri"/>
            </a:endParaRPr>
          </a:p>
        </p:txBody>
      </p:sp>
      <p:sp>
        <p:nvSpPr>
          <p:cNvPr id="147" name="Google Shape;147;p5"/>
          <p:cNvSpPr/>
          <p:nvPr/>
        </p:nvSpPr>
        <p:spPr>
          <a:xfrm>
            <a:off x="896112" y="3081528"/>
            <a:ext cx="352044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950"/>
              <a:buFont typeface="Calibri"/>
              <a:buNone/>
            </a:pPr>
            <a:r>
              <a:rPr lang="en-US" sz="950" b="0" i="0" u="none" strike="noStrike" cap="none">
                <a:solidFill>
                  <a:srgbClr val="64748B"/>
                </a:solidFill>
                <a:latin typeface="Calibri"/>
                <a:ea typeface="Calibri"/>
                <a:cs typeface="Calibri"/>
                <a:sym typeface="Calibri"/>
              </a:rPr>
              <a:t>Highlight inefficient calls to other services</a:t>
            </a:r>
            <a:endParaRPr sz="950" b="0" i="0" u="none" strike="noStrike" cap="none">
              <a:solidFill>
                <a:schemeClr val="dk1"/>
              </a:solidFill>
              <a:latin typeface="Calibri"/>
              <a:ea typeface="Calibri"/>
              <a:cs typeface="Calibri"/>
              <a:sym typeface="Calibri"/>
            </a:endParaRPr>
          </a:p>
        </p:txBody>
      </p:sp>
      <p:sp>
        <p:nvSpPr>
          <p:cNvPr id="148" name="Google Shape;148;p5"/>
          <p:cNvSpPr/>
          <p:nvPr/>
        </p:nvSpPr>
        <p:spPr>
          <a:xfrm>
            <a:off x="4754880" y="2734056"/>
            <a:ext cx="4114800" cy="713232"/>
          </a:xfrm>
          <a:prstGeom prst="rect">
            <a:avLst/>
          </a:prstGeom>
          <a:solidFill>
            <a:srgbClr val="EBF7FC"/>
          </a:solidFill>
          <a:ln w="9525" cap="flat" cmpd="sng">
            <a:solidFill>
              <a:srgbClr val="D0E8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5"/>
          <p:cNvSpPr/>
          <p:nvPr/>
        </p:nvSpPr>
        <p:spPr>
          <a:xfrm>
            <a:off x="4754880" y="2734056"/>
            <a:ext cx="457200" cy="713232"/>
          </a:xfrm>
          <a:prstGeom prst="rect">
            <a:avLst/>
          </a:prstGeom>
          <a:solidFill>
            <a:srgbClr val="00567D"/>
          </a:solidFill>
          <a:ln w="12700" cap="flat" cmpd="sng">
            <a:solidFill>
              <a:srgbClr val="00567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5"/>
          <p:cNvSpPr/>
          <p:nvPr/>
        </p:nvSpPr>
        <p:spPr>
          <a:xfrm>
            <a:off x="4754880" y="2734056"/>
            <a:ext cx="457200" cy="71323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i="0" u="none" strike="noStrike" cap="none">
                <a:solidFill>
                  <a:srgbClr val="FFFFFF"/>
                </a:solidFill>
                <a:latin typeface="Calibri"/>
                <a:ea typeface="Calibri"/>
                <a:cs typeface="Calibri"/>
                <a:sym typeface="Calibri"/>
              </a:rPr>
              <a:t>06</a:t>
            </a:r>
            <a:endParaRPr sz="1100" b="0" i="0" u="none" strike="noStrike" cap="none">
              <a:solidFill>
                <a:schemeClr val="dk1"/>
              </a:solidFill>
              <a:latin typeface="Calibri"/>
              <a:ea typeface="Calibri"/>
              <a:cs typeface="Calibri"/>
              <a:sym typeface="Calibri"/>
            </a:endParaRPr>
          </a:p>
        </p:txBody>
      </p:sp>
      <p:sp>
        <p:nvSpPr>
          <p:cNvPr id="151" name="Google Shape;151;p5"/>
          <p:cNvSpPr/>
          <p:nvPr/>
        </p:nvSpPr>
        <p:spPr>
          <a:xfrm>
            <a:off x="5285232" y="2770632"/>
            <a:ext cx="352044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567D"/>
              </a:buClr>
              <a:buSzPts val="1100"/>
              <a:buFont typeface="Calibri"/>
              <a:buNone/>
            </a:pPr>
            <a:r>
              <a:rPr lang="en-US" sz="1100" b="1" i="0" u="none" strike="noStrike" cap="none">
                <a:solidFill>
                  <a:srgbClr val="00567D"/>
                </a:solidFill>
                <a:latin typeface="Calibri"/>
                <a:ea typeface="Calibri"/>
                <a:cs typeface="Calibri"/>
                <a:sym typeface="Calibri"/>
              </a:rPr>
              <a:t>Suggest Caching Opportunities</a:t>
            </a:r>
            <a:endParaRPr sz="1100" b="0" i="0" u="none" strike="noStrike" cap="none">
              <a:solidFill>
                <a:schemeClr val="dk1"/>
              </a:solidFill>
              <a:latin typeface="Calibri"/>
              <a:ea typeface="Calibri"/>
              <a:cs typeface="Calibri"/>
              <a:sym typeface="Calibri"/>
            </a:endParaRPr>
          </a:p>
        </p:txBody>
      </p:sp>
      <p:sp>
        <p:nvSpPr>
          <p:cNvPr id="152" name="Google Shape;152;p5"/>
          <p:cNvSpPr/>
          <p:nvPr/>
        </p:nvSpPr>
        <p:spPr>
          <a:xfrm>
            <a:off x="5285232" y="3081528"/>
            <a:ext cx="352044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950"/>
              <a:buFont typeface="Calibri"/>
              <a:buNone/>
            </a:pPr>
            <a:r>
              <a:rPr lang="en-US" sz="950" b="0" i="0" u="none" strike="noStrike" cap="none">
                <a:solidFill>
                  <a:srgbClr val="64748B"/>
                </a:solidFill>
                <a:latin typeface="Calibri"/>
                <a:ea typeface="Calibri"/>
                <a:cs typeface="Calibri"/>
                <a:sym typeface="Calibri"/>
              </a:rPr>
              <a:t>Recommend where caching could reduce repeated work</a:t>
            </a:r>
            <a:endParaRPr sz="950" b="0" i="0" u="none" strike="noStrike" cap="none">
              <a:solidFill>
                <a:schemeClr val="dk1"/>
              </a:solidFill>
              <a:latin typeface="Calibri"/>
              <a:ea typeface="Calibri"/>
              <a:cs typeface="Calibri"/>
              <a:sym typeface="Calibri"/>
            </a:endParaRPr>
          </a:p>
        </p:txBody>
      </p:sp>
      <p:sp>
        <p:nvSpPr>
          <p:cNvPr id="153" name="Google Shape;153;p5"/>
          <p:cNvSpPr/>
          <p:nvPr/>
        </p:nvSpPr>
        <p:spPr>
          <a:xfrm>
            <a:off x="365760" y="3529584"/>
            <a:ext cx="4114800" cy="713232"/>
          </a:xfrm>
          <a:prstGeom prst="rect">
            <a:avLst/>
          </a:prstGeom>
          <a:solidFill>
            <a:srgbClr val="EBF7FC"/>
          </a:solidFill>
          <a:ln w="9525" cap="flat" cmpd="sng">
            <a:solidFill>
              <a:srgbClr val="D0E8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5"/>
          <p:cNvSpPr/>
          <p:nvPr/>
        </p:nvSpPr>
        <p:spPr>
          <a:xfrm>
            <a:off x="365760" y="3529584"/>
            <a:ext cx="457200" cy="713232"/>
          </a:xfrm>
          <a:prstGeom prst="rect">
            <a:avLst/>
          </a:prstGeom>
          <a:solidFill>
            <a:srgbClr val="00567D"/>
          </a:solidFill>
          <a:ln w="12700" cap="flat" cmpd="sng">
            <a:solidFill>
              <a:srgbClr val="00567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5"/>
          <p:cNvSpPr/>
          <p:nvPr/>
        </p:nvSpPr>
        <p:spPr>
          <a:xfrm>
            <a:off x="365760" y="3529584"/>
            <a:ext cx="457200" cy="71323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i="0" u="none" strike="noStrike" cap="none">
                <a:solidFill>
                  <a:srgbClr val="FFFFFF"/>
                </a:solidFill>
                <a:latin typeface="Calibri"/>
                <a:ea typeface="Calibri"/>
                <a:cs typeface="Calibri"/>
                <a:sym typeface="Calibri"/>
              </a:rPr>
              <a:t>07</a:t>
            </a:r>
            <a:endParaRPr sz="1100" b="0" i="0" u="none" strike="noStrike" cap="none">
              <a:solidFill>
                <a:schemeClr val="dk1"/>
              </a:solidFill>
              <a:latin typeface="Calibri"/>
              <a:ea typeface="Calibri"/>
              <a:cs typeface="Calibri"/>
              <a:sym typeface="Calibri"/>
            </a:endParaRPr>
          </a:p>
        </p:txBody>
      </p:sp>
      <p:sp>
        <p:nvSpPr>
          <p:cNvPr id="156" name="Google Shape;156;p5"/>
          <p:cNvSpPr/>
          <p:nvPr/>
        </p:nvSpPr>
        <p:spPr>
          <a:xfrm>
            <a:off x="896112" y="3566160"/>
            <a:ext cx="352044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567D"/>
              </a:buClr>
              <a:buSzPts val="1100"/>
              <a:buFont typeface="Calibri"/>
              <a:buNone/>
            </a:pPr>
            <a:r>
              <a:rPr lang="en-US" sz="1100" b="1" i="0" u="none" strike="noStrike" cap="none">
                <a:solidFill>
                  <a:srgbClr val="00567D"/>
                </a:solidFill>
                <a:latin typeface="Calibri"/>
                <a:ea typeface="Calibri"/>
                <a:cs typeface="Calibri"/>
                <a:sym typeface="Calibri"/>
              </a:rPr>
              <a:t>Detect Heavy Payload Risks</a:t>
            </a:r>
            <a:endParaRPr sz="1100" b="0" i="0" u="none" strike="noStrike" cap="none">
              <a:solidFill>
                <a:schemeClr val="dk1"/>
              </a:solidFill>
              <a:latin typeface="Calibri"/>
              <a:ea typeface="Calibri"/>
              <a:cs typeface="Calibri"/>
              <a:sym typeface="Calibri"/>
            </a:endParaRPr>
          </a:p>
        </p:txBody>
      </p:sp>
      <p:sp>
        <p:nvSpPr>
          <p:cNvPr id="157" name="Google Shape;157;p5"/>
          <p:cNvSpPr/>
          <p:nvPr/>
        </p:nvSpPr>
        <p:spPr>
          <a:xfrm>
            <a:off x="896112" y="3877056"/>
            <a:ext cx="352044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950"/>
              <a:buFont typeface="Calibri"/>
              <a:buNone/>
            </a:pPr>
            <a:r>
              <a:rPr lang="en-US" sz="950" b="0" i="0" u="none" strike="noStrike" cap="none">
                <a:solidFill>
                  <a:srgbClr val="64748B"/>
                </a:solidFill>
                <a:latin typeface="Calibri"/>
                <a:ea typeface="Calibri"/>
                <a:cs typeface="Calibri"/>
                <a:sym typeface="Calibri"/>
              </a:rPr>
              <a:t>Flag large responses or unnecessary data fields</a:t>
            </a:r>
            <a:endParaRPr sz="950" b="0" i="0" u="none" strike="noStrike" cap="none">
              <a:solidFill>
                <a:schemeClr val="dk1"/>
              </a:solidFill>
              <a:latin typeface="Calibri"/>
              <a:ea typeface="Calibri"/>
              <a:cs typeface="Calibri"/>
              <a:sym typeface="Calibri"/>
            </a:endParaRPr>
          </a:p>
        </p:txBody>
      </p:sp>
      <p:sp>
        <p:nvSpPr>
          <p:cNvPr id="158" name="Google Shape;158;p5"/>
          <p:cNvSpPr/>
          <p:nvPr/>
        </p:nvSpPr>
        <p:spPr>
          <a:xfrm>
            <a:off x="4754880" y="3529584"/>
            <a:ext cx="4114800" cy="713232"/>
          </a:xfrm>
          <a:prstGeom prst="rect">
            <a:avLst/>
          </a:prstGeom>
          <a:solidFill>
            <a:srgbClr val="EBF7FC"/>
          </a:solidFill>
          <a:ln w="9525" cap="flat" cmpd="sng">
            <a:solidFill>
              <a:srgbClr val="D0E8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5"/>
          <p:cNvSpPr/>
          <p:nvPr/>
        </p:nvSpPr>
        <p:spPr>
          <a:xfrm>
            <a:off x="4754880" y="3529584"/>
            <a:ext cx="457200" cy="713232"/>
          </a:xfrm>
          <a:prstGeom prst="rect">
            <a:avLst/>
          </a:prstGeom>
          <a:solidFill>
            <a:srgbClr val="00567D"/>
          </a:solidFill>
          <a:ln w="12700" cap="flat" cmpd="sng">
            <a:solidFill>
              <a:srgbClr val="00567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5"/>
          <p:cNvSpPr/>
          <p:nvPr/>
        </p:nvSpPr>
        <p:spPr>
          <a:xfrm>
            <a:off x="4754880" y="3529584"/>
            <a:ext cx="457200" cy="71323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i="0" u="none" strike="noStrike" cap="none">
                <a:solidFill>
                  <a:srgbClr val="FFFFFF"/>
                </a:solidFill>
                <a:latin typeface="Calibri"/>
                <a:ea typeface="Calibri"/>
                <a:cs typeface="Calibri"/>
                <a:sym typeface="Calibri"/>
              </a:rPr>
              <a:t>08</a:t>
            </a:r>
            <a:endParaRPr sz="1100" b="0" i="0" u="none" strike="noStrike" cap="none">
              <a:solidFill>
                <a:schemeClr val="dk1"/>
              </a:solidFill>
              <a:latin typeface="Calibri"/>
              <a:ea typeface="Calibri"/>
              <a:cs typeface="Calibri"/>
              <a:sym typeface="Calibri"/>
            </a:endParaRPr>
          </a:p>
        </p:txBody>
      </p:sp>
      <p:sp>
        <p:nvSpPr>
          <p:cNvPr id="161" name="Google Shape;161;p5"/>
          <p:cNvSpPr/>
          <p:nvPr/>
        </p:nvSpPr>
        <p:spPr>
          <a:xfrm>
            <a:off x="5285232" y="3566160"/>
            <a:ext cx="352044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567D"/>
              </a:buClr>
              <a:buSzPts val="1100"/>
              <a:buFont typeface="Calibri"/>
              <a:buNone/>
            </a:pPr>
            <a:r>
              <a:rPr lang="en-US" sz="1100" b="1" i="0" u="none" strike="noStrike" cap="none" dirty="0">
                <a:solidFill>
                  <a:srgbClr val="00567D"/>
                </a:solidFill>
                <a:latin typeface="Calibri"/>
                <a:ea typeface="Calibri"/>
                <a:cs typeface="Calibri"/>
                <a:sym typeface="Calibri"/>
              </a:rPr>
              <a:t>Identify Poor Memory Processing</a:t>
            </a:r>
            <a:endParaRPr sz="1100" b="0" i="0" u="none" strike="noStrike" cap="none" dirty="0">
              <a:solidFill>
                <a:schemeClr val="dk1"/>
              </a:solidFill>
              <a:latin typeface="Calibri"/>
              <a:ea typeface="Calibri"/>
              <a:cs typeface="Calibri"/>
              <a:sym typeface="Calibri"/>
            </a:endParaRPr>
          </a:p>
        </p:txBody>
      </p:sp>
      <p:sp>
        <p:nvSpPr>
          <p:cNvPr id="162" name="Google Shape;162;p5"/>
          <p:cNvSpPr/>
          <p:nvPr/>
        </p:nvSpPr>
        <p:spPr>
          <a:xfrm>
            <a:off x="5285232" y="3877056"/>
            <a:ext cx="352044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950"/>
              <a:buFont typeface="Calibri"/>
              <a:buNone/>
            </a:pPr>
            <a:r>
              <a:rPr lang="en-US" sz="950" b="0" i="0" u="none" strike="noStrike" cap="none">
                <a:solidFill>
                  <a:srgbClr val="64748B"/>
                </a:solidFill>
                <a:latin typeface="Calibri"/>
                <a:ea typeface="Calibri"/>
                <a:cs typeface="Calibri"/>
                <a:sym typeface="Calibri"/>
              </a:rPr>
              <a:t>Highlight in-memory filtering done inefficiently</a:t>
            </a:r>
            <a:endParaRPr sz="950" b="0" i="0" u="none" strike="noStrike" cap="none">
              <a:solidFill>
                <a:schemeClr val="dk1"/>
              </a:solidFill>
              <a:latin typeface="Calibri"/>
              <a:ea typeface="Calibri"/>
              <a:cs typeface="Calibri"/>
              <a:sym typeface="Calibri"/>
            </a:endParaRPr>
          </a:p>
        </p:txBody>
      </p:sp>
      <p:sp>
        <p:nvSpPr>
          <p:cNvPr id="163" name="Google Shape;163;p5"/>
          <p:cNvSpPr/>
          <p:nvPr/>
        </p:nvSpPr>
        <p:spPr>
          <a:xfrm>
            <a:off x="365760" y="4325112"/>
            <a:ext cx="4114800" cy="713232"/>
          </a:xfrm>
          <a:prstGeom prst="rect">
            <a:avLst/>
          </a:prstGeom>
          <a:solidFill>
            <a:srgbClr val="EBF7FC"/>
          </a:solidFill>
          <a:ln w="9525" cap="flat" cmpd="sng">
            <a:solidFill>
              <a:srgbClr val="D0E8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5"/>
          <p:cNvSpPr/>
          <p:nvPr/>
        </p:nvSpPr>
        <p:spPr>
          <a:xfrm>
            <a:off x="365760" y="4325112"/>
            <a:ext cx="457200" cy="713232"/>
          </a:xfrm>
          <a:prstGeom prst="rect">
            <a:avLst/>
          </a:prstGeom>
          <a:solidFill>
            <a:srgbClr val="00567D"/>
          </a:solidFill>
          <a:ln w="12700" cap="flat" cmpd="sng">
            <a:solidFill>
              <a:srgbClr val="00567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5"/>
          <p:cNvSpPr/>
          <p:nvPr/>
        </p:nvSpPr>
        <p:spPr>
          <a:xfrm>
            <a:off x="365760" y="4325112"/>
            <a:ext cx="457200" cy="71323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i="0" u="none" strike="noStrike" cap="none">
                <a:solidFill>
                  <a:srgbClr val="FFFFFF"/>
                </a:solidFill>
                <a:latin typeface="Calibri"/>
                <a:ea typeface="Calibri"/>
                <a:cs typeface="Calibri"/>
                <a:sym typeface="Calibri"/>
              </a:rPr>
              <a:t>09</a:t>
            </a:r>
            <a:endParaRPr sz="1100" b="0" i="0" u="none" strike="noStrike" cap="none">
              <a:solidFill>
                <a:schemeClr val="dk1"/>
              </a:solidFill>
              <a:latin typeface="Calibri"/>
              <a:ea typeface="Calibri"/>
              <a:cs typeface="Calibri"/>
              <a:sym typeface="Calibri"/>
            </a:endParaRPr>
          </a:p>
        </p:txBody>
      </p:sp>
      <p:sp>
        <p:nvSpPr>
          <p:cNvPr id="166" name="Google Shape;166;p5"/>
          <p:cNvSpPr/>
          <p:nvPr/>
        </p:nvSpPr>
        <p:spPr>
          <a:xfrm>
            <a:off x="896112" y="4361688"/>
            <a:ext cx="352044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567D"/>
              </a:buClr>
              <a:buSzPts val="1100"/>
              <a:buFont typeface="Calibri"/>
              <a:buNone/>
            </a:pPr>
            <a:r>
              <a:rPr lang="en-US" sz="1100" b="1" i="0" u="none" strike="noStrike" cap="none" dirty="0">
                <a:solidFill>
                  <a:srgbClr val="00567D"/>
                </a:solidFill>
                <a:latin typeface="Calibri"/>
                <a:ea typeface="Calibri"/>
                <a:cs typeface="Calibri"/>
                <a:sym typeface="Calibri"/>
              </a:rPr>
              <a:t>Recommend Architecture Improvements</a:t>
            </a:r>
            <a:endParaRPr sz="1100" b="0" i="0" u="none" strike="noStrike" cap="none" dirty="0">
              <a:solidFill>
                <a:schemeClr val="dk1"/>
              </a:solidFill>
              <a:latin typeface="Calibri"/>
              <a:ea typeface="Calibri"/>
              <a:cs typeface="Calibri"/>
              <a:sym typeface="Calibri"/>
            </a:endParaRPr>
          </a:p>
        </p:txBody>
      </p:sp>
      <p:sp>
        <p:nvSpPr>
          <p:cNvPr id="167" name="Google Shape;167;p5"/>
          <p:cNvSpPr/>
          <p:nvPr/>
        </p:nvSpPr>
        <p:spPr>
          <a:xfrm>
            <a:off x="896112" y="4672584"/>
            <a:ext cx="352044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950"/>
              <a:buFont typeface="Calibri"/>
              <a:buNone/>
            </a:pPr>
            <a:r>
              <a:rPr lang="en-US" sz="950" b="0" i="0" u="none" strike="noStrike" cap="none">
                <a:solidFill>
                  <a:srgbClr val="64748B"/>
                </a:solidFill>
                <a:latin typeface="Calibri"/>
                <a:ea typeface="Calibri"/>
                <a:cs typeface="Calibri"/>
                <a:sym typeface="Calibri"/>
              </a:rPr>
              <a:t>Suggest better design patterns for scalability</a:t>
            </a:r>
            <a:endParaRPr sz="950" b="0" i="0" u="none" strike="noStrike" cap="none">
              <a:solidFill>
                <a:schemeClr val="dk1"/>
              </a:solidFill>
              <a:latin typeface="Calibri"/>
              <a:ea typeface="Calibri"/>
              <a:cs typeface="Calibri"/>
              <a:sym typeface="Calibri"/>
            </a:endParaRPr>
          </a:p>
        </p:txBody>
      </p:sp>
      <p:sp>
        <p:nvSpPr>
          <p:cNvPr id="168" name="Google Shape;168;p5"/>
          <p:cNvSpPr/>
          <p:nvPr/>
        </p:nvSpPr>
        <p:spPr>
          <a:xfrm>
            <a:off x="4754880" y="4325112"/>
            <a:ext cx="4114800" cy="713232"/>
          </a:xfrm>
          <a:prstGeom prst="rect">
            <a:avLst/>
          </a:prstGeom>
          <a:solidFill>
            <a:srgbClr val="EBF7FC"/>
          </a:solidFill>
          <a:ln w="9525" cap="flat" cmpd="sng">
            <a:solidFill>
              <a:srgbClr val="D0E8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5"/>
          <p:cNvSpPr/>
          <p:nvPr/>
        </p:nvSpPr>
        <p:spPr>
          <a:xfrm>
            <a:off x="4754880" y="4325112"/>
            <a:ext cx="457200" cy="713232"/>
          </a:xfrm>
          <a:prstGeom prst="rect">
            <a:avLst/>
          </a:prstGeom>
          <a:solidFill>
            <a:srgbClr val="00567D"/>
          </a:solidFill>
          <a:ln w="12700" cap="flat" cmpd="sng">
            <a:solidFill>
              <a:srgbClr val="00567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5"/>
          <p:cNvSpPr/>
          <p:nvPr/>
        </p:nvSpPr>
        <p:spPr>
          <a:xfrm>
            <a:off x="4754880" y="4325112"/>
            <a:ext cx="457200" cy="71323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i="0" u="none" strike="noStrike" cap="none">
                <a:solidFill>
                  <a:srgbClr val="FFFFFF"/>
                </a:solidFill>
                <a:latin typeface="Calibri"/>
                <a:ea typeface="Calibri"/>
                <a:cs typeface="Calibri"/>
                <a:sym typeface="Calibri"/>
              </a:rPr>
              <a:t>10</a:t>
            </a:r>
            <a:endParaRPr sz="1100" b="0" i="0" u="none" strike="noStrike" cap="none">
              <a:solidFill>
                <a:schemeClr val="dk1"/>
              </a:solidFill>
              <a:latin typeface="Calibri"/>
              <a:ea typeface="Calibri"/>
              <a:cs typeface="Calibri"/>
              <a:sym typeface="Calibri"/>
            </a:endParaRPr>
          </a:p>
        </p:txBody>
      </p:sp>
      <p:sp>
        <p:nvSpPr>
          <p:cNvPr id="171" name="Google Shape;171;p5"/>
          <p:cNvSpPr/>
          <p:nvPr/>
        </p:nvSpPr>
        <p:spPr>
          <a:xfrm>
            <a:off x="5285232" y="4361688"/>
            <a:ext cx="352044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567D"/>
              </a:buClr>
              <a:buSzPts val="1100"/>
              <a:buFont typeface="Calibri"/>
              <a:buNone/>
            </a:pPr>
            <a:r>
              <a:rPr lang="en-US" sz="1100" b="1" i="0" u="none" strike="noStrike" cap="none">
                <a:solidFill>
                  <a:srgbClr val="00567D"/>
                </a:solidFill>
                <a:latin typeface="Calibri"/>
                <a:ea typeface="Calibri"/>
                <a:cs typeface="Calibri"/>
                <a:sym typeface="Calibri"/>
              </a:rPr>
              <a:t>Generate Code Review Summaries</a:t>
            </a:r>
            <a:endParaRPr sz="1100" b="0" i="0" u="none" strike="noStrike" cap="none">
              <a:solidFill>
                <a:schemeClr val="dk1"/>
              </a:solidFill>
              <a:latin typeface="Calibri"/>
              <a:ea typeface="Calibri"/>
              <a:cs typeface="Calibri"/>
              <a:sym typeface="Calibri"/>
            </a:endParaRPr>
          </a:p>
        </p:txBody>
      </p:sp>
      <p:sp>
        <p:nvSpPr>
          <p:cNvPr id="172" name="Google Shape;172;p5"/>
          <p:cNvSpPr/>
          <p:nvPr/>
        </p:nvSpPr>
        <p:spPr>
          <a:xfrm>
            <a:off x="5285232" y="4672584"/>
            <a:ext cx="352044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950"/>
              <a:buFont typeface="Calibri"/>
              <a:buNone/>
            </a:pPr>
            <a:r>
              <a:rPr lang="en-US" sz="950" b="0" i="0" u="none" strike="noStrike" cap="none">
                <a:solidFill>
                  <a:srgbClr val="64748B"/>
                </a:solidFill>
                <a:latin typeface="Calibri"/>
                <a:ea typeface="Calibri"/>
                <a:cs typeface="Calibri"/>
                <a:sym typeface="Calibri"/>
              </a:rPr>
              <a:t>Structured summary of performance risks found</a:t>
            </a:r>
            <a:endParaRPr sz="950" b="0" i="0" u="none" strike="noStrike" cap="non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77"/>
        <p:cNvGrpSpPr/>
        <p:nvPr/>
      </p:nvGrpSpPr>
      <p:grpSpPr>
        <a:xfrm>
          <a:off x="0" y="0"/>
          <a:ext cx="0" cy="0"/>
          <a:chOff x="0" y="0"/>
          <a:chExt cx="0" cy="0"/>
        </a:xfrm>
      </p:grpSpPr>
      <p:sp>
        <p:nvSpPr>
          <p:cNvPr id="178" name="Google Shape;178;p6"/>
          <p:cNvSpPr/>
          <p:nvPr/>
        </p:nvSpPr>
        <p:spPr>
          <a:xfrm>
            <a:off x="0" y="0"/>
            <a:ext cx="9144000" cy="1005840"/>
          </a:xfrm>
          <a:prstGeom prst="rect">
            <a:avLst/>
          </a:prstGeom>
          <a:solidFill>
            <a:srgbClr val="00567D"/>
          </a:solidFill>
          <a:ln w="12700" cap="flat" cmpd="sng">
            <a:solidFill>
              <a:srgbClr val="00567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6"/>
          <p:cNvSpPr/>
          <p:nvPr/>
        </p:nvSpPr>
        <p:spPr>
          <a:xfrm>
            <a:off x="457200" y="228600"/>
            <a:ext cx="7315200"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200"/>
              <a:buFont typeface="Calibri"/>
              <a:buNone/>
            </a:pPr>
            <a:r>
              <a:rPr lang="en-US" sz="2200" b="1" i="0" u="none" strike="noStrike" cap="none">
                <a:solidFill>
                  <a:srgbClr val="FFFFFF"/>
                </a:solidFill>
                <a:latin typeface="Calibri"/>
                <a:ea typeface="Calibri"/>
                <a:cs typeface="Calibri"/>
                <a:sym typeface="Calibri"/>
              </a:rPr>
              <a:t>Prioritization Outcomes</a:t>
            </a:r>
            <a:endParaRPr sz="2200" b="0" i="0" u="none" strike="noStrike" cap="none">
              <a:solidFill>
                <a:schemeClr val="dk1"/>
              </a:solidFill>
              <a:latin typeface="Calibri"/>
              <a:ea typeface="Calibri"/>
              <a:cs typeface="Calibri"/>
              <a:sym typeface="Calibri"/>
            </a:endParaRPr>
          </a:p>
        </p:txBody>
      </p:sp>
      <p:sp>
        <p:nvSpPr>
          <p:cNvPr id="180" name="Google Shape;180;p6"/>
          <p:cNvSpPr/>
          <p:nvPr/>
        </p:nvSpPr>
        <p:spPr>
          <a:xfrm>
            <a:off x="7498080" y="182880"/>
            <a:ext cx="1463040" cy="548640"/>
          </a:xfrm>
          <a:prstGeom prst="rect">
            <a:avLst/>
          </a:prstGeom>
          <a:solidFill>
            <a:srgbClr val="00A1C2"/>
          </a:solidFill>
          <a:ln w="12700" cap="flat" cmpd="sng">
            <a:solidFill>
              <a:srgbClr val="00A1C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6"/>
          <p:cNvSpPr/>
          <p:nvPr/>
        </p:nvSpPr>
        <p:spPr>
          <a:xfrm>
            <a:off x="7498080" y="182880"/>
            <a:ext cx="1463040" cy="5486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n-US" sz="900" b="1" i="0" u="none" strike="noStrike" cap="none">
                <a:solidFill>
                  <a:srgbClr val="FFFFFF"/>
                </a:solidFill>
                <a:latin typeface="Calibri"/>
                <a:ea typeface="Calibri"/>
                <a:cs typeface="Calibri"/>
                <a:sym typeface="Calibri"/>
              </a:rPr>
              <a:t>Dubai Health</a:t>
            </a:r>
            <a:endParaRPr sz="900" b="0" i="0" u="none" strike="noStrike" cap="none">
              <a:solidFill>
                <a:schemeClr val="dk1"/>
              </a:solidFill>
              <a:latin typeface="Calibri"/>
              <a:ea typeface="Calibri"/>
              <a:cs typeface="Calibri"/>
              <a:sym typeface="Calibri"/>
            </a:endParaRPr>
          </a:p>
        </p:txBody>
      </p:sp>
      <p:sp>
        <p:nvSpPr>
          <p:cNvPr id="182" name="Google Shape;182;p6"/>
          <p:cNvSpPr/>
          <p:nvPr/>
        </p:nvSpPr>
        <p:spPr>
          <a:xfrm>
            <a:off x="365760" y="1097280"/>
            <a:ext cx="5029200" cy="365760"/>
          </a:xfrm>
          <a:prstGeom prst="rect">
            <a:avLst/>
          </a:prstGeom>
          <a:solidFill>
            <a:srgbClr val="007B9E"/>
          </a:solidFill>
          <a:ln w="12700" cap="flat" cmpd="sng">
            <a:solidFill>
              <a:srgbClr val="007B9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6"/>
          <p:cNvSpPr/>
          <p:nvPr/>
        </p:nvSpPr>
        <p:spPr>
          <a:xfrm>
            <a:off x="365760" y="1097280"/>
            <a:ext cx="502920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00"/>
              <a:buFont typeface="Calibri"/>
              <a:buNone/>
            </a:pPr>
            <a:r>
              <a:rPr lang="en-US" sz="1000" b="1" i="0" u="none" strike="noStrike" cap="none">
                <a:solidFill>
                  <a:srgbClr val="FFFFFF"/>
                </a:solidFill>
                <a:latin typeface="Calibri"/>
                <a:ea typeface="Calibri"/>
                <a:cs typeface="Calibri"/>
                <a:sym typeface="Calibri"/>
              </a:rPr>
              <a:t>Assessment Scores  (L = Low  M = Medium  H = High)</a:t>
            </a:r>
            <a:endParaRPr sz="1000" b="0" i="0" u="none" strike="noStrike" cap="none">
              <a:solidFill>
                <a:schemeClr val="dk1"/>
              </a:solidFill>
              <a:latin typeface="Calibri"/>
              <a:ea typeface="Calibri"/>
              <a:cs typeface="Calibri"/>
              <a:sym typeface="Calibri"/>
            </a:endParaRPr>
          </a:p>
        </p:txBody>
      </p:sp>
      <p:sp>
        <p:nvSpPr>
          <p:cNvPr id="184" name="Google Shape;184;p6"/>
          <p:cNvSpPr/>
          <p:nvPr/>
        </p:nvSpPr>
        <p:spPr>
          <a:xfrm>
            <a:off x="457200" y="1572768"/>
            <a:ext cx="201168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2E3B"/>
              </a:buClr>
              <a:buSzPts val="1100"/>
              <a:buFont typeface="Calibri"/>
              <a:buNone/>
            </a:pPr>
            <a:r>
              <a:rPr lang="en-US" sz="1100" b="1" i="0" u="none" strike="noStrike" cap="none" dirty="0">
                <a:solidFill>
                  <a:srgbClr val="1A2E3B"/>
                </a:solidFill>
                <a:latin typeface="Calibri"/>
                <a:ea typeface="Calibri"/>
                <a:cs typeface="Calibri"/>
                <a:sym typeface="Calibri"/>
              </a:rPr>
              <a:t>Clinical Impact</a:t>
            </a:r>
            <a:endParaRPr sz="1100" b="0" i="0" u="none" strike="noStrike" cap="none" dirty="0">
              <a:solidFill>
                <a:schemeClr val="dk1"/>
              </a:solidFill>
              <a:latin typeface="Calibri"/>
              <a:ea typeface="Calibri"/>
              <a:cs typeface="Calibri"/>
              <a:sym typeface="Calibri"/>
            </a:endParaRPr>
          </a:p>
        </p:txBody>
      </p:sp>
      <p:sp>
        <p:nvSpPr>
          <p:cNvPr id="185" name="Google Shape;185;p6"/>
          <p:cNvSpPr/>
          <p:nvPr/>
        </p:nvSpPr>
        <p:spPr>
          <a:xfrm>
            <a:off x="457200" y="1847088"/>
            <a:ext cx="2743200" cy="164592"/>
          </a:xfrm>
          <a:prstGeom prst="rect">
            <a:avLst/>
          </a:prstGeom>
          <a:solidFill>
            <a:srgbClr val="D0E8F0"/>
          </a:solidFill>
          <a:ln w="12700" cap="flat" cmpd="sng">
            <a:solidFill>
              <a:srgbClr val="D0E8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6"/>
          <p:cNvSpPr/>
          <p:nvPr/>
        </p:nvSpPr>
        <p:spPr>
          <a:xfrm>
            <a:off x="457200" y="1847088"/>
            <a:ext cx="2743200" cy="164592"/>
          </a:xfrm>
          <a:prstGeom prst="rect">
            <a:avLst/>
          </a:prstGeom>
          <a:solidFill>
            <a:srgbClr val="00567D"/>
          </a:solidFill>
          <a:ln w="12700" cap="flat" cmpd="sng">
            <a:solidFill>
              <a:srgbClr val="00567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6"/>
          <p:cNvSpPr/>
          <p:nvPr/>
        </p:nvSpPr>
        <p:spPr>
          <a:xfrm>
            <a:off x="3383280" y="1801368"/>
            <a:ext cx="1005840" cy="246888"/>
          </a:xfrm>
          <a:prstGeom prst="rect">
            <a:avLst/>
          </a:prstGeom>
          <a:solidFill>
            <a:srgbClr val="00567D"/>
          </a:solidFill>
          <a:ln w="12700" cap="flat" cmpd="sng">
            <a:solidFill>
              <a:srgbClr val="00567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6"/>
          <p:cNvSpPr/>
          <p:nvPr/>
        </p:nvSpPr>
        <p:spPr>
          <a:xfrm>
            <a:off x="3383280" y="1801368"/>
            <a:ext cx="1005840" cy="24688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n-US" sz="900" b="1" i="0" u="none" strike="noStrike" cap="none" dirty="0">
                <a:solidFill>
                  <a:srgbClr val="FFFFFF"/>
                </a:solidFill>
                <a:latin typeface="Calibri"/>
                <a:ea typeface="Calibri"/>
                <a:cs typeface="Calibri"/>
                <a:sym typeface="Calibri"/>
              </a:rPr>
              <a:t>High</a:t>
            </a:r>
            <a:endParaRPr sz="900" b="0" i="0" u="none" strike="noStrike" cap="none" dirty="0">
              <a:solidFill>
                <a:schemeClr val="dk1"/>
              </a:solidFill>
              <a:latin typeface="Calibri"/>
              <a:ea typeface="Calibri"/>
              <a:cs typeface="Calibri"/>
              <a:sym typeface="Calibri"/>
            </a:endParaRPr>
          </a:p>
        </p:txBody>
      </p:sp>
      <p:sp>
        <p:nvSpPr>
          <p:cNvPr id="189" name="Google Shape;189;p6"/>
          <p:cNvSpPr/>
          <p:nvPr/>
        </p:nvSpPr>
        <p:spPr>
          <a:xfrm>
            <a:off x="457200" y="2112264"/>
            <a:ext cx="201168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2E3B"/>
              </a:buClr>
              <a:buSzPts val="1100"/>
              <a:buFont typeface="Calibri"/>
              <a:buNone/>
            </a:pPr>
            <a:r>
              <a:rPr lang="en-US" sz="1100" b="1" i="0" u="none" strike="noStrike" cap="none">
                <a:solidFill>
                  <a:srgbClr val="1A2E3B"/>
                </a:solidFill>
                <a:latin typeface="Calibri"/>
                <a:ea typeface="Calibri"/>
                <a:cs typeface="Calibri"/>
                <a:sym typeface="Calibri"/>
              </a:rPr>
              <a:t>Business Impact</a:t>
            </a:r>
            <a:endParaRPr sz="1100" b="0" i="0" u="none" strike="noStrike" cap="none">
              <a:solidFill>
                <a:schemeClr val="dk1"/>
              </a:solidFill>
              <a:latin typeface="Calibri"/>
              <a:ea typeface="Calibri"/>
              <a:cs typeface="Calibri"/>
              <a:sym typeface="Calibri"/>
            </a:endParaRPr>
          </a:p>
        </p:txBody>
      </p:sp>
      <p:sp>
        <p:nvSpPr>
          <p:cNvPr id="190" name="Google Shape;190;p6"/>
          <p:cNvSpPr/>
          <p:nvPr/>
        </p:nvSpPr>
        <p:spPr>
          <a:xfrm>
            <a:off x="457200" y="2386584"/>
            <a:ext cx="2743200" cy="164592"/>
          </a:xfrm>
          <a:prstGeom prst="rect">
            <a:avLst/>
          </a:prstGeom>
          <a:solidFill>
            <a:srgbClr val="D0E8F0"/>
          </a:solidFill>
          <a:ln w="12700" cap="flat" cmpd="sng">
            <a:solidFill>
              <a:srgbClr val="D0E8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6"/>
          <p:cNvSpPr/>
          <p:nvPr/>
        </p:nvSpPr>
        <p:spPr>
          <a:xfrm>
            <a:off x="457200" y="2386584"/>
            <a:ext cx="2286000" cy="164592"/>
          </a:xfrm>
          <a:prstGeom prst="rect">
            <a:avLst/>
          </a:prstGeom>
          <a:solidFill>
            <a:srgbClr val="007B9E"/>
          </a:solidFill>
          <a:ln w="12700" cap="flat" cmpd="sng">
            <a:solidFill>
              <a:srgbClr val="007B9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6"/>
          <p:cNvSpPr/>
          <p:nvPr/>
        </p:nvSpPr>
        <p:spPr>
          <a:xfrm>
            <a:off x="3383280" y="2340864"/>
            <a:ext cx="1005840" cy="246888"/>
          </a:xfrm>
          <a:prstGeom prst="rect">
            <a:avLst/>
          </a:prstGeom>
          <a:solidFill>
            <a:srgbClr val="00567D"/>
          </a:solidFill>
          <a:ln w="12700" cap="flat" cmpd="sng">
            <a:solidFill>
              <a:srgbClr val="00567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6"/>
          <p:cNvSpPr/>
          <p:nvPr/>
        </p:nvSpPr>
        <p:spPr>
          <a:xfrm>
            <a:off x="3383280" y="2340864"/>
            <a:ext cx="1005840" cy="24688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n-US" sz="900" b="1" i="0" u="none" strike="noStrike" cap="none" dirty="0">
                <a:solidFill>
                  <a:srgbClr val="FFFFFF"/>
                </a:solidFill>
                <a:latin typeface="Calibri"/>
                <a:ea typeface="Calibri"/>
                <a:cs typeface="Calibri"/>
                <a:sym typeface="Calibri"/>
              </a:rPr>
              <a:t>Medium-High</a:t>
            </a:r>
            <a:endParaRPr sz="900" b="0" i="0" u="none" strike="noStrike" cap="none" dirty="0">
              <a:solidFill>
                <a:schemeClr val="dk1"/>
              </a:solidFill>
              <a:latin typeface="Calibri"/>
              <a:ea typeface="Calibri"/>
              <a:cs typeface="Calibri"/>
              <a:sym typeface="Calibri"/>
            </a:endParaRPr>
          </a:p>
        </p:txBody>
      </p:sp>
      <p:sp>
        <p:nvSpPr>
          <p:cNvPr id="194" name="Google Shape;194;p6"/>
          <p:cNvSpPr/>
          <p:nvPr/>
        </p:nvSpPr>
        <p:spPr>
          <a:xfrm>
            <a:off x="457200" y="2651760"/>
            <a:ext cx="201168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2E3B"/>
              </a:buClr>
              <a:buSzPts val="1100"/>
              <a:buFont typeface="Calibri"/>
              <a:buNone/>
            </a:pPr>
            <a:r>
              <a:rPr lang="en-US" sz="1100" b="1" i="0" u="none" strike="noStrike" cap="none">
                <a:solidFill>
                  <a:srgbClr val="1A2E3B"/>
                </a:solidFill>
                <a:latin typeface="Calibri"/>
                <a:ea typeface="Calibri"/>
                <a:cs typeface="Calibri"/>
                <a:sym typeface="Calibri"/>
              </a:rPr>
              <a:t>Strategic Alignment</a:t>
            </a:r>
            <a:endParaRPr sz="1100" b="0" i="0" u="none" strike="noStrike" cap="none">
              <a:solidFill>
                <a:schemeClr val="dk1"/>
              </a:solidFill>
              <a:latin typeface="Calibri"/>
              <a:ea typeface="Calibri"/>
              <a:cs typeface="Calibri"/>
              <a:sym typeface="Calibri"/>
            </a:endParaRPr>
          </a:p>
        </p:txBody>
      </p:sp>
      <p:sp>
        <p:nvSpPr>
          <p:cNvPr id="195" name="Google Shape;195;p6"/>
          <p:cNvSpPr/>
          <p:nvPr/>
        </p:nvSpPr>
        <p:spPr>
          <a:xfrm>
            <a:off x="457200" y="2926080"/>
            <a:ext cx="2743200" cy="164592"/>
          </a:xfrm>
          <a:prstGeom prst="rect">
            <a:avLst/>
          </a:prstGeom>
          <a:solidFill>
            <a:srgbClr val="D0E8F0"/>
          </a:solidFill>
          <a:ln w="12700" cap="flat" cmpd="sng">
            <a:solidFill>
              <a:srgbClr val="D0E8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6"/>
          <p:cNvSpPr/>
          <p:nvPr/>
        </p:nvSpPr>
        <p:spPr>
          <a:xfrm>
            <a:off x="3383280" y="2880360"/>
            <a:ext cx="1005840" cy="246888"/>
          </a:xfrm>
          <a:prstGeom prst="rect">
            <a:avLst/>
          </a:prstGeom>
          <a:solidFill>
            <a:srgbClr val="00567D"/>
          </a:solidFill>
          <a:ln w="12700" cap="flat" cmpd="sng">
            <a:solidFill>
              <a:srgbClr val="00567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6"/>
          <p:cNvSpPr/>
          <p:nvPr/>
        </p:nvSpPr>
        <p:spPr>
          <a:xfrm>
            <a:off x="3383280" y="2880360"/>
            <a:ext cx="1005840" cy="246888"/>
          </a:xfrm>
          <a:prstGeom prst="rect">
            <a:avLst/>
          </a:prstGeom>
          <a:noFill/>
          <a:ln>
            <a:noFill/>
          </a:ln>
        </p:spPr>
        <p:txBody>
          <a:bodyPr spcFirstLastPara="1" wrap="square" lIns="0" tIns="0" rIns="0" bIns="0" anchor="ctr" anchorCtr="0">
            <a:noAutofit/>
          </a:bodyPr>
          <a:lstStyle/>
          <a:p>
            <a:pPr algn="ctr">
              <a:buClr>
                <a:srgbClr val="FFFFFF"/>
              </a:buClr>
              <a:buSzPts val="900"/>
            </a:pPr>
            <a:r>
              <a:rPr lang="en-US" sz="900" b="1" dirty="0">
                <a:solidFill>
                  <a:srgbClr val="FFFFFF"/>
                </a:solidFill>
                <a:latin typeface="Calibri"/>
                <a:ea typeface="Calibri"/>
                <a:cs typeface="Calibri"/>
                <a:sym typeface="Calibri"/>
              </a:rPr>
              <a:t>Medium-High</a:t>
            </a:r>
            <a:endParaRPr lang="en-US" sz="900" dirty="0">
              <a:solidFill>
                <a:schemeClr val="dk1"/>
              </a:solidFill>
              <a:latin typeface="Calibri"/>
              <a:ea typeface="Calibri"/>
              <a:cs typeface="Calibri"/>
              <a:sym typeface="Calibri"/>
            </a:endParaRPr>
          </a:p>
        </p:txBody>
      </p:sp>
      <p:sp>
        <p:nvSpPr>
          <p:cNvPr id="199" name="Google Shape;199;p6"/>
          <p:cNvSpPr/>
          <p:nvPr/>
        </p:nvSpPr>
        <p:spPr>
          <a:xfrm>
            <a:off x="457200" y="3191256"/>
            <a:ext cx="201168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2E3B"/>
              </a:buClr>
              <a:buSzPts val="1100"/>
              <a:buFont typeface="Calibri"/>
              <a:buNone/>
            </a:pPr>
            <a:r>
              <a:rPr lang="en-US" sz="1100" b="1" i="0" u="none" strike="noStrike" cap="none">
                <a:solidFill>
                  <a:srgbClr val="1A2E3B"/>
                </a:solidFill>
                <a:latin typeface="Calibri"/>
                <a:ea typeface="Calibri"/>
                <a:cs typeface="Calibri"/>
                <a:sym typeface="Calibri"/>
              </a:rPr>
              <a:t>Technical Feasibility</a:t>
            </a:r>
            <a:endParaRPr sz="1100" b="0" i="0" u="none" strike="noStrike" cap="none">
              <a:solidFill>
                <a:schemeClr val="dk1"/>
              </a:solidFill>
              <a:latin typeface="Calibri"/>
              <a:ea typeface="Calibri"/>
              <a:cs typeface="Calibri"/>
              <a:sym typeface="Calibri"/>
            </a:endParaRPr>
          </a:p>
        </p:txBody>
      </p:sp>
      <p:sp>
        <p:nvSpPr>
          <p:cNvPr id="200" name="Google Shape;200;p6"/>
          <p:cNvSpPr/>
          <p:nvPr/>
        </p:nvSpPr>
        <p:spPr>
          <a:xfrm>
            <a:off x="457200" y="3465576"/>
            <a:ext cx="2743200" cy="164592"/>
          </a:xfrm>
          <a:prstGeom prst="rect">
            <a:avLst/>
          </a:prstGeom>
          <a:solidFill>
            <a:srgbClr val="D0E8F0"/>
          </a:solidFill>
          <a:ln w="12700" cap="flat" cmpd="sng">
            <a:solidFill>
              <a:srgbClr val="D0E8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6"/>
          <p:cNvSpPr/>
          <p:nvPr/>
        </p:nvSpPr>
        <p:spPr>
          <a:xfrm>
            <a:off x="3383280" y="3419856"/>
            <a:ext cx="1005840" cy="246888"/>
          </a:xfrm>
          <a:prstGeom prst="rect">
            <a:avLst/>
          </a:prstGeom>
          <a:solidFill>
            <a:srgbClr val="00567D"/>
          </a:solidFill>
          <a:ln w="12700" cap="flat" cmpd="sng">
            <a:solidFill>
              <a:srgbClr val="00567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6"/>
          <p:cNvSpPr/>
          <p:nvPr/>
        </p:nvSpPr>
        <p:spPr>
          <a:xfrm>
            <a:off x="3383280" y="3419856"/>
            <a:ext cx="1005840" cy="24688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n-US" sz="900" b="1" i="0" u="none" strike="noStrike" cap="none">
                <a:solidFill>
                  <a:srgbClr val="FFFFFF"/>
                </a:solidFill>
                <a:latin typeface="Calibri"/>
                <a:ea typeface="Calibri"/>
                <a:cs typeface="Calibri"/>
                <a:sym typeface="Calibri"/>
              </a:rPr>
              <a:t>High</a:t>
            </a:r>
            <a:endParaRPr sz="900" b="0" i="0" u="none" strike="noStrike" cap="none">
              <a:solidFill>
                <a:schemeClr val="dk1"/>
              </a:solidFill>
              <a:latin typeface="Calibri"/>
              <a:ea typeface="Calibri"/>
              <a:cs typeface="Calibri"/>
              <a:sym typeface="Calibri"/>
            </a:endParaRPr>
          </a:p>
        </p:txBody>
      </p:sp>
      <p:sp>
        <p:nvSpPr>
          <p:cNvPr id="204" name="Google Shape;204;p6"/>
          <p:cNvSpPr/>
          <p:nvPr/>
        </p:nvSpPr>
        <p:spPr>
          <a:xfrm>
            <a:off x="457200" y="3730752"/>
            <a:ext cx="201168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2E3B"/>
              </a:buClr>
              <a:buSzPts val="1100"/>
              <a:buFont typeface="Calibri"/>
              <a:buNone/>
            </a:pPr>
            <a:r>
              <a:rPr lang="en-US" sz="1100" b="1" i="0" u="none" strike="noStrike" cap="none">
                <a:solidFill>
                  <a:srgbClr val="1A2E3B"/>
                </a:solidFill>
                <a:latin typeface="Calibri"/>
                <a:ea typeface="Calibri"/>
                <a:cs typeface="Calibri"/>
                <a:sym typeface="Calibri"/>
              </a:rPr>
              <a:t>Organizational Feasibility</a:t>
            </a:r>
            <a:endParaRPr sz="1100" b="0" i="0" u="none" strike="noStrike" cap="none">
              <a:solidFill>
                <a:schemeClr val="dk1"/>
              </a:solidFill>
              <a:latin typeface="Calibri"/>
              <a:ea typeface="Calibri"/>
              <a:cs typeface="Calibri"/>
              <a:sym typeface="Calibri"/>
            </a:endParaRPr>
          </a:p>
        </p:txBody>
      </p:sp>
      <p:sp>
        <p:nvSpPr>
          <p:cNvPr id="205" name="Google Shape;205;p6"/>
          <p:cNvSpPr/>
          <p:nvPr/>
        </p:nvSpPr>
        <p:spPr>
          <a:xfrm>
            <a:off x="457200" y="4005072"/>
            <a:ext cx="2743200" cy="164592"/>
          </a:xfrm>
          <a:prstGeom prst="rect">
            <a:avLst/>
          </a:prstGeom>
          <a:solidFill>
            <a:srgbClr val="D0E8F0"/>
          </a:solidFill>
          <a:ln w="12700" cap="flat" cmpd="sng">
            <a:solidFill>
              <a:srgbClr val="D0E8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6"/>
          <p:cNvSpPr/>
          <p:nvPr/>
        </p:nvSpPr>
        <p:spPr>
          <a:xfrm>
            <a:off x="3383280" y="3959352"/>
            <a:ext cx="1005840" cy="246888"/>
          </a:xfrm>
          <a:prstGeom prst="rect">
            <a:avLst/>
          </a:prstGeom>
          <a:solidFill>
            <a:srgbClr val="00567D"/>
          </a:solidFill>
          <a:ln w="12700" cap="flat" cmpd="sng">
            <a:solidFill>
              <a:srgbClr val="00567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6"/>
          <p:cNvSpPr/>
          <p:nvPr/>
        </p:nvSpPr>
        <p:spPr>
          <a:xfrm>
            <a:off x="3383280" y="3959352"/>
            <a:ext cx="1005840" cy="24688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n-US" sz="900" b="1" i="0" u="none" strike="noStrike" cap="none">
                <a:solidFill>
                  <a:srgbClr val="FFFFFF"/>
                </a:solidFill>
                <a:latin typeface="Calibri"/>
                <a:ea typeface="Calibri"/>
                <a:cs typeface="Calibri"/>
                <a:sym typeface="Calibri"/>
              </a:rPr>
              <a:t>High</a:t>
            </a:r>
            <a:endParaRPr sz="900" b="0" i="0" u="none" strike="noStrike" cap="none">
              <a:solidFill>
                <a:schemeClr val="dk1"/>
              </a:solidFill>
              <a:latin typeface="Calibri"/>
              <a:ea typeface="Calibri"/>
              <a:cs typeface="Calibri"/>
              <a:sym typeface="Calibri"/>
            </a:endParaRPr>
          </a:p>
        </p:txBody>
      </p:sp>
      <p:sp>
        <p:nvSpPr>
          <p:cNvPr id="209" name="Google Shape;209;p6"/>
          <p:cNvSpPr/>
          <p:nvPr/>
        </p:nvSpPr>
        <p:spPr>
          <a:xfrm>
            <a:off x="457200" y="4270248"/>
            <a:ext cx="201168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2E3B"/>
              </a:buClr>
              <a:buSzPts val="1100"/>
              <a:buFont typeface="Calibri"/>
              <a:buNone/>
            </a:pPr>
            <a:r>
              <a:rPr lang="en-US" sz="1100" b="1" i="0" u="none" strike="noStrike" cap="none" dirty="0">
                <a:solidFill>
                  <a:srgbClr val="1A2E3B"/>
                </a:solidFill>
                <a:latin typeface="Calibri"/>
                <a:ea typeface="Calibri"/>
                <a:cs typeface="Calibri"/>
                <a:sym typeface="Calibri"/>
              </a:rPr>
              <a:t>Cost Feasibility</a:t>
            </a:r>
            <a:endParaRPr sz="1100" b="0" i="0" u="none" strike="noStrike" cap="none" dirty="0">
              <a:solidFill>
                <a:schemeClr val="dk1"/>
              </a:solidFill>
              <a:latin typeface="Calibri"/>
              <a:ea typeface="Calibri"/>
              <a:cs typeface="Calibri"/>
              <a:sym typeface="Calibri"/>
            </a:endParaRPr>
          </a:p>
        </p:txBody>
      </p:sp>
      <p:sp>
        <p:nvSpPr>
          <p:cNvPr id="210" name="Google Shape;210;p6"/>
          <p:cNvSpPr/>
          <p:nvPr/>
        </p:nvSpPr>
        <p:spPr>
          <a:xfrm>
            <a:off x="457200" y="4544568"/>
            <a:ext cx="2743200" cy="164592"/>
          </a:xfrm>
          <a:prstGeom prst="rect">
            <a:avLst/>
          </a:prstGeom>
          <a:solidFill>
            <a:srgbClr val="D0E8F0"/>
          </a:solidFill>
          <a:ln w="12700" cap="flat" cmpd="sng">
            <a:solidFill>
              <a:srgbClr val="D0E8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6"/>
          <p:cNvSpPr/>
          <p:nvPr/>
        </p:nvSpPr>
        <p:spPr>
          <a:xfrm>
            <a:off x="457200" y="4544568"/>
            <a:ext cx="2743200" cy="164592"/>
          </a:xfrm>
          <a:prstGeom prst="rect">
            <a:avLst/>
          </a:prstGeom>
          <a:solidFill>
            <a:srgbClr val="00567D"/>
          </a:solidFill>
          <a:ln w="12700" cap="flat" cmpd="sng">
            <a:solidFill>
              <a:srgbClr val="00567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6"/>
          <p:cNvSpPr/>
          <p:nvPr/>
        </p:nvSpPr>
        <p:spPr>
          <a:xfrm>
            <a:off x="3383280" y="4498848"/>
            <a:ext cx="1005840" cy="246888"/>
          </a:xfrm>
          <a:prstGeom prst="rect">
            <a:avLst/>
          </a:prstGeom>
          <a:solidFill>
            <a:srgbClr val="00567D"/>
          </a:solidFill>
          <a:ln w="12700" cap="flat" cmpd="sng">
            <a:solidFill>
              <a:srgbClr val="00567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6"/>
          <p:cNvSpPr/>
          <p:nvPr/>
        </p:nvSpPr>
        <p:spPr>
          <a:xfrm>
            <a:off x="3383280" y="4498848"/>
            <a:ext cx="1005840" cy="24688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n-US" sz="900" b="1" i="0" u="none" strike="noStrike" cap="none">
                <a:solidFill>
                  <a:srgbClr val="FFFFFF"/>
                </a:solidFill>
                <a:latin typeface="Calibri"/>
                <a:ea typeface="Calibri"/>
                <a:cs typeface="Calibri"/>
                <a:sym typeface="Calibri"/>
              </a:rPr>
              <a:t>High</a:t>
            </a:r>
            <a:endParaRPr sz="900" b="0" i="0" u="none" strike="noStrike" cap="none">
              <a:solidFill>
                <a:schemeClr val="dk1"/>
              </a:solidFill>
              <a:latin typeface="Calibri"/>
              <a:ea typeface="Calibri"/>
              <a:cs typeface="Calibri"/>
              <a:sym typeface="Calibri"/>
            </a:endParaRPr>
          </a:p>
        </p:txBody>
      </p:sp>
      <p:sp>
        <p:nvSpPr>
          <p:cNvPr id="214" name="Google Shape;214;p6"/>
          <p:cNvSpPr/>
          <p:nvPr/>
        </p:nvSpPr>
        <p:spPr>
          <a:xfrm>
            <a:off x="5669280" y="1097280"/>
            <a:ext cx="3108960" cy="365760"/>
          </a:xfrm>
          <a:prstGeom prst="rect">
            <a:avLst/>
          </a:prstGeom>
          <a:solidFill>
            <a:srgbClr val="007B9E"/>
          </a:solidFill>
          <a:ln w="12700" cap="flat" cmpd="sng">
            <a:solidFill>
              <a:srgbClr val="007B9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6"/>
          <p:cNvSpPr/>
          <p:nvPr/>
        </p:nvSpPr>
        <p:spPr>
          <a:xfrm>
            <a:off x="5669280" y="1097280"/>
            <a:ext cx="310896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300"/>
              <a:buFont typeface="Calibri"/>
              <a:buNone/>
            </a:pPr>
            <a:r>
              <a:rPr lang="en-US" sz="1300" b="1" i="0" u="none" strike="noStrike" cap="none">
                <a:solidFill>
                  <a:srgbClr val="FFFFFF"/>
                </a:solidFill>
                <a:latin typeface="Calibri"/>
                <a:ea typeface="Calibri"/>
                <a:cs typeface="Calibri"/>
                <a:sym typeface="Calibri"/>
              </a:rPr>
              <a:t>Time to Deploy</a:t>
            </a:r>
            <a:endParaRPr sz="1300" b="0" i="0" u="none" strike="noStrike" cap="none">
              <a:solidFill>
                <a:schemeClr val="dk1"/>
              </a:solidFill>
              <a:latin typeface="Calibri"/>
              <a:ea typeface="Calibri"/>
              <a:cs typeface="Calibri"/>
              <a:sym typeface="Calibri"/>
            </a:endParaRPr>
          </a:p>
        </p:txBody>
      </p:sp>
      <p:sp>
        <p:nvSpPr>
          <p:cNvPr id="216" name="Google Shape;216;p6"/>
          <p:cNvSpPr/>
          <p:nvPr/>
        </p:nvSpPr>
        <p:spPr>
          <a:xfrm>
            <a:off x="5669280" y="1554480"/>
            <a:ext cx="3108960" cy="2194560"/>
          </a:xfrm>
          <a:prstGeom prst="rect">
            <a:avLst/>
          </a:prstGeom>
          <a:solidFill>
            <a:srgbClr val="EBF7FC"/>
          </a:solidFill>
          <a:ln w="12700" cap="flat" cmpd="sng">
            <a:solidFill>
              <a:srgbClr val="00A1C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6"/>
          <p:cNvSpPr/>
          <p:nvPr/>
        </p:nvSpPr>
        <p:spPr>
          <a:xfrm>
            <a:off x="5669280" y="1600200"/>
            <a:ext cx="3108960" cy="9144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00000"/>
              </a:buClr>
              <a:buSzPts val="4000"/>
              <a:buFont typeface="Calibri"/>
              <a:buNone/>
            </a:pPr>
            <a:r>
              <a:rPr lang="en-US" sz="4000" b="0" i="0" u="none" strike="noStrike" cap="none">
                <a:solidFill>
                  <a:srgbClr val="000000"/>
                </a:solidFill>
                <a:latin typeface="Calibri"/>
                <a:ea typeface="Calibri"/>
                <a:cs typeface="Calibri"/>
                <a:sym typeface="Calibri"/>
              </a:rPr>
              <a:t>⏱</a:t>
            </a:r>
            <a:endParaRPr sz="4000" b="0" i="0" u="none" strike="noStrike" cap="none">
              <a:solidFill>
                <a:schemeClr val="dk1"/>
              </a:solidFill>
              <a:latin typeface="Calibri"/>
              <a:ea typeface="Calibri"/>
              <a:cs typeface="Calibri"/>
              <a:sym typeface="Calibri"/>
            </a:endParaRPr>
          </a:p>
        </p:txBody>
      </p:sp>
      <p:sp>
        <p:nvSpPr>
          <p:cNvPr id="218" name="Google Shape;218;p6"/>
          <p:cNvSpPr/>
          <p:nvPr/>
        </p:nvSpPr>
        <p:spPr>
          <a:xfrm>
            <a:off x="5669280" y="2560320"/>
            <a:ext cx="310896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0567D"/>
              </a:buClr>
              <a:buSzPts val="2000"/>
              <a:buFont typeface="Calibri"/>
              <a:buNone/>
            </a:pPr>
            <a:r>
              <a:rPr lang="en-US" sz="2000" b="1" i="0" u="none" strike="noStrike" cap="none">
                <a:solidFill>
                  <a:srgbClr val="00567D"/>
                </a:solidFill>
                <a:latin typeface="Calibri"/>
                <a:ea typeface="Calibri"/>
                <a:cs typeface="Calibri"/>
                <a:sym typeface="Calibri"/>
              </a:rPr>
              <a:t>3 – 6 Months</a:t>
            </a:r>
            <a:endParaRPr sz="2000" b="0" i="0" u="none" strike="noStrike" cap="none">
              <a:solidFill>
                <a:schemeClr val="dk1"/>
              </a:solidFill>
              <a:latin typeface="Calibri"/>
              <a:ea typeface="Calibri"/>
              <a:cs typeface="Calibri"/>
              <a:sym typeface="Calibri"/>
            </a:endParaRPr>
          </a:p>
        </p:txBody>
      </p:sp>
      <p:sp>
        <p:nvSpPr>
          <p:cNvPr id="219" name="Google Shape;219;p6"/>
          <p:cNvSpPr/>
          <p:nvPr/>
        </p:nvSpPr>
        <p:spPr>
          <a:xfrm>
            <a:off x="5669280" y="3017520"/>
            <a:ext cx="3108960" cy="3200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4748B"/>
              </a:buClr>
              <a:buSzPts val="1000"/>
              <a:buFont typeface="Calibri"/>
              <a:buNone/>
            </a:pPr>
            <a:r>
              <a:rPr lang="en-US" sz="1000" b="0" i="0" u="none" strike="noStrike" cap="none">
                <a:solidFill>
                  <a:srgbClr val="64748B"/>
                </a:solidFill>
                <a:latin typeface="Calibri"/>
                <a:ea typeface="Calibri"/>
                <a:cs typeface="Calibri"/>
                <a:sym typeface="Calibri"/>
              </a:rPr>
              <a:t>Estimated deployment timeline</a:t>
            </a:r>
            <a:endParaRPr sz="1000" b="0" i="0" u="none" strike="noStrike" cap="none">
              <a:solidFill>
                <a:schemeClr val="dk1"/>
              </a:solidFill>
              <a:latin typeface="Calibri"/>
              <a:ea typeface="Calibri"/>
              <a:cs typeface="Calibri"/>
              <a:sym typeface="Calibri"/>
            </a:endParaRPr>
          </a:p>
        </p:txBody>
      </p:sp>
      <p:sp>
        <p:nvSpPr>
          <p:cNvPr id="220" name="Google Shape;220;p6"/>
          <p:cNvSpPr/>
          <p:nvPr/>
        </p:nvSpPr>
        <p:spPr>
          <a:xfrm>
            <a:off x="5669280" y="3886200"/>
            <a:ext cx="3108960" cy="777240"/>
          </a:xfrm>
          <a:prstGeom prst="rect">
            <a:avLst/>
          </a:prstGeom>
          <a:solidFill>
            <a:srgbClr val="00567D"/>
          </a:solidFill>
          <a:ln w="12700" cap="flat" cmpd="sng">
            <a:solidFill>
              <a:srgbClr val="00567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6"/>
          <p:cNvSpPr/>
          <p:nvPr/>
        </p:nvSpPr>
        <p:spPr>
          <a:xfrm>
            <a:off x="5669280" y="3886200"/>
            <a:ext cx="3108960" cy="7772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Recommended for</a:t>
            </a:r>
            <a:endParaRPr sz="1200" b="0" i="0" u="none" strike="noStrike" cap="none">
              <a:solidFill>
                <a:schemeClr val="dk1"/>
              </a:solidFill>
              <a:latin typeface="Calibri"/>
              <a:ea typeface="Calibri"/>
              <a:cs typeface="Calibri"/>
              <a:sym typeface="Calibri"/>
            </a:endParaRPr>
          </a:p>
          <a:p>
            <a:pPr marL="0" marR="0" lvl="0" indent="0" algn="ctr"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Immediate Prioritization</a:t>
            </a:r>
            <a:endParaRPr sz="1200" b="0" i="0" u="none" strike="noStrike" cap="none">
              <a:solidFill>
                <a:schemeClr val="dk1"/>
              </a:solidFill>
              <a:latin typeface="Calibri"/>
              <a:ea typeface="Calibri"/>
              <a:cs typeface="Calibri"/>
              <a:sym typeface="Calibri"/>
            </a:endParaRPr>
          </a:p>
        </p:txBody>
      </p:sp>
      <p:sp>
        <p:nvSpPr>
          <p:cNvPr id="3" name="Google Shape;201;p6">
            <a:extLst>
              <a:ext uri="{FF2B5EF4-FFF2-40B4-BE49-F238E27FC236}">
                <a16:creationId xmlns:a16="http://schemas.microsoft.com/office/drawing/2014/main" id="{53E26AFB-0BE3-CF47-65DA-FB1DC182BA9D}"/>
              </a:ext>
            </a:extLst>
          </p:cNvPr>
          <p:cNvSpPr/>
          <p:nvPr/>
        </p:nvSpPr>
        <p:spPr>
          <a:xfrm>
            <a:off x="457200" y="4009644"/>
            <a:ext cx="2743200" cy="164592"/>
          </a:xfrm>
          <a:prstGeom prst="rect">
            <a:avLst/>
          </a:prstGeom>
          <a:solidFill>
            <a:srgbClr val="00567D"/>
          </a:solidFill>
          <a:ln w="12700" cap="flat" cmpd="sng">
            <a:solidFill>
              <a:srgbClr val="00567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191;p6">
            <a:extLst>
              <a:ext uri="{FF2B5EF4-FFF2-40B4-BE49-F238E27FC236}">
                <a16:creationId xmlns:a16="http://schemas.microsoft.com/office/drawing/2014/main" id="{3CB5019D-DBD3-59F7-B28C-EE37A5DDD067}"/>
              </a:ext>
            </a:extLst>
          </p:cNvPr>
          <p:cNvSpPr/>
          <p:nvPr/>
        </p:nvSpPr>
        <p:spPr>
          <a:xfrm>
            <a:off x="457200" y="3474720"/>
            <a:ext cx="1397358" cy="155448"/>
          </a:xfrm>
          <a:prstGeom prst="rect">
            <a:avLst/>
          </a:prstGeom>
          <a:solidFill>
            <a:srgbClr val="007B9E"/>
          </a:solidFill>
          <a:ln w="12700" cap="flat" cmpd="sng">
            <a:solidFill>
              <a:srgbClr val="007B9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191;p6">
            <a:extLst>
              <a:ext uri="{FF2B5EF4-FFF2-40B4-BE49-F238E27FC236}">
                <a16:creationId xmlns:a16="http://schemas.microsoft.com/office/drawing/2014/main" id="{31613645-B912-7821-7AE7-09F2BFEB9CF6}"/>
              </a:ext>
            </a:extLst>
          </p:cNvPr>
          <p:cNvSpPr/>
          <p:nvPr/>
        </p:nvSpPr>
        <p:spPr>
          <a:xfrm>
            <a:off x="457200" y="2926080"/>
            <a:ext cx="2286000" cy="164592"/>
          </a:xfrm>
          <a:prstGeom prst="rect">
            <a:avLst/>
          </a:prstGeom>
          <a:solidFill>
            <a:srgbClr val="007B9E"/>
          </a:solidFill>
          <a:ln w="12700" cap="flat" cmpd="sng">
            <a:solidFill>
              <a:srgbClr val="007B9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26"/>
        <p:cNvGrpSpPr/>
        <p:nvPr/>
      </p:nvGrpSpPr>
      <p:grpSpPr>
        <a:xfrm>
          <a:off x="0" y="0"/>
          <a:ext cx="0" cy="0"/>
          <a:chOff x="0" y="0"/>
          <a:chExt cx="0" cy="0"/>
        </a:xfrm>
      </p:grpSpPr>
      <p:sp>
        <p:nvSpPr>
          <p:cNvPr id="227" name="Google Shape;227;p7"/>
          <p:cNvSpPr/>
          <p:nvPr/>
        </p:nvSpPr>
        <p:spPr>
          <a:xfrm>
            <a:off x="0" y="0"/>
            <a:ext cx="9144000" cy="1005840"/>
          </a:xfrm>
          <a:prstGeom prst="rect">
            <a:avLst/>
          </a:prstGeom>
          <a:solidFill>
            <a:srgbClr val="00567D"/>
          </a:solidFill>
          <a:ln w="12700" cap="flat" cmpd="sng">
            <a:solidFill>
              <a:srgbClr val="00567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7"/>
          <p:cNvSpPr/>
          <p:nvPr/>
        </p:nvSpPr>
        <p:spPr>
          <a:xfrm>
            <a:off x="457200" y="228600"/>
            <a:ext cx="7315200"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800"/>
              <a:buFont typeface="Calibri"/>
              <a:buNone/>
            </a:pPr>
            <a:r>
              <a:rPr lang="en-US" sz="1800" b="1" i="0" u="none" strike="noStrike" cap="none">
                <a:solidFill>
                  <a:srgbClr val="FFFFFF"/>
                </a:solidFill>
                <a:latin typeface="Calibri"/>
                <a:ea typeface="Calibri"/>
                <a:cs typeface="Calibri"/>
                <a:sym typeface="Calibri"/>
              </a:rPr>
              <a:t>Secure Implementation in a Government Environment</a:t>
            </a:r>
            <a:endParaRPr sz="1800" b="0" i="0" u="none" strike="noStrike" cap="none">
              <a:solidFill>
                <a:schemeClr val="dk1"/>
              </a:solidFill>
              <a:latin typeface="Calibri"/>
              <a:ea typeface="Calibri"/>
              <a:cs typeface="Calibri"/>
              <a:sym typeface="Calibri"/>
            </a:endParaRPr>
          </a:p>
        </p:txBody>
      </p:sp>
      <p:sp>
        <p:nvSpPr>
          <p:cNvPr id="229" name="Google Shape;229;p7"/>
          <p:cNvSpPr/>
          <p:nvPr/>
        </p:nvSpPr>
        <p:spPr>
          <a:xfrm>
            <a:off x="7498080" y="182880"/>
            <a:ext cx="1463040" cy="548640"/>
          </a:xfrm>
          <a:prstGeom prst="rect">
            <a:avLst/>
          </a:prstGeom>
          <a:solidFill>
            <a:srgbClr val="00A1C2"/>
          </a:solidFill>
          <a:ln w="12700" cap="flat" cmpd="sng">
            <a:solidFill>
              <a:srgbClr val="00A1C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7"/>
          <p:cNvSpPr/>
          <p:nvPr/>
        </p:nvSpPr>
        <p:spPr>
          <a:xfrm>
            <a:off x="7498080" y="182880"/>
            <a:ext cx="1463040" cy="5486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n-US" sz="900" b="1" i="0" u="none" strike="noStrike" cap="none">
                <a:solidFill>
                  <a:srgbClr val="FFFFFF"/>
                </a:solidFill>
                <a:latin typeface="Calibri"/>
                <a:ea typeface="Calibri"/>
                <a:cs typeface="Calibri"/>
                <a:sym typeface="Calibri"/>
              </a:rPr>
              <a:t>Dubai Health</a:t>
            </a:r>
            <a:endParaRPr sz="900" b="0" i="0" u="none" strike="noStrike" cap="none">
              <a:solidFill>
                <a:schemeClr val="dk1"/>
              </a:solidFill>
              <a:latin typeface="Calibri"/>
              <a:ea typeface="Calibri"/>
              <a:cs typeface="Calibri"/>
              <a:sym typeface="Calibri"/>
            </a:endParaRPr>
          </a:p>
        </p:txBody>
      </p:sp>
      <p:sp>
        <p:nvSpPr>
          <p:cNvPr id="231" name="Google Shape;231;p7"/>
          <p:cNvSpPr/>
          <p:nvPr/>
        </p:nvSpPr>
        <p:spPr>
          <a:xfrm>
            <a:off x="365760" y="1143000"/>
            <a:ext cx="4160520" cy="804672"/>
          </a:xfrm>
          <a:prstGeom prst="rect">
            <a:avLst/>
          </a:prstGeom>
          <a:solidFill>
            <a:srgbClr val="EBF7FC"/>
          </a:solidFill>
          <a:ln w="9525" cap="flat" cmpd="sng">
            <a:solidFill>
              <a:srgbClr val="D0E8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7"/>
          <p:cNvSpPr/>
          <p:nvPr/>
        </p:nvSpPr>
        <p:spPr>
          <a:xfrm>
            <a:off x="365760" y="1143000"/>
            <a:ext cx="54864" cy="804672"/>
          </a:xfrm>
          <a:prstGeom prst="rect">
            <a:avLst/>
          </a:prstGeom>
          <a:solidFill>
            <a:srgbClr val="00A1C2"/>
          </a:solidFill>
          <a:ln w="12700" cap="flat" cmpd="sng">
            <a:solidFill>
              <a:srgbClr val="00A1C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7"/>
          <p:cNvSpPr/>
          <p:nvPr/>
        </p:nvSpPr>
        <p:spPr>
          <a:xfrm>
            <a:off x="475488" y="1280160"/>
            <a:ext cx="502920" cy="5029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00000"/>
              </a:buClr>
              <a:buSzPts val="2200"/>
              <a:buFont typeface="Calibri"/>
              <a:buNone/>
            </a:pPr>
            <a:r>
              <a:rPr lang="en-US" sz="2200" b="0" i="0" u="none" strike="noStrike" cap="none">
                <a:solidFill>
                  <a:srgbClr val="000000"/>
                </a:solidFill>
                <a:latin typeface="Calibri"/>
                <a:ea typeface="Calibri"/>
                <a:cs typeface="Calibri"/>
                <a:sym typeface="Calibri"/>
              </a:rPr>
              <a:t>🏢</a:t>
            </a:r>
            <a:endParaRPr sz="2200" b="0" i="0" u="none" strike="noStrike" cap="none">
              <a:solidFill>
                <a:schemeClr val="dk1"/>
              </a:solidFill>
              <a:latin typeface="Calibri"/>
              <a:ea typeface="Calibri"/>
              <a:cs typeface="Calibri"/>
              <a:sym typeface="Calibri"/>
            </a:endParaRPr>
          </a:p>
        </p:txBody>
      </p:sp>
      <p:sp>
        <p:nvSpPr>
          <p:cNvPr id="234" name="Google Shape;234;p7"/>
          <p:cNvSpPr/>
          <p:nvPr/>
        </p:nvSpPr>
        <p:spPr>
          <a:xfrm>
            <a:off x="1024128" y="1197864"/>
            <a:ext cx="3401568"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567D"/>
              </a:buClr>
              <a:buSzPts val="1100"/>
              <a:buFont typeface="Calibri"/>
              <a:buNone/>
            </a:pPr>
            <a:r>
              <a:rPr lang="en-US" sz="1100" b="1" i="0" u="none" strike="noStrike" cap="none">
                <a:solidFill>
                  <a:srgbClr val="00567D"/>
                </a:solidFill>
                <a:latin typeface="Calibri"/>
                <a:ea typeface="Calibri"/>
                <a:cs typeface="Calibri"/>
                <a:sym typeface="Calibri"/>
              </a:rPr>
              <a:t>Private Enterprise Only</a:t>
            </a:r>
            <a:endParaRPr sz="1100" b="0" i="0" u="none" strike="noStrike" cap="none">
              <a:solidFill>
                <a:schemeClr val="dk1"/>
              </a:solidFill>
              <a:latin typeface="Calibri"/>
              <a:ea typeface="Calibri"/>
              <a:cs typeface="Calibri"/>
              <a:sym typeface="Calibri"/>
            </a:endParaRPr>
          </a:p>
        </p:txBody>
      </p:sp>
      <p:sp>
        <p:nvSpPr>
          <p:cNvPr id="235" name="Google Shape;235;p7"/>
          <p:cNvSpPr/>
          <p:nvPr/>
        </p:nvSpPr>
        <p:spPr>
          <a:xfrm>
            <a:off x="1024128" y="1508760"/>
            <a:ext cx="3401568" cy="3474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000"/>
              <a:buFont typeface="Calibri"/>
              <a:buNone/>
            </a:pPr>
            <a:r>
              <a:rPr lang="en-US" sz="1000" b="0" i="0" u="none" strike="noStrike" cap="none">
                <a:solidFill>
                  <a:srgbClr val="64748B"/>
                </a:solidFill>
                <a:latin typeface="Calibri"/>
                <a:ea typeface="Calibri"/>
                <a:cs typeface="Calibri"/>
                <a:sym typeface="Calibri"/>
              </a:rPr>
              <a:t>Use AI exclusively within the private enterprise environment</a:t>
            </a:r>
            <a:endParaRPr sz="1000" b="0" i="0" u="none" strike="noStrike" cap="none">
              <a:solidFill>
                <a:schemeClr val="dk1"/>
              </a:solidFill>
              <a:latin typeface="Calibri"/>
              <a:ea typeface="Calibri"/>
              <a:cs typeface="Calibri"/>
              <a:sym typeface="Calibri"/>
            </a:endParaRPr>
          </a:p>
        </p:txBody>
      </p:sp>
      <p:sp>
        <p:nvSpPr>
          <p:cNvPr id="236" name="Google Shape;236;p7"/>
          <p:cNvSpPr/>
          <p:nvPr/>
        </p:nvSpPr>
        <p:spPr>
          <a:xfrm>
            <a:off x="4800600" y="1143000"/>
            <a:ext cx="4160520" cy="804672"/>
          </a:xfrm>
          <a:prstGeom prst="rect">
            <a:avLst/>
          </a:prstGeom>
          <a:solidFill>
            <a:srgbClr val="EBF7FC"/>
          </a:solidFill>
          <a:ln w="9525" cap="flat" cmpd="sng">
            <a:solidFill>
              <a:srgbClr val="D0E8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7"/>
          <p:cNvSpPr/>
          <p:nvPr/>
        </p:nvSpPr>
        <p:spPr>
          <a:xfrm>
            <a:off x="4800600" y="1143000"/>
            <a:ext cx="54864" cy="804672"/>
          </a:xfrm>
          <a:prstGeom prst="rect">
            <a:avLst/>
          </a:prstGeom>
          <a:solidFill>
            <a:srgbClr val="00A1C2"/>
          </a:solidFill>
          <a:ln w="12700" cap="flat" cmpd="sng">
            <a:solidFill>
              <a:srgbClr val="00A1C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7"/>
          <p:cNvSpPr/>
          <p:nvPr/>
        </p:nvSpPr>
        <p:spPr>
          <a:xfrm>
            <a:off x="4910328" y="1280160"/>
            <a:ext cx="502920" cy="5029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00000"/>
              </a:buClr>
              <a:buSzPts val="2200"/>
              <a:buFont typeface="Calibri"/>
              <a:buNone/>
            </a:pPr>
            <a:r>
              <a:rPr lang="en-US" sz="2200" b="0" i="0" u="none" strike="noStrike" cap="none">
                <a:solidFill>
                  <a:srgbClr val="000000"/>
                </a:solidFill>
                <a:latin typeface="Calibri"/>
                <a:ea typeface="Calibri"/>
                <a:cs typeface="Calibri"/>
                <a:sym typeface="Calibri"/>
              </a:rPr>
              <a:t>🚫</a:t>
            </a:r>
            <a:endParaRPr sz="2200" b="0" i="0" u="none" strike="noStrike" cap="none">
              <a:solidFill>
                <a:schemeClr val="dk1"/>
              </a:solidFill>
              <a:latin typeface="Calibri"/>
              <a:ea typeface="Calibri"/>
              <a:cs typeface="Calibri"/>
              <a:sym typeface="Calibri"/>
            </a:endParaRPr>
          </a:p>
        </p:txBody>
      </p:sp>
      <p:sp>
        <p:nvSpPr>
          <p:cNvPr id="239" name="Google Shape;239;p7"/>
          <p:cNvSpPr/>
          <p:nvPr/>
        </p:nvSpPr>
        <p:spPr>
          <a:xfrm>
            <a:off x="5458968" y="1197864"/>
            <a:ext cx="3401568"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567D"/>
              </a:buClr>
              <a:buSzPts val="1100"/>
              <a:buFont typeface="Calibri"/>
              <a:buNone/>
            </a:pPr>
            <a:r>
              <a:rPr lang="en-US" sz="1100" b="1" i="0" u="none" strike="noStrike" cap="none">
                <a:solidFill>
                  <a:srgbClr val="00567D"/>
                </a:solidFill>
                <a:latin typeface="Calibri"/>
                <a:ea typeface="Calibri"/>
                <a:cs typeface="Calibri"/>
                <a:sym typeface="Calibri"/>
              </a:rPr>
              <a:t>No Public AI Tools</a:t>
            </a:r>
            <a:endParaRPr sz="1100" b="0" i="0" u="none" strike="noStrike" cap="none">
              <a:solidFill>
                <a:schemeClr val="dk1"/>
              </a:solidFill>
              <a:latin typeface="Calibri"/>
              <a:ea typeface="Calibri"/>
              <a:cs typeface="Calibri"/>
              <a:sym typeface="Calibri"/>
            </a:endParaRPr>
          </a:p>
        </p:txBody>
      </p:sp>
      <p:sp>
        <p:nvSpPr>
          <p:cNvPr id="240" name="Google Shape;240;p7"/>
          <p:cNvSpPr/>
          <p:nvPr/>
        </p:nvSpPr>
        <p:spPr>
          <a:xfrm>
            <a:off x="5458968" y="1508760"/>
            <a:ext cx="3401568" cy="3474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000"/>
              <a:buFont typeface="Calibri"/>
              <a:buNone/>
            </a:pPr>
            <a:r>
              <a:rPr lang="en-US" sz="1000" b="0" i="0" u="none" strike="noStrike" cap="none">
                <a:solidFill>
                  <a:srgbClr val="64748B"/>
                </a:solidFill>
                <a:latin typeface="Calibri"/>
                <a:ea typeface="Calibri"/>
                <a:cs typeface="Calibri"/>
                <a:sym typeface="Calibri"/>
              </a:rPr>
              <a:t>Do not upload code to public or external AI tools</a:t>
            </a:r>
            <a:endParaRPr sz="1000" b="0" i="0" u="none" strike="noStrike" cap="none">
              <a:solidFill>
                <a:schemeClr val="dk1"/>
              </a:solidFill>
              <a:latin typeface="Calibri"/>
              <a:ea typeface="Calibri"/>
              <a:cs typeface="Calibri"/>
              <a:sym typeface="Calibri"/>
            </a:endParaRPr>
          </a:p>
        </p:txBody>
      </p:sp>
      <p:sp>
        <p:nvSpPr>
          <p:cNvPr id="241" name="Google Shape;241;p7"/>
          <p:cNvSpPr/>
          <p:nvPr/>
        </p:nvSpPr>
        <p:spPr>
          <a:xfrm>
            <a:off x="365760" y="2057400"/>
            <a:ext cx="4160520" cy="804672"/>
          </a:xfrm>
          <a:prstGeom prst="rect">
            <a:avLst/>
          </a:prstGeom>
          <a:solidFill>
            <a:srgbClr val="EBF7FC"/>
          </a:solidFill>
          <a:ln w="9525" cap="flat" cmpd="sng">
            <a:solidFill>
              <a:srgbClr val="D0E8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7"/>
          <p:cNvSpPr/>
          <p:nvPr/>
        </p:nvSpPr>
        <p:spPr>
          <a:xfrm>
            <a:off x="365760" y="2057400"/>
            <a:ext cx="54864" cy="804672"/>
          </a:xfrm>
          <a:prstGeom prst="rect">
            <a:avLst/>
          </a:prstGeom>
          <a:solidFill>
            <a:srgbClr val="00A1C2"/>
          </a:solidFill>
          <a:ln w="12700" cap="flat" cmpd="sng">
            <a:solidFill>
              <a:srgbClr val="00A1C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7"/>
          <p:cNvSpPr/>
          <p:nvPr/>
        </p:nvSpPr>
        <p:spPr>
          <a:xfrm>
            <a:off x="475488" y="2194560"/>
            <a:ext cx="502920" cy="5029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00000"/>
              </a:buClr>
              <a:buSzPts val="2200"/>
              <a:buFont typeface="Calibri"/>
              <a:buNone/>
            </a:pPr>
            <a:r>
              <a:rPr lang="en-US" sz="2200" b="0" i="0" u="none" strike="noStrike" cap="none">
                <a:solidFill>
                  <a:srgbClr val="000000"/>
                </a:solidFill>
                <a:latin typeface="Calibri"/>
                <a:ea typeface="Calibri"/>
                <a:cs typeface="Calibri"/>
                <a:sym typeface="Calibri"/>
              </a:rPr>
              <a:t>🔒</a:t>
            </a:r>
            <a:endParaRPr sz="2200" b="0" i="0" u="none" strike="noStrike" cap="none">
              <a:solidFill>
                <a:schemeClr val="dk1"/>
              </a:solidFill>
              <a:latin typeface="Calibri"/>
              <a:ea typeface="Calibri"/>
              <a:cs typeface="Calibri"/>
              <a:sym typeface="Calibri"/>
            </a:endParaRPr>
          </a:p>
        </p:txBody>
      </p:sp>
      <p:sp>
        <p:nvSpPr>
          <p:cNvPr id="244" name="Google Shape;244;p7"/>
          <p:cNvSpPr/>
          <p:nvPr/>
        </p:nvSpPr>
        <p:spPr>
          <a:xfrm>
            <a:off x="1024128" y="2112264"/>
            <a:ext cx="3401568"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567D"/>
              </a:buClr>
              <a:buSzPts val="1100"/>
              <a:buFont typeface="Calibri"/>
              <a:buNone/>
            </a:pPr>
            <a:r>
              <a:rPr lang="en-US" sz="1100" b="1" i="0" u="none" strike="noStrike" cap="none">
                <a:solidFill>
                  <a:srgbClr val="00567D"/>
                </a:solidFill>
                <a:latin typeface="Calibri"/>
                <a:ea typeface="Calibri"/>
                <a:cs typeface="Calibri"/>
                <a:sym typeface="Calibri"/>
              </a:rPr>
              <a:t>Mask Sensitive Data</a:t>
            </a:r>
            <a:endParaRPr sz="1100" b="0" i="0" u="none" strike="noStrike" cap="none">
              <a:solidFill>
                <a:schemeClr val="dk1"/>
              </a:solidFill>
              <a:latin typeface="Calibri"/>
              <a:ea typeface="Calibri"/>
              <a:cs typeface="Calibri"/>
              <a:sym typeface="Calibri"/>
            </a:endParaRPr>
          </a:p>
        </p:txBody>
      </p:sp>
      <p:sp>
        <p:nvSpPr>
          <p:cNvPr id="245" name="Google Shape;245;p7"/>
          <p:cNvSpPr/>
          <p:nvPr/>
        </p:nvSpPr>
        <p:spPr>
          <a:xfrm>
            <a:off x="1024128" y="2423160"/>
            <a:ext cx="3401568" cy="3474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000"/>
              <a:buFont typeface="Calibri"/>
              <a:buNone/>
            </a:pPr>
            <a:r>
              <a:rPr lang="en-US" sz="1000" b="0" i="0" u="none" strike="noStrike" cap="none">
                <a:solidFill>
                  <a:srgbClr val="64748B"/>
                </a:solidFill>
                <a:latin typeface="Calibri"/>
                <a:ea typeface="Calibri"/>
                <a:cs typeface="Calibri"/>
                <a:sym typeface="Calibri"/>
              </a:rPr>
              <a:t>Mask org names, URLs, tokens, secrets, and connection strings</a:t>
            </a:r>
            <a:endParaRPr sz="1000" b="0" i="0" u="none" strike="noStrike" cap="none">
              <a:solidFill>
                <a:schemeClr val="dk1"/>
              </a:solidFill>
              <a:latin typeface="Calibri"/>
              <a:ea typeface="Calibri"/>
              <a:cs typeface="Calibri"/>
              <a:sym typeface="Calibri"/>
            </a:endParaRPr>
          </a:p>
        </p:txBody>
      </p:sp>
      <p:sp>
        <p:nvSpPr>
          <p:cNvPr id="246" name="Google Shape;246;p7"/>
          <p:cNvSpPr/>
          <p:nvPr/>
        </p:nvSpPr>
        <p:spPr>
          <a:xfrm>
            <a:off x="4800600" y="2057400"/>
            <a:ext cx="4160520" cy="804672"/>
          </a:xfrm>
          <a:prstGeom prst="rect">
            <a:avLst/>
          </a:prstGeom>
          <a:solidFill>
            <a:srgbClr val="EBF7FC"/>
          </a:solidFill>
          <a:ln w="9525" cap="flat" cmpd="sng">
            <a:solidFill>
              <a:srgbClr val="D0E8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7"/>
          <p:cNvSpPr/>
          <p:nvPr/>
        </p:nvSpPr>
        <p:spPr>
          <a:xfrm>
            <a:off x="4800600" y="2057400"/>
            <a:ext cx="54864" cy="804672"/>
          </a:xfrm>
          <a:prstGeom prst="rect">
            <a:avLst/>
          </a:prstGeom>
          <a:solidFill>
            <a:srgbClr val="00A1C2"/>
          </a:solidFill>
          <a:ln w="12700" cap="flat" cmpd="sng">
            <a:solidFill>
              <a:srgbClr val="00A1C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7"/>
          <p:cNvSpPr/>
          <p:nvPr/>
        </p:nvSpPr>
        <p:spPr>
          <a:xfrm>
            <a:off x="4910328" y="2194560"/>
            <a:ext cx="502920" cy="5029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00000"/>
              </a:buClr>
              <a:buSzPts val="2200"/>
              <a:buFont typeface="Calibri"/>
              <a:buNone/>
            </a:pPr>
            <a:r>
              <a:rPr lang="en-US" sz="2200" b="0" i="0" u="none" strike="noStrike" cap="none">
                <a:solidFill>
                  <a:srgbClr val="000000"/>
                </a:solidFill>
                <a:latin typeface="Calibri"/>
                <a:ea typeface="Calibri"/>
                <a:cs typeface="Calibri"/>
                <a:sym typeface="Calibri"/>
              </a:rPr>
              <a:t>🔑</a:t>
            </a:r>
            <a:endParaRPr sz="2200" b="0" i="0" u="none" strike="noStrike" cap="none">
              <a:solidFill>
                <a:schemeClr val="dk1"/>
              </a:solidFill>
              <a:latin typeface="Calibri"/>
              <a:ea typeface="Calibri"/>
              <a:cs typeface="Calibri"/>
              <a:sym typeface="Calibri"/>
            </a:endParaRPr>
          </a:p>
        </p:txBody>
      </p:sp>
      <p:sp>
        <p:nvSpPr>
          <p:cNvPr id="249" name="Google Shape;249;p7"/>
          <p:cNvSpPr/>
          <p:nvPr/>
        </p:nvSpPr>
        <p:spPr>
          <a:xfrm>
            <a:off x="5458968" y="2112264"/>
            <a:ext cx="3401568"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567D"/>
              </a:buClr>
              <a:buSzPts val="1100"/>
              <a:buFont typeface="Calibri"/>
              <a:buNone/>
            </a:pPr>
            <a:r>
              <a:rPr lang="en-US" sz="1100" b="1" i="0" u="none" strike="noStrike" cap="none">
                <a:solidFill>
                  <a:srgbClr val="00567D"/>
                </a:solidFill>
                <a:latin typeface="Calibri"/>
                <a:ea typeface="Calibri"/>
                <a:cs typeface="Calibri"/>
                <a:sym typeface="Calibri"/>
              </a:rPr>
              <a:t>Exclude Credentials</a:t>
            </a:r>
            <a:endParaRPr sz="1100" b="0" i="0" u="none" strike="noStrike" cap="none">
              <a:solidFill>
                <a:schemeClr val="dk1"/>
              </a:solidFill>
              <a:latin typeface="Calibri"/>
              <a:ea typeface="Calibri"/>
              <a:cs typeface="Calibri"/>
              <a:sym typeface="Calibri"/>
            </a:endParaRPr>
          </a:p>
        </p:txBody>
      </p:sp>
      <p:sp>
        <p:nvSpPr>
          <p:cNvPr id="250" name="Google Shape;250;p7"/>
          <p:cNvSpPr/>
          <p:nvPr/>
        </p:nvSpPr>
        <p:spPr>
          <a:xfrm>
            <a:off x="5458968" y="2423160"/>
            <a:ext cx="3401568" cy="3474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000"/>
              <a:buFont typeface="Calibri"/>
              <a:buNone/>
            </a:pPr>
            <a:r>
              <a:rPr lang="en-US" sz="1000" b="0" i="0" u="none" strike="noStrike" cap="none" dirty="0">
                <a:solidFill>
                  <a:srgbClr val="64748B"/>
                </a:solidFill>
                <a:latin typeface="Calibri"/>
                <a:ea typeface="Calibri"/>
                <a:cs typeface="Calibri"/>
                <a:sym typeface="Calibri"/>
              </a:rPr>
              <a:t>Exclude production credentials and sensitive config files</a:t>
            </a:r>
            <a:endParaRPr sz="1000" b="0" i="0" u="none" strike="noStrike" cap="none" dirty="0">
              <a:solidFill>
                <a:schemeClr val="dk1"/>
              </a:solidFill>
              <a:latin typeface="Calibri"/>
              <a:ea typeface="Calibri"/>
              <a:cs typeface="Calibri"/>
              <a:sym typeface="Calibri"/>
            </a:endParaRPr>
          </a:p>
        </p:txBody>
      </p:sp>
      <p:sp>
        <p:nvSpPr>
          <p:cNvPr id="251" name="Google Shape;251;p7"/>
          <p:cNvSpPr/>
          <p:nvPr/>
        </p:nvSpPr>
        <p:spPr>
          <a:xfrm>
            <a:off x="4800600" y="2971800"/>
            <a:ext cx="4160520" cy="804672"/>
          </a:xfrm>
          <a:prstGeom prst="rect">
            <a:avLst/>
          </a:prstGeom>
          <a:solidFill>
            <a:srgbClr val="EBF7FC"/>
          </a:solidFill>
          <a:ln w="9525" cap="flat" cmpd="sng">
            <a:solidFill>
              <a:srgbClr val="D0E8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7"/>
          <p:cNvSpPr/>
          <p:nvPr/>
        </p:nvSpPr>
        <p:spPr>
          <a:xfrm>
            <a:off x="4800600" y="2971800"/>
            <a:ext cx="54864" cy="804672"/>
          </a:xfrm>
          <a:prstGeom prst="rect">
            <a:avLst/>
          </a:prstGeom>
          <a:solidFill>
            <a:srgbClr val="00A1C2"/>
          </a:solidFill>
          <a:ln w="12700" cap="flat" cmpd="sng">
            <a:solidFill>
              <a:srgbClr val="00A1C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7"/>
          <p:cNvSpPr/>
          <p:nvPr/>
        </p:nvSpPr>
        <p:spPr>
          <a:xfrm>
            <a:off x="4910328" y="3108960"/>
            <a:ext cx="502920" cy="5029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00000"/>
              </a:buClr>
              <a:buSzPts val="2200"/>
              <a:buFont typeface="Calibri"/>
              <a:buNone/>
            </a:pPr>
            <a:r>
              <a:rPr lang="en-US" sz="2200" b="0" i="0" u="none" strike="noStrike" cap="none">
                <a:solidFill>
                  <a:srgbClr val="000000"/>
                </a:solidFill>
                <a:latin typeface="Calibri"/>
                <a:ea typeface="Calibri"/>
                <a:cs typeface="Calibri"/>
                <a:sym typeface="Calibri"/>
              </a:rPr>
              <a:t>📋</a:t>
            </a:r>
            <a:endParaRPr sz="2200" b="0" i="0" u="none" strike="noStrike" cap="none">
              <a:solidFill>
                <a:schemeClr val="dk1"/>
              </a:solidFill>
              <a:latin typeface="Calibri"/>
              <a:ea typeface="Calibri"/>
              <a:cs typeface="Calibri"/>
              <a:sym typeface="Calibri"/>
            </a:endParaRPr>
          </a:p>
        </p:txBody>
      </p:sp>
      <p:sp>
        <p:nvSpPr>
          <p:cNvPr id="254" name="Google Shape;254;p7"/>
          <p:cNvSpPr/>
          <p:nvPr/>
        </p:nvSpPr>
        <p:spPr>
          <a:xfrm>
            <a:off x="5458968" y="3026664"/>
            <a:ext cx="3401568"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567D"/>
              </a:buClr>
              <a:buSzPts val="1100"/>
              <a:buFont typeface="Calibri"/>
              <a:buNone/>
            </a:pPr>
            <a:r>
              <a:rPr lang="en-US" sz="1100" b="1" i="0" u="none" strike="noStrike" cap="none">
                <a:solidFill>
                  <a:srgbClr val="00567D"/>
                </a:solidFill>
                <a:latin typeface="Calibri"/>
                <a:ea typeface="Calibri"/>
                <a:cs typeface="Calibri"/>
                <a:sym typeface="Calibri"/>
              </a:rPr>
              <a:t>Audit Logging</a:t>
            </a:r>
            <a:endParaRPr sz="1100" b="0" i="0" u="none" strike="noStrike" cap="none">
              <a:solidFill>
                <a:schemeClr val="dk1"/>
              </a:solidFill>
              <a:latin typeface="Calibri"/>
              <a:ea typeface="Calibri"/>
              <a:cs typeface="Calibri"/>
              <a:sym typeface="Calibri"/>
            </a:endParaRPr>
          </a:p>
        </p:txBody>
      </p:sp>
      <p:sp>
        <p:nvSpPr>
          <p:cNvPr id="255" name="Google Shape;255;p7"/>
          <p:cNvSpPr/>
          <p:nvPr/>
        </p:nvSpPr>
        <p:spPr>
          <a:xfrm>
            <a:off x="5458968" y="3337560"/>
            <a:ext cx="3401568" cy="3474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000"/>
              <a:buFont typeface="Calibri"/>
              <a:buNone/>
            </a:pPr>
            <a:r>
              <a:rPr lang="en-US" sz="1000" dirty="0">
                <a:solidFill>
                  <a:srgbClr val="64748B"/>
                </a:solidFill>
                <a:latin typeface="Calibri"/>
                <a:ea typeface="Calibri"/>
                <a:cs typeface="Calibri"/>
                <a:sym typeface="Calibri"/>
              </a:rPr>
              <a:t>Record and keep a trace of every code review activity done by the AI for (accountability , traceability)</a:t>
            </a:r>
            <a:endParaRPr sz="1000" dirty="0">
              <a:solidFill>
                <a:srgbClr val="64748B"/>
              </a:solidFill>
              <a:latin typeface="Calibri"/>
              <a:ea typeface="Calibri"/>
              <a:cs typeface="Calibri"/>
              <a:sym typeface="Calibri"/>
            </a:endParaRPr>
          </a:p>
        </p:txBody>
      </p:sp>
      <p:sp>
        <p:nvSpPr>
          <p:cNvPr id="256" name="Google Shape;256;p7"/>
          <p:cNvSpPr/>
          <p:nvPr/>
        </p:nvSpPr>
        <p:spPr>
          <a:xfrm>
            <a:off x="365750" y="2971800"/>
            <a:ext cx="4160400" cy="804600"/>
          </a:xfrm>
          <a:prstGeom prst="rect">
            <a:avLst/>
          </a:prstGeom>
          <a:solidFill>
            <a:srgbClr val="EBF7FC"/>
          </a:solidFill>
          <a:ln w="9525" cap="flat" cmpd="sng">
            <a:solidFill>
              <a:srgbClr val="D0E8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7"/>
          <p:cNvSpPr/>
          <p:nvPr/>
        </p:nvSpPr>
        <p:spPr>
          <a:xfrm>
            <a:off x="365750" y="2971800"/>
            <a:ext cx="54900" cy="804600"/>
          </a:xfrm>
          <a:prstGeom prst="rect">
            <a:avLst/>
          </a:prstGeom>
          <a:solidFill>
            <a:srgbClr val="00A1C2"/>
          </a:solidFill>
          <a:ln w="12700" cap="flat" cmpd="sng">
            <a:solidFill>
              <a:srgbClr val="00A1C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7"/>
          <p:cNvSpPr/>
          <p:nvPr/>
        </p:nvSpPr>
        <p:spPr>
          <a:xfrm>
            <a:off x="475478" y="3108960"/>
            <a:ext cx="502800" cy="5028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00000"/>
              </a:buClr>
              <a:buSzPts val="2200"/>
              <a:buFont typeface="Calibri"/>
              <a:buNone/>
            </a:pPr>
            <a:r>
              <a:rPr lang="en-US" sz="2200" b="0" i="0" u="none" strike="noStrike" cap="none">
                <a:solidFill>
                  <a:srgbClr val="000000"/>
                </a:solidFill>
                <a:latin typeface="Calibri"/>
                <a:ea typeface="Calibri"/>
                <a:cs typeface="Calibri"/>
                <a:sym typeface="Calibri"/>
              </a:rPr>
              <a:t>✋</a:t>
            </a:r>
            <a:endParaRPr sz="2200" b="0" i="0" u="none" strike="noStrike" cap="none">
              <a:solidFill>
                <a:schemeClr val="dk1"/>
              </a:solidFill>
              <a:latin typeface="Calibri"/>
              <a:ea typeface="Calibri"/>
              <a:cs typeface="Calibri"/>
              <a:sym typeface="Calibri"/>
            </a:endParaRPr>
          </a:p>
        </p:txBody>
      </p:sp>
      <p:sp>
        <p:nvSpPr>
          <p:cNvPr id="259" name="Google Shape;259;p7"/>
          <p:cNvSpPr/>
          <p:nvPr/>
        </p:nvSpPr>
        <p:spPr>
          <a:xfrm>
            <a:off x="1033093" y="3063239"/>
            <a:ext cx="3401700" cy="2925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567D"/>
              </a:buClr>
              <a:buSzPts val="1100"/>
              <a:buFont typeface="Calibri"/>
              <a:buNone/>
            </a:pPr>
            <a:r>
              <a:rPr lang="en-US" sz="1100" b="1" i="0" u="none" strike="noStrike" cap="none">
                <a:solidFill>
                  <a:srgbClr val="00567D"/>
                </a:solidFill>
                <a:latin typeface="Calibri"/>
                <a:ea typeface="Calibri"/>
                <a:cs typeface="Calibri"/>
                <a:sym typeface="Calibri"/>
              </a:rPr>
              <a:t>Review Assistance Only</a:t>
            </a:r>
            <a:endParaRPr sz="1100" b="0" i="0" u="none" strike="noStrike" cap="none">
              <a:solidFill>
                <a:schemeClr val="dk1"/>
              </a:solidFill>
              <a:latin typeface="Calibri"/>
              <a:ea typeface="Calibri"/>
              <a:cs typeface="Calibri"/>
              <a:sym typeface="Calibri"/>
            </a:endParaRPr>
          </a:p>
        </p:txBody>
      </p:sp>
      <p:sp>
        <p:nvSpPr>
          <p:cNvPr id="260" name="Google Shape;260;p7"/>
          <p:cNvSpPr/>
          <p:nvPr/>
        </p:nvSpPr>
        <p:spPr>
          <a:xfrm>
            <a:off x="1024118" y="3337560"/>
            <a:ext cx="3401700" cy="347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000"/>
              <a:buFont typeface="Calibri"/>
              <a:buNone/>
            </a:pPr>
            <a:r>
              <a:rPr lang="en-US" sz="1000" b="0" i="0" u="none" strike="noStrike" cap="none">
                <a:solidFill>
                  <a:srgbClr val="64748B"/>
                </a:solidFill>
                <a:latin typeface="Calibri"/>
                <a:ea typeface="Calibri"/>
                <a:cs typeface="Calibri"/>
                <a:sym typeface="Calibri"/>
              </a:rPr>
              <a:t>Use AI for review assistance, not automatic code changes</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65"/>
        <p:cNvGrpSpPr/>
        <p:nvPr/>
      </p:nvGrpSpPr>
      <p:grpSpPr>
        <a:xfrm>
          <a:off x="0" y="0"/>
          <a:ext cx="0" cy="0"/>
          <a:chOff x="0" y="0"/>
          <a:chExt cx="0" cy="0"/>
        </a:xfrm>
      </p:grpSpPr>
      <p:sp>
        <p:nvSpPr>
          <p:cNvPr id="266" name="Google Shape;266;g3d8ab55df9a_0_3"/>
          <p:cNvSpPr/>
          <p:nvPr/>
        </p:nvSpPr>
        <p:spPr>
          <a:xfrm>
            <a:off x="0" y="0"/>
            <a:ext cx="9144000" cy="1143000"/>
          </a:xfrm>
          <a:prstGeom prst="rect">
            <a:avLst/>
          </a:prstGeom>
          <a:solidFill>
            <a:srgbClr val="0D2137"/>
          </a:solidFill>
          <a:ln w="12700" cap="flat" cmpd="sng">
            <a:solidFill>
              <a:srgbClr val="0D21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g3d8ab55df9a_0_3"/>
          <p:cNvSpPr/>
          <p:nvPr/>
        </p:nvSpPr>
        <p:spPr>
          <a:xfrm>
            <a:off x="0" y="1005840"/>
            <a:ext cx="9144000" cy="137100"/>
          </a:xfrm>
          <a:prstGeom prst="rect">
            <a:avLst/>
          </a:prstGeom>
          <a:solidFill>
            <a:srgbClr val="1B6B8A"/>
          </a:solidFill>
          <a:ln w="12700" cap="flat" cmpd="sng">
            <a:solidFill>
              <a:srgbClr val="1B6B8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g3d8ab55df9a_0_3"/>
          <p:cNvSpPr/>
          <p:nvPr/>
        </p:nvSpPr>
        <p:spPr>
          <a:xfrm>
            <a:off x="164592" y="201168"/>
            <a:ext cx="567000" cy="567000"/>
          </a:xfrm>
          <a:prstGeom prst="ellipse">
            <a:avLst/>
          </a:prstGeom>
          <a:solidFill>
            <a:srgbClr val="1A4A6A"/>
          </a:solidFill>
          <a:ln w="12700" cap="flat" cmpd="sng">
            <a:solidFill>
              <a:srgbClr val="2A7A9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g3d8ab55df9a_0_3"/>
          <p:cNvSpPr/>
          <p:nvPr/>
        </p:nvSpPr>
        <p:spPr>
          <a:xfrm>
            <a:off x="164592" y="201168"/>
            <a:ext cx="567000" cy="567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A0C0D0"/>
              </a:buClr>
              <a:buSzPts val="900"/>
              <a:buFont typeface="Calibri"/>
              <a:buNone/>
            </a:pPr>
            <a:r>
              <a:rPr lang="en-US" sz="900" b="0" i="0" u="none" strike="noStrike" cap="none">
                <a:solidFill>
                  <a:srgbClr val="A0C0D0"/>
                </a:solidFill>
                <a:latin typeface="Calibri"/>
                <a:ea typeface="Calibri"/>
                <a:cs typeface="Calibri"/>
                <a:sym typeface="Calibri"/>
              </a:rPr>
              <a:t>--</a:t>
            </a:r>
            <a:endParaRPr sz="900" b="0" i="0" u="none" strike="noStrike" cap="none">
              <a:solidFill>
                <a:schemeClr val="dk1"/>
              </a:solidFill>
              <a:latin typeface="Calibri"/>
              <a:ea typeface="Calibri"/>
              <a:cs typeface="Calibri"/>
              <a:sym typeface="Calibri"/>
            </a:endParaRPr>
          </a:p>
        </p:txBody>
      </p:sp>
      <p:sp>
        <p:nvSpPr>
          <p:cNvPr id="270" name="Google Shape;270;g3d8ab55df9a_0_3"/>
          <p:cNvSpPr/>
          <p:nvPr/>
        </p:nvSpPr>
        <p:spPr>
          <a:xfrm>
            <a:off x="850392" y="155448"/>
            <a:ext cx="6858000" cy="384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500"/>
              <a:buFont typeface="Calibri"/>
              <a:buNone/>
            </a:pPr>
            <a:r>
              <a:rPr lang="en-US" sz="1500" b="1" i="0" u="none" strike="noStrike" cap="none">
                <a:solidFill>
                  <a:srgbClr val="FFFFFF"/>
                </a:solidFill>
                <a:latin typeface="Calibri"/>
                <a:ea typeface="Calibri"/>
                <a:cs typeface="Calibri"/>
                <a:sym typeface="Calibri"/>
              </a:rPr>
              <a:t>AI Project/Use Case Template</a:t>
            </a:r>
            <a:endParaRPr sz="1500" b="0" i="0" u="none" strike="noStrike" cap="none">
              <a:solidFill>
                <a:schemeClr val="dk1"/>
              </a:solidFill>
              <a:latin typeface="Calibri"/>
              <a:ea typeface="Calibri"/>
              <a:cs typeface="Calibri"/>
              <a:sym typeface="Calibri"/>
            </a:endParaRPr>
          </a:p>
        </p:txBody>
      </p:sp>
      <p:sp>
        <p:nvSpPr>
          <p:cNvPr id="271" name="Google Shape;271;g3d8ab55df9a_0_3"/>
          <p:cNvSpPr/>
          <p:nvPr/>
        </p:nvSpPr>
        <p:spPr>
          <a:xfrm>
            <a:off x="850392" y="521208"/>
            <a:ext cx="5486400" cy="237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7ABCD0"/>
              </a:buClr>
              <a:buSzPts val="1000"/>
              <a:buFont typeface="Calibri"/>
              <a:buNone/>
            </a:pPr>
            <a:r>
              <a:rPr lang="en-US" sz="1000" b="0" i="1" u="none" strike="noStrike" cap="none">
                <a:solidFill>
                  <a:srgbClr val="7ABCD0"/>
                </a:solidFill>
                <a:latin typeface="Calibri"/>
                <a:ea typeface="Calibri"/>
                <a:cs typeface="Calibri"/>
                <a:sym typeface="Calibri"/>
              </a:rPr>
              <a:t>Use Case Overview</a:t>
            </a:r>
            <a:endParaRPr sz="1000" b="0" i="0" u="none" strike="noStrike" cap="none">
              <a:solidFill>
                <a:schemeClr val="dk1"/>
              </a:solidFill>
              <a:latin typeface="Calibri"/>
              <a:ea typeface="Calibri"/>
              <a:cs typeface="Calibri"/>
              <a:sym typeface="Calibri"/>
            </a:endParaRPr>
          </a:p>
        </p:txBody>
      </p:sp>
      <p:sp>
        <p:nvSpPr>
          <p:cNvPr id="272" name="Google Shape;272;g3d8ab55df9a_0_3"/>
          <p:cNvSpPr/>
          <p:nvPr/>
        </p:nvSpPr>
        <p:spPr>
          <a:xfrm>
            <a:off x="850392" y="777240"/>
            <a:ext cx="6858000" cy="183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090A8"/>
              </a:buClr>
              <a:buSzPts val="800"/>
              <a:buFont typeface="Calibri"/>
              <a:buNone/>
            </a:pPr>
            <a:r>
              <a:rPr lang="en-US" sz="800" b="0" i="0" u="none" strike="noStrike" cap="none" dirty="0">
                <a:solidFill>
                  <a:srgbClr val="5090A8"/>
                </a:solidFill>
                <a:latin typeface="Calibri"/>
                <a:ea typeface="Calibri"/>
                <a:cs typeface="Calibri"/>
                <a:sym typeface="Calibri"/>
              </a:rPr>
              <a:t>AI-Assisted Code Performance Analysis</a:t>
            </a:r>
            <a:endParaRPr sz="800" b="0" i="0" u="none" strike="noStrike" cap="none" dirty="0">
              <a:solidFill>
                <a:schemeClr val="dk1"/>
              </a:solidFill>
              <a:latin typeface="Calibri"/>
              <a:ea typeface="Calibri"/>
              <a:cs typeface="Calibri"/>
              <a:sym typeface="Calibri"/>
            </a:endParaRPr>
          </a:p>
        </p:txBody>
      </p:sp>
      <p:sp>
        <p:nvSpPr>
          <p:cNvPr id="273" name="Google Shape;273;g3d8ab55df9a_0_3"/>
          <p:cNvSpPr/>
          <p:nvPr/>
        </p:nvSpPr>
        <p:spPr>
          <a:xfrm>
            <a:off x="0" y="1143000"/>
            <a:ext cx="5440800" cy="237600"/>
          </a:xfrm>
          <a:prstGeom prst="rect">
            <a:avLst/>
          </a:prstGeom>
          <a:solidFill>
            <a:srgbClr val="1B6B8A"/>
          </a:solidFill>
          <a:ln w="12700" cap="flat" cmpd="sng">
            <a:solidFill>
              <a:srgbClr val="1B6B8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g3d8ab55df9a_0_3"/>
          <p:cNvSpPr/>
          <p:nvPr/>
        </p:nvSpPr>
        <p:spPr>
          <a:xfrm>
            <a:off x="0" y="1143000"/>
            <a:ext cx="5440800" cy="2376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850"/>
              <a:buFont typeface="Calibri"/>
              <a:buNone/>
            </a:pPr>
            <a:r>
              <a:rPr lang="en-US" sz="850" b="1" i="0" u="none" strike="noStrike" cap="none">
                <a:solidFill>
                  <a:srgbClr val="FFFFFF"/>
                </a:solidFill>
                <a:latin typeface="Calibri"/>
                <a:ea typeface="Calibri"/>
                <a:cs typeface="Calibri"/>
                <a:sym typeface="Calibri"/>
              </a:rPr>
              <a:t>Problem Statement</a:t>
            </a:r>
            <a:endParaRPr sz="850" b="0" i="0" u="none" strike="noStrike" cap="none">
              <a:solidFill>
                <a:schemeClr val="dk1"/>
              </a:solidFill>
              <a:latin typeface="Calibri"/>
              <a:ea typeface="Calibri"/>
              <a:cs typeface="Calibri"/>
              <a:sym typeface="Calibri"/>
            </a:endParaRPr>
          </a:p>
        </p:txBody>
      </p:sp>
      <p:sp>
        <p:nvSpPr>
          <p:cNvPr id="275" name="Google Shape;275;g3d8ab55df9a_0_3"/>
          <p:cNvSpPr/>
          <p:nvPr/>
        </p:nvSpPr>
        <p:spPr>
          <a:xfrm>
            <a:off x="0" y="1380744"/>
            <a:ext cx="5440800" cy="804600"/>
          </a:xfrm>
          <a:prstGeom prst="rect">
            <a:avLst/>
          </a:prstGeom>
          <a:solidFill>
            <a:srgbClr val="FFFFFF"/>
          </a:solidFill>
          <a:ln w="9525" cap="flat" cmpd="sng">
            <a:solidFill>
              <a:srgbClr val="C5DC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g3d8ab55df9a_0_3"/>
          <p:cNvSpPr/>
          <p:nvPr/>
        </p:nvSpPr>
        <p:spPr>
          <a:xfrm>
            <a:off x="73152" y="1417320"/>
            <a:ext cx="5294400" cy="7497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A2E3B"/>
              </a:buClr>
              <a:buSzPts val="750"/>
              <a:buFont typeface="Calibri"/>
              <a:buNone/>
            </a:pPr>
            <a:r>
              <a:rPr lang="en-US" sz="750" b="0" i="0" u="none" strike="noStrike" cap="none">
                <a:solidFill>
                  <a:srgbClr val="1A2E3B"/>
                </a:solidFill>
                <a:latin typeface="Calibri"/>
                <a:ea typeface="Calibri"/>
                <a:cs typeface="Calibri"/>
                <a:sym typeface="Calibri"/>
              </a:rPr>
              <a:t>Our APIs are a critical part of enterprise applications and integrations, but potential performance issues are not always identified early during development. Without advanced monitoring or telemetry, teams rely heavily on manual code review and developer experience to detect inefficiencies. This increases the risk of performance issues, scalability limitations, and delayed optimization after deployment.</a:t>
            </a:r>
            <a:endParaRPr sz="750" b="0" i="0" u="none" strike="noStrike" cap="none">
              <a:solidFill>
                <a:schemeClr val="dk1"/>
              </a:solidFill>
              <a:latin typeface="Calibri"/>
              <a:ea typeface="Calibri"/>
              <a:cs typeface="Calibri"/>
              <a:sym typeface="Calibri"/>
            </a:endParaRPr>
          </a:p>
        </p:txBody>
      </p:sp>
      <p:sp>
        <p:nvSpPr>
          <p:cNvPr id="277" name="Google Shape;277;g3d8ab55df9a_0_3"/>
          <p:cNvSpPr/>
          <p:nvPr/>
        </p:nvSpPr>
        <p:spPr>
          <a:xfrm>
            <a:off x="0" y="2185416"/>
            <a:ext cx="2711100" cy="237600"/>
          </a:xfrm>
          <a:prstGeom prst="rect">
            <a:avLst/>
          </a:prstGeom>
          <a:solidFill>
            <a:srgbClr val="1B6B8A"/>
          </a:solidFill>
          <a:ln w="12700" cap="flat" cmpd="sng">
            <a:solidFill>
              <a:srgbClr val="1B6B8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g3d8ab55df9a_0_3"/>
          <p:cNvSpPr/>
          <p:nvPr/>
        </p:nvSpPr>
        <p:spPr>
          <a:xfrm>
            <a:off x="0" y="2185416"/>
            <a:ext cx="2711100" cy="2376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850"/>
              <a:buFont typeface="Calibri"/>
              <a:buNone/>
            </a:pPr>
            <a:r>
              <a:rPr lang="en-US" sz="850" b="1" i="0" u="none" strike="noStrike" cap="none">
                <a:solidFill>
                  <a:srgbClr val="FFFFFF"/>
                </a:solidFill>
                <a:latin typeface="Calibri"/>
                <a:ea typeface="Calibri"/>
                <a:cs typeface="Calibri"/>
                <a:sym typeface="Calibri"/>
              </a:rPr>
              <a:t>Expected Benefit</a:t>
            </a:r>
            <a:endParaRPr sz="850" b="0" i="0" u="none" strike="noStrike" cap="none">
              <a:solidFill>
                <a:schemeClr val="dk1"/>
              </a:solidFill>
              <a:latin typeface="Calibri"/>
              <a:ea typeface="Calibri"/>
              <a:cs typeface="Calibri"/>
              <a:sym typeface="Calibri"/>
            </a:endParaRPr>
          </a:p>
        </p:txBody>
      </p:sp>
      <p:sp>
        <p:nvSpPr>
          <p:cNvPr id="279" name="Google Shape;279;g3d8ab55df9a_0_3"/>
          <p:cNvSpPr/>
          <p:nvPr/>
        </p:nvSpPr>
        <p:spPr>
          <a:xfrm>
            <a:off x="2729484" y="2185416"/>
            <a:ext cx="2711100" cy="237600"/>
          </a:xfrm>
          <a:prstGeom prst="rect">
            <a:avLst/>
          </a:prstGeom>
          <a:solidFill>
            <a:srgbClr val="1B6B8A"/>
          </a:solidFill>
          <a:ln w="12700" cap="flat" cmpd="sng">
            <a:solidFill>
              <a:srgbClr val="1B6B8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g3d8ab55df9a_0_3"/>
          <p:cNvSpPr/>
          <p:nvPr/>
        </p:nvSpPr>
        <p:spPr>
          <a:xfrm>
            <a:off x="2729484" y="2185416"/>
            <a:ext cx="2711100" cy="2376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850"/>
              <a:buFont typeface="Calibri"/>
              <a:buNone/>
            </a:pPr>
            <a:r>
              <a:rPr lang="en-US" sz="850" b="1" i="0" u="none" strike="noStrike" cap="none">
                <a:solidFill>
                  <a:srgbClr val="FFFFFF"/>
                </a:solidFill>
                <a:latin typeface="Calibri"/>
                <a:ea typeface="Calibri"/>
                <a:cs typeface="Calibri"/>
                <a:sym typeface="Calibri"/>
              </a:rPr>
              <a:t>Key Audience</a:t>
            </a:r>
            <a:endParaRPr sz="850" b="0" i="0" u="none" strike="noStrike" cap="none">
              <a:solidFill>
                <a:schemeClr val="dk1"/>
              </a:solidFill>
              <a:latin typeface="Calibri"/>
              <a:ea typeface="Calibri"/>
              <a:cs typeface="Calibri"/>
              <a:sym typeface="Calibri"/>
            </a:endParaRPr>
          </a:p>
        </p:txBody>
      </p:sp>
      <p:sp>
        <p:nvSpPr>
          <p:cNvPr id="281" name="Google Shape;281;g3d8ab55df9a_0_3"/>
          <p:cNvSpPr/>
          <p:nvPr/>
        </p:nvSpPr>
        <p:spPr>
          <a:xfrm>
            <a:off x="0" y="2423160"/>
            <a:ext cx="2711100" cy="1097400"/>
          </a:xfrm>
          <a:prstGeom prst="rect">
            <a:avLst/>
          </a:prstGeom>
          <a:solidFill>
            <a:srgbClr val="FFFFFF"/>
          </a:solidFill>
          <a:ln w="9525" cap="flat" cmpd="sng">
            <a:solidFill>
              <a:srgbClr val="C5DC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g3d8ab55df9a_0_3"/>
          <p:cNvSpPr/>
          <p:nvPr/>
        </p:nvSpPr>
        <p:spPr>
          <a:xfrm>
            <a:off x="73152" y="2459736"/>
            <a:ext cx="2601600" cy="1042500"/>
          </a:xfrm>
          <a:prstGeom prst="rect">
            <a:avLst/>
          </a:prstGeom>
          <a:noFill/>
          <a:ln>
            <a:noFill/>
          </a:ln>
        </p:spPr>
        <p:txBody>
          <a:bodyPr spcFirstLastPara="1" wrap="square" lIns="0" tIns="25400" rIns="0" bIns="0" anchor="ctr" anchorCtr="0">
            <a:noAutofit/>
          </a:bodyPr>
          <a:lstStyle/>
          <a:p>
            <a:pPr marL="342900" marR="0" lvl="0" indent="-342900" algn="l" rtl="0">
              <a:spcBef>
                <a:spcPts val="0"/>
              </a:spcBef>
              <a:spcAft>
                <a:spcPts val="0"/>
              </a:spcAft>
              <a:buClr>
                <a:srgbClr val="1A2E3B"/>
              </a:buClr>
              <a:buSzPts val="700"/>
              <a:buFont typeface="Calibri"/>
              <a:buChar char="•"/>
            </a:pPr>
            <a:r>
              <a:rPr lang="en-US" sz="700" b="0" i="0" u="none" strike="noStrike" cap="none">
                <a:solidFill>
                  <a:srgbClr val="1A2E3B"/>
                </a:solidFill>
                <a:latin typeface="Calibri"/>
                <a:ea typeface="Calibri"/>
                <a:cs typeface="Calibri"/>
                <a:sym typeface="Calibri"/>
              </a:rPr>
              <a:t>Detect performance risks early in development</a:t>
            </a:r>
            <a:endParaRPr sz="700" b="0" i="0" u="none" strike="noStrike" cap="none">
              <a:solidFill>
                <a:schemeClr val="dk1"/>
              </a:solidFill>
              <a:latin typeface="Calibri"/>
              <a:ea typeface="Calibri"/>
              <a:cs typeface="Calibri"/>
              <a:sym typeface="Calibri"/>
            </a:endParaRPr>
          </a:p>
          <a:p>
            <a:pPr marL="342900" marR="0" lvl="0" indent="-342900" algn="l" rtl="0">
              <a:spcBef>
                <a:spcPts val="100"/>
              </a:spcBef>
              <a:spcAft>
                <a:spcPts val="0"/>
              </a:spcAft>
              <a:buClr>
                <a:srgbClr val="1A2E3B"/>
              </a:buClr>
              <a:buSzPts val="700"/>
              <a:buFont typeface="Calibri"/>
              <a:buChar char="•"/>
            </a:pPr>
            <a:r>
              <a:rPr lang="en-US" sz="700" b="0" i="0" u="none" strike="noStrike" cap="none">
                <a:solidFill>
                  <a:srgbClr val="1A2E3B"/>
                </a:solidFill>
                <a:latin typeface="Calibri"/>
                <a:ea typeface="Calibri"/>
                <a:cs typeface="Calibri"/>
                <a:sym typeface="Calibri"/>
              </a:rPr>
              <a:t>Reduce manual effort in code review</a:t>
            </a:r>
            <a:endParaRPr sz="700" b="0" i="0" u="none" strike="noStrike" cap="none">
              <a:solidFill>
                <a:schemeClr val="dk1"/>
              </a:solidFill>
              <a:latin typeface="Calibri"/>
              <a:ea typeface="Calibri"/>
              <a:cs typeface="Calibri"/>
              <a:sym typeface="Calibri"/>
            </a:endParaRPr>
          </a:p>
          <a:p>
            <a:pPr marL="342900" marR="0" lvl="0" indent="-342900" algn="l" rtl="0">
              <a:spcBef>
                <a:spcPts val="100"/>
              </a:spcBef>
              <a:spcAft>
                <a:spcPts val="0"/>
              </a:spcAft>
              <a:buClr>
                <a:srgbClr val="1A2E3B"/>
              </a:buClr>
              <a:buSzPts val="700"/>
              <a:buFont typeface="Calibri"/>
              <a:buChar char="•"/>
            </a:pPr>
            <a:r>
              <a:rPr lang="en-US" sz="700" b="0" i="0" u="none" strike="noStrike" cap="none">
                <a:solidFill>
                  <a:srgbClr val="1A2E3B"/>
                </a:solidFill>
                <a:latin typeface="Calibri"/>
                <a:ea typeface="Calibri"/>
                <a:cs typeface="Calibri"/>
                <a:sym typeface="Calibri"/>
              </a:rPr>
              <a:t>Improve API design and implementation quality</a:t>
            </a:r>
            <a:endParaRPr sz="700" b="0" i="0" u="none" strike="noStrike" cap="none">
              <a:solidFill>
                <a:schemeClr val="dk1"/>
              </a:solidFill>
              <a:latin typeface="Calibri"/>
              <a:ea typeface="Calibri"/>
              <a:cs typeface="Calibri"/>
              <a:sym typeface="Calibri"/>
            </a:endParaRPr>
          </a:p>
          <a:p>
            <a:pPr marL="342900" marR="0" lvl="0" indent="-342900" algn="l" rtl="0">
              <a:spcBef>
                <a:spcPts val="100"/>
              </a:spcBef>
              <a:spcAft>
                <a:spcPts val="0"/>
              </a:spcAft>
              <a:buClr>
                <a:srgbClr val="1A2E3B"/>
              </a:buClr>
              <a:buSzPts val="700"/>
              <a:buFont typeface="Calibri"/>
              <a:buChar char="•"/>
            </a:pPr>
            <a:r>
              <a:rPr lang="en-US" sz="700" b="0" i="0" u="none" strike="noStrike" cap="none">
                <a:solidFill>
                  <a:srgbClr val="1A2E3B"/>
                </a:solidFill>
                <a:latin typeface="Calibri"/>
                <a:ea typeface="Calibri"/>
                <a:cs typeface="Calibri"/>
                <a:sym typeface="Calibri"/>
              </a:rPr>
              <a:t>Identify inefficient patterns before deployment</a:t>
            </a:r>
            <a:endParaRPr sz="700" b="0" i="0" u="none" strike="noStrike" cap="none">
              <a:solidFill>
                <a:schemeClr val="dk1"/>
              </a:solidFill>
              <a:latin typeface="Calibri"/>
              <a:ea typeface="Calibri"/>
              <a:cs typeface="Calibri"/>
              <a:sym typeface="Calibri"/>
            </a:endParaRPr>
          </a:p>
          <a:p>
            <a:pPr marL="342900" marR="0" lvl="0" indent="-342900" algn="l" rtl="0">
              <a:spcBef>
                <a:spcPts val="100"/>
              </a:spcBef>
              <a:spcAft>
                <a:spcPts val="0"/>
              </a:spcAft>
              <a:buClr>
                <a:srgbClr val="1A2E3B"/>
              </a:buClr>
              <a:buSzPts val="700"/>
              <a:buFont typeface="Calibri"/>
              <a:buChar char="•"/>
            </a:pPr>
            <a:r>
              <a:rPr lang="en-US" sz="700" b="0" i="0" u="none" strike="noStrike" cap="none">
                <a:solidFill>
                  <a:srgbClr val="1A2E3B"/>
                </a:solidFill>
                <a:latin typeface="Calibri"/>
                <a:ea typeface="Calibri"/>
                <a:cs typeface="Calibri"/>
                <a:sym typeface="Calibri"/>
              </a:rPr>
              <a:t>Support developers with optimization recommendations</a:t>
            </a:r>
            <a:endParaRPr sz="700" b="0" i="0" u="none" strike="noStrike" cap="none">
              <a:solidFill>
                <a:schemeClr val="dk1"/>
              </a:solidFill>
              <a:latin typeface="Calibri"/>
              <a:ea typeface="Calibri"/>
              <a:cs typeface="Calibri"/>
              <a:sym typeface="Calibri"/>
            </a:endParaRPr>
          </a:p>
          <a:p>
            <a:pPr marL="342900" marR="0" lvl="0" indent="-342900" algn="l" rtl="0">
              <a:spcBef>
                <a:spcPts val="100"/>
              </a:spcBef>
              <a:spcAft>
                <a:spcPts val="0"/>
              </a:spcAft>
              <a:buClr>
                <a:srgbClr val="1A2E3B"/>
              </a:buClr>
              <a:buSzPts val="700"/>
              <a:buFont typeface="Calibri"/>
              <a:buChar char="•"/>
            </a:pPr>
            <a:r>
              <a:rPr lang="en-US" sz="700" b="0" i="0" u="none" strike="noStrike" cap="none">
                <a:solidFill>
                  <a:srgbClr val="1A2E3B"/>
                </a:solidFill>
                <a:latin typeface="Calibri"/>
                <a:ea typeface="Calibri"/>
                <a:cs typeface="Calibri"/>
                <a:sym typeface="Calibri"/>
              </a:rPr>
              <a:t>Improve scalability and maintainability of APIs</a:t>
            </a:r>
            <a:endParaRPr sz="700" b="0" i="0" u="none" strike="noStrike" cap="none">
              <a:solidFill>
                <a:schemeClr val="dk1"/>
              </a:solidFill>
              <a:latin typeface="Calibri"/>
              <a:ea typeface="Calibri"/>
              <a:cs typeface="Calibri"/>
              <a:sym typeface="Calibri"/>
            </a:endParaRPr>
          </a:p>
        </p:txBody>
      </p:sp>
      <p:sp>
        <p:nvSpPr>
          <p:cNvPr id="283" name="Google Shape;283;g3d8ab55df9a_0_3"/>
          <p:cNvSpPr/>
          <p:nvPr/>
        </p:nvSpPr>
        <p:spPr>
          <a:xfrm>
            <a:off x="2729484" y="2423160"/>
            <a:ext cx="2711100" cy="1097400"/>
          </a:xfrm>
          <a:prstGeom prst="rect">
            <a:avLst/>
          </a:prstGeom>
          <a:solidFill>
            <a:srgbClr val="FFFFFF"/>
          </a:solidFill>
          <a:ln w="9525" cap="flat" cmpd="sng">
            <a:solidFill>
              <a:srgbClr val="C5DC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g3d8ab55df9a_0_3"/>
          <p:cNvSpPr/>
          <p:nvPr/>
        </p:nvSpPr>
        <p:spPr>
          <a:xfrm>
            <a:off x="2802636" y="2459736"/>
            <a:ext cx="2601600" cy="1042500"/>
          </a:xfrm>
          <a:prstGeom prst="rect">
            <a:avLst/>
          </a:prstGeom>
          <a:noFill/>
          <a:ln>
            <a:noFill/>
          </a:ln>
        </p:spPr>
        <p:txBody>
          <a:bodyPr spcFirstLastPara="1" wrap="square" lIns="0" tIns="25400" rIns="0" bIns="0" anchor="ctr" anchorCtr="0">
            <a:noAutofit/>
          </a:bodyPr>
          <a:lstStyle/>
          <a:p>
            <a:pPr marL="342900" marR="0" lvl="0" indent="-342900" algn="l" rtl="0">
              <a:spcBef>
                <a:spcPts val="0"/>
              </a:spcBef>
              <a:spcAft>
                <a:spcPts val="0"/>
              </a:spcAft>
              <a:buClr>
                <a:srgbClr val="1A2E3B"/>
              </a:buClr>
              <a:buSzPts val="700"/>
              <a:buFont typeface="Calibri"/>
              <a:buChar char="•"/>
            </a:pPr>
            <a:r>
              <a:rPr lang="en-US" sz="700" b="0" i="0" u="none" strike="noStrike" cap="none" dirty="0">
                <a:solidFill>
                  <a:srgbClr val="1A2E3B"/>
                </a:solidFill>
                <a:latin typeface="Calibri"/>
                <a:ea typeface="Calibri"/>
                <a:cs typeface="Calibri"/>
                <a:sym typeface="Calibri"/>
              </a:rPr>
              <a:t>API Developers</a:t>
            </a:r>
            <a:endParaRPr sz="700" b="0" i="0" u="none" strike="noStrike" cap="none" dirty="0">
              <a:solidFill>
                <a:schemeClr val="dk1"/>
              </a:solidFill>
              <a:latin typeface="Calibri"/>
              <a:ea typeface="Calibri"/>
              <a:cs typeface="Calibri"/>
              <a:sym typeface="Calibri"/>
            </a:endParaRPr>
          </a:p>
          <a:p>
            <a:pPr marL="342900" marR="0" lvl="0" indent="-342900" algn="l" rtl="0">
              <a:spcBef>
                <a:spcPts val="100"/>
              </a:spcBef>
              <a:spcAft>
                <a:spcPts val="0"/>
              </a:spcAft>
              <a:buClr>
                <a:srgbClr val="1A2E3B"/>
              </a:buClr>
              <a:buSzPts val="700"/>
              <a:buFont typeface="Calibri"/>
              <a:buChar char="•"/>
            </a:pPr>
            <a:r>
              <a:rPr lang="en-US" sz="700" b="0" i="0" u="none" strike="noStrike" cap="none" dirty="0">
                <a:solidFill>
                  <a:srgbClr val="1A2E3B"/>
                </a:solidFill>
                <a:latin typeface="Calibri"/>
                <a:ea typeface="Calibri"/>
                <a:cs typeface="Calibri"/>
                <a:sym typeface="Calibri"/>
              </a:rPr>
              <a:t>Software Engineers</a:t>
            </a:r>
            <a:endParaRPr sz="700" b="0" i="0" u="none" strike="noStrike" cap="none" dirty="0">
              <a:solidFill>
                <a:schemeClr val="dk1"/>
              </a:solidFill>
              <a:latin typeface="Calibri"/>
              <a:ea typeface="Calibri"/>
              <a:cs typeface="Calibri"/>
              <a:sym typeface="Calibri"/>
            </a:endParaRPr>
          </a:p>
          <a:p>
            <a:pPr marL="342900" marR="0" lvl="0" indent="-342900" algn="l" rtl="0">
              <a:spcBef>
                <a:spcPts val="100"/>
              </a:spcBef>
              <a:spcAft>
                <a:spcPts val="0"/>
              </a:spcAft>
              <a:buClr>
                <a:srgbClr val="1A2E3B"/>
              </a:buClr>
              <a:buSzPts val="700"/>
              <a:buFont typeface="Calibri"/>
              <a:buChar char="•"/>
            </a:pPr>
            <a:r>
              <a:rPr lang="en-US" sz="700" b="0" i="0" u="none" strike="noStrike" cap="none" dirty="0">
                <a:solidFill>
                  <a:srgbClr val="1A2E3B"/>
                </a:solidFill>
                <a:latin typeface="Calibri"/>
                <a:ea typeface="Calibri"/>
                <a:cs typeface="Calibri"/>
                <a:sym typeface="Calibri"/>
              </a:rPr>
              <a:t>Technical Leads</a:t>
            </a:r>
            <a:endParaRPr sz="700" b="0" i="0" u="none" strike="noStrike" cap="none" dirty="0">
              <a:solidFill>
                <a:schemeClr val="dk1"/>
              </a:solidFill>
              <a:latin typeface="Calibri"/>
              <a:ea typeface="Calibri"/>
              <a:cs typeface="Calibri"/>
              <a:sym typeface="Calibri"/>
            </a:endParaRPr>
          </a:p>
          <a:p>
            <a:pPr marL="342900" marR="0" lvl="0" indent="-342900" algn="l" rtl="0">
              <a:spcBef>
                <a:spcPts val="100"/>
              </a:spcBef>
              <a:spcAft>
                <a:spcPts val="0"/>
              </a:spcAft>
              <a:buClr>
                <a:srgbClr val="1A2E3B"/>
              </a:buClr>
              <a:buSzPts val="700"/>
              <a:buFont typeface="Calibri"/>
              <a:buChar char="•"/>
            </a:pPr>
            <a:r>
              <a:rPr lang="en-US" sz="700" b="0" i="0" u="none" strike="noStrike" cap="none" dirty="0">
                <a:solidFill>
                  <a:srgbClr val="1A2E3B"/>
                </a:solidFill>
                <a:latin typeface="Calibri"/>
                <a:ea typeface="Calibri"/>
                <a:cs typeface="Calibri"/>
                <a:sym typeface="Calibri"/>
              </a:rPr>
              <a:t>Code Reviewers</a:t>
            </a:r>
            <a:endParaRPr sz="700" b="0" i="0" u="none" strike="noStrike" cap="none" dirty="0">
              <a:solidFill>
                <a:schemeClr val="dk1"/>
              </a:solidFill>
              <a:latin typeface="Calibri"/>
              <a:ea typeface="Calibri"/>
              <a:cs typeface="Calibri"/>
              <a:sym typeface="Calibri"/>
            </a:endParaRPr>
          </a:p>
          <a:p>
            <a:pPr marL="342900" marR="0" lvl="0" indent="-342900" algn="l" rtl="0">
              <a:spcBef>
                <a:spcPts val="100"/>
              </a:spcBef>
              <a:spcAft>
                <a:spcPts val="0"/>
              </a:spcAft>
              <a:buClr>
                <a:srgbClr val="1A2E3B"/>
              </a:buClr>
              <a:buSzPts val="700"/>
              <a:buFont typeface="Calibri"/>
              <a:buChar char="•"/>
            </a:pPr>
            <a:r>
              <a:rPr lang="en-US" sz="700" b="0" i="0" u="none" strike="noStrike" cap="none" dirty="0">
                <a:solidFill>
                  <a:srgbClr val="1A2E3B"/>
                </a:solidFill>
                <a:latin typeface="Calibri"/>
                <a:ea typeface="Calibri"/>
                <a:cs typeface="Calibri"/>
                <a:sym typeface="Calibri"/>
              </a:rPr>
              <a:t>Solution Architects</a:t>
            </a:r>
            <a:endParaRPr sz="700" b="0" i="0" u="none" strike="noStrike" cap="none" dirty="0">
              <a:solidFill>
                <a:schemeClr val="dk1"/>
              </a:solidFill>
              <a:latin typeface="Calibri"/>
              <a:ea typeface="Calibri"/>
              <a:cs typeface="Calibri"/>
              <a:sym typeface="Calibri"/>
            </a:endParaRPr>
          </a:p>
        </p:txBody>
      </p:sp>
      <p:sp>
        <p:nvSpPr>
          <p:cNvPr id="285" name="Google Shape;285;g3d8ab55df9a_0_3"/>
          <p:cNvSpPr/>
          <p:nvPr/>
        </p:nvSpPr>
        <p:spPr>
          <a:xfrm>
            <a:off x="0" y="3520440"/>
            <a:ext cx="2711100" cy="237600"/>
          </a:xfrm>
          <a:prstGeom prst="rect">
            <a:avLst/>
          </a:prstGeom>
          <a:solidFill>
            <a:srgbClr val="1B6B8A"/>
          </a:solidFill>
          <a:ln w="12700" cap="flat" cmpd="sng">
            <a:solidFill>
              <a:srgbClr val="1B6B8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g3d8ab55df9a_0_3"/>
          <p:cNvSpPr/>
          <p:nvPr/>
        </p:nvSpPr>
        <p:spPr>
          <a:xfrm>
            <a:off x="0" y="3520440"/>
            <a:ext cx="2711100" cy="2376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800"/>
              <a:buFont typeface="Calibri"/>
              <a:buNone/>
            </a:pPr>
            <a:r>
              <a:rPr lang="en-US" sz="800" b="1" i="0" u="none" strike="noStrike" cap="none">
                <a:solidFill>
                  <a:srgbClr val="FFFFFF"/>
                </a:solidFill>
                <a:latin typeface="Calibri"/>
                <a:ea typeface="Calibri"/>
                <a:cs typeface="Calibri"/>
                <a:sym typeface="Calibri"/>
              </a:rPr>
              <a:t>Data Requirement  (Data Type)</a:t>
            </a:r>
            <a:endParaRPr sz="800" b="0" i="0" u="none" strike="noStrike" cap="none">
              <a:solidFill>
                <a:schemeClr val="dk1"/>
              </a:solidFill>
              <a:latin typeface="Calibri"/>
              <a:ea typeface="Calibri"/>
              <a:cs typeface="Calibri"/>
              <a:sym typeface="Calibri"/>
            </a:endParaRPr>
          </a:p>
        </p:txBody>
      </p:sp>
      <p:sp>
        <p:nvSpPr>
          <p:cNvPr id="287" name="Google Shape;287;g3d8ab55df9a_0_3"/>
          <p:cNvSpPr/>
          <p:nvPr/>
        </p:nvSpPr>
        <p:spPr>
          <a:xfrm>
            <a:off x="2729484" y="3520440"/>
            <a:ext cx="2711100" cy="237600"/>
          </a:xfrm>
          <a:prstGeom prst="rect">
            <a:avLst/>
          </a:prstGeom>
          <a:solidFill>
            <a:srgbClr val="1B6B8A"/>
          </a:solidFill>
          <a:ln w="12700" cap="flat" cmpd="sng">
            <a:solidFill>
              <a:srgbClr val="1B6B8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g3d8ab55df9a_0_3"/>
          <p:cNvSpPr/>
          <p:nvPr/>
        </p:nvSpPr>
        <p:spPr>
          <a:xfrm>
            <a:off x="2729484" y="3520440"/>
            <a:ext cx="2711100" cy="2376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750"/>
              <a:buFont typeface="Calibri"/>
              <a:buNone/>
            </a:pPr>
            <a:r>
              <a:rPr lang="en-US" sz="750" b="1" i="0" u="none" strike="noStrike" cap="none" dirty="0">
                <a:solidFill>
                  <a:srgbClr val="FFFFFF"/>
                </a:solidFill>
                <a:latin typeface="Calibri"/>
                <a:ea typeface="Calibri"/>
                <a:cs typeface="Calibri"/>
                <a:sym typeface="Calibri"/>
              </a:rPr>
              <a:t>System Dependencies</a:t>
            </a:r>
            <a:endParaRPr sz="750" b="0" i="0" u="none" strike="noStrike" cap="none" dirty="0">
              <a:solidFill>
                <a:schemeClr val="dk1"/>
              </a:solidFill>
              <a:latin typeface="Calibri"/>
              <a:ea typeface="Calibri"/>
              <a:cs typeface="Calibri"/>
              <a:sym typeface="Calibri"/>
            </a:endParaRPr>
          </a:p>
        </p:txBody>
      </p:sp>
      <p:sp>
        <p:nvSpPr>
          <p:cNvPr id="289" name="Google Shape;289;g3d8ab55df9a_0_3"/>
          <p:cNvSpPr/>
          <p:nvPr/>
        </p:nvSpPr>
        <p:spPr>
          <a:xfrm>
            <a:off x="0" y="3758184"/>
            <a:ext cx="2711100" cy="1385400"/>
          </a:xfrm>
          <a:prstGeom prst="rect">
            <a:avLst/>
          </a:prstGeom>
          <a:solidFill>
            <a:srgbClr val="FFFFFF"/>
          </a:solidFill>
          <a:ln w="9525" cap="flat" cmpd="sng">
            <a:solidFill>
              <a:srgbClr val="C5DC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g3d8ab55df9a_0_3"/>
          <p:cNvSpPr/>
          <p:nvPr/>
        </p:nvSpPr>
        <p:spPr>
          <a:xfrm>
            <a:off x="73152" y="3794760"/>
            <a:ext cx="2601600" cy="1330500"/>
          </a:xfrm>
          <a:prstGeom prst="rect">
            <a:avLst/>
          </a:prstGeom>
          <a:noFill/>
          <a:ln>
            <a:noFill/>
          </a:ln>
        </p:spPr>
        <p:txBody>
          <a:bodyPr spcFirstLastPara="1" wrap="square" lIns="0" tIns="25400" rIns="0" bIns="0" anchor="ctr" anchorCtr="0">
            <a:noAutofit/>
          </a:bodyPr>
          <a:lstStyle/>
          <a:p>
            <a:pPr marL="342900" marR="0" lvl="0" indent="-342900" algn="l" rtl="0">
              <a:spcBef>
                <a:spcPts val="0"/>
              </a:spcBef>
              <a:spcAft>
                <a:spcPts val="0"/>
              </a:spcAft>
              <a:buClr>
                <a:srgbClr val="1A2E3B"/>
              </a:buClr>
              <a:buSzPts val="700"/>
              <a:buFont typeface="Calibri"/>
              <a:buChar char="•"/>
            </a:pPr>
            <a:r>
              <a:rPr lang="en-US" sz="700" b="0" i="0" u="none" strike="noStrike" cap="none">
                <a:solidFill>
                  <a:srgbClr val="1A2E3B"/>
                </a:solidFill>
                <a:latin typeface="Calibri"/>
                <a:ea typeface="Calibri"/>
                <a:cs typeface="Calibri"/>
                <a:sym typeface="Calibri"/>
              </a:rPr>
              <a:t>API source code</a:t>
            </a:r>
            <a:endParaRPr sz="700" b="0" i="0" u="none" strike="noStrike" cap="none">
              <a:solidFill>
                <a:schemeClr val="dk1"/>
              </a:solidFill>
              <a:latin typeface="Calibri"/>
              <a:ea typeface="Calibri"/>
              <a:cs typeface="Calibri"/>
              <a:sym typeface="Calibri"/>
            </a:endParaRPr>
          </a:p>
          <a:p>
            <a:pPr marL="342900" marR="0" lvl="0" indent="-342900" algn="l" rtl="0">
              <a:spcBef>
                <a:spcPts val="100"/>
              </a:spcBef>
              <a:spcAft>
                <a:spcPts val="0"/>
              </a:spcAft>
              <a:buClr>
                <a:srgbClr val="1A2E3B"/>
              </a:buClr>
              <a:buSzPts val="700"/>
              <a:buFont typeface="Calibri"/>
              <a:buChar char="•"/>
            </a:pPr>
            <a:r>
              <a:rPr lang="en-US" sz="700" b="0" i="0" u="none" strike="noStrike" cap="none">
                <a:solidFill>
                  <a:srgbClr val="1A2E3B"/>
                </a:solidFill>
                <a:latin typeface="Calibri"/>
                <a:ea typeface="Calibri"/>
                <a:cs typeface="Calibri"/>
                <a:sym typeface="Calibri"/>
              </a:rPr>
              <a:t>Controller and service logic</a:t>
            </a:r>
            <a:endParaRPr sz="700" b="0" i="0" u="none" strike="noStrike" cap="none">
              <a:solidFill>
                <a:schemeClr val="dk1"/>
              </a:solidFill>
              <a:latin typeface="Calibri"/>
              <a:ea typeface="Calibri"/>
              <a:cs typeface="Calibri"/>
              <a:sym typeface="Calibri"/>
            </a:endParaRPr>
          </a:p>
          <a:p>
            <a:pPr marL="342900" marR="0" lvl="0" indent="-342900" algn="l" rtl="0">
              <a:spcBef>
                <a:spcPts val="100"/>
              </a:spcBef>
              <a:spcAft>
                <a:spcPts val="0"/>
              </a:spcAft>
              <a:buClr>
                <a:srgbClr val="1A2E3B"/>
              </a:buClr>
              <a:buSzPts val="700"/>
              <a:buFont typeface="Calibri"/>
              <a:buChar char="•"/>
            </a:pPr>
            <a:r>
              <a:rPr lang="en-US" sz="700" b="0" i="0" u="none" strike="noStrike" cap="none">
                <a:solidFill>
                  <a:srgbClr val="1A2E3B"/>
                </a:solidFill>
                <a:latin typeface="Calibri"/>
                <a:ea typeface="Calibri"/>
                <a:cs typeface="Calibri"/>
                <a:sym typeface="Calibri"/>
              </a:rPr>
              <a:t>Data access code</a:t>
            </a:r>
            <a:endParaRPr sz="700" b="0" i="0" u="none" strike="noStrike" cap="none">
              <a:solidFill>
                <a:schemeClr val="dk1"/>
              </a:solidFill>
              <a:latin typeface="Calibri"/>
              <a:ea typeface="Calibri"/>
              <a:cs typeface="Calibri"/>
              <a:sym typeface="Calibri"/>
            </a:endParaRPr>
          </a:p>
          <a:p>
            <a:pPr marL="342900" marR="0" lvl="0" indent="-342900" algn="l" rtl="0">
              <a:spcBef>
                <a:spcPts val="100"/>
              </a:spcBef>
              <a:spcAft>
                <a:spcPts val="0"/>
              </a:spcAft>
              <a:buClr>
                <a:srgbClr val="1A2E3B"/>
              </a:buClr>
              <a:buSzPts val="700"/>
              <a:buFont typeface="Calibri"/>
              <a:buChar char="•"/>
            </a:pPr>
            <a:r>
              <a:rPr lang="en-US" sz="700" b="0" i="0" u="none" strike="noStrike" cap="none">
                <a:solidFill>
                  <a:srgbClr val="1A2E3B"/>
                </a:solidFill>
                <a:latin typeface="Calibri"/>
                <a:ea typeface="Calibri"/>
                <a:cs typeface="Calibri"/>
                <a:sym typeface="Calibri"/>
              </a:rPr>
              <a:t>Database query patterns</a:t>
            </a:r>
            <a:endParaRPr sz="700" b="0" i="0" u="none" strike="noStrike" cap="none">
              <a:solidFill>
                <a:schemeClr val="dk1"/>
              </a:solidFill>
              <a:latin typeface="Calibri"/>
              <a:ea typeface="Calibri"/>
              <a:cs typeface="Calibri"/>
              <a:sym typeface="Calibri"/>
            </a:endParaRPr>
          </a:p>
          <a:p>
            <a:pPr marL="342900" marR="0" lvl="0" indent="-342900" algn="l" rtl="0">
              <a:spcBef>
                <a:spcPts val="100"/>
              </a:spcBef>
              <a:spcAft>
                <a:spcPts val="0"/>
              </a:spcAft>
              <a:buClr>
                <a:srgbClr val="1A2E3B"/>
              </a:buClr>
              <a:buSzPts val="700"/>
              <a:buFont typeface="Calibri"/>
              <a:buChar char="•"/>
            </a:pPr>
            <a:r>
              <a:rPr lang="en-US" sz="700" b="0" i="0" u="none" strike="noStrike" cap="none">
                <a:solidFill>
                  <a:srgbClr val="1A2E3B"/>
                </a:solidFill>
                <a:latin typeface="Calibri"/>
                <a:ea typeface="Calibri"/>
                <a:cs typeface="Calibri"/>
                <a:sym typeface="Calibri"/>
              </a:rPr>
              <a:t>API contracts and payload models</a:t>
            </a:r>
            <a:endParaRPr sz="700" b="0" i="0" u="none" strike="noStrike" cap="none">
              <a:solidFill>
                <a:schemeClr val="dk1"/>
              </a:solidFill>
              <a:latin typeface="Calibri"/>
              <a:ea typeface="Calibri"/>
              <a:cs typeface="Calibri"/>
              <a:sym typeface="Calibri"/>
            </a:endParaRPr>
          </a:p>
          <a:p>
            <a:pPr marL="342900" marR="0" lvl="0" indent="-342900" algn="l" rtl="0">
              <a:spcBef>
                <a:spcPts val="100"/>
              </a:spcBef>
              <a:spcAft>
                <a:spcPts val="0"/>
              </a:spcAft>
              <a:buClr>
                <a:srgbClr val="1A2E3B"/>
              </a:buClr>
              <a:buSzPts val="700"/>
              <a:buFont typeface="Calibri"/>
              <a:buChar char="•"/>
            </a:pPr>
            <a:r>
              <a:rPr lang="en-US" sz="700" b="0" i="0" u="none" strike="noStrike" cap="none">
                <a:solidFill>
                  <a:srgbClr val="1A2E3B"/>
                </a:solidFill>
                <a:latin typeface="Calibri"/>
                <a:ea typeface="Calibri"/>
                <a:cs typeface="Calibri"/>
                <a:sym typeface="Calibri"/>
              </a:rPr>
              <a:t>Dependency call flows</a:t>
            </a:r>
            <a:endParaRPr sz="700" b="0" i="0" u="none" strike="noStrike" cap="none">
              <a:solidFill>
                <a:schemeClr val="dk1"/>
              </a:solidFill>
              <a:latin typeface="Calibri"/>
              <a:ea typeface="Calibri"/>
              <a:cs typeface="Calibri"/>
              <a:sym typeface="Calibri"/>
            </a:endParaRPr>
          </a:p>
          <a:p>
            <a:pPr marL="342900" marR="0" lvl="0" indent="-342900" algn="l" rtl="0">
              <a:spcBef>
                <a:spcPts val="100"/>
              </a:spcBef>
              <a:spcAft>
                <a:spcPts val="0"/>
              </a:spcAft>
              <a:buClr>
                <a:srgbClr val="1A2E3B"/>
              </a:buClr>
              <a:buSzPts val="700"/>
              <a:buFont typeface="Calibri"/>
              <a:buChar char="•"/>
            </a:pPr>
            <a:r>
              <a:rPr lang="en-US" sz="700" b="0" i="0" u="none" strike="noStrike" cap="none">
                <a:solidFill>
                  <a:srgbClr val="1A2E3B"/>
                </a:solidFill>
                <a:latin typeface="Calibri"/>
                <a:ea typeface="Calibri"/>
                <a:cs typeface="Calibri"/>
                <a:sym typeface="Calibri"/>
              </a:rPr>
              <a:t>Coding standards and performance best practices</a:t>
            </a:r>
            <a:endParaRPr sz="700" b="0" i="0" u="none" strike="noStrike" cap="none">
              <a:solidFill>
                <a:schemeClr val="dk1"/>
              </a:solidFill>
              <a:latin typeface="Calibri"/>
              <a:ea typeface="Calibri"/>
              <a:cs typeface="Calibri"/>
              <a:sym typeface="Calibri"/>
            </a:endParaRPr>
          </a:p>
        </p:txBody>
      </p:sp>
      <p:sp>
        <p:nvSpPr>
          <p:cNvPr id="291" name="Google Shape;291;g3d8ab55df9a_0_3"/>
          <p:cNvSpPr/>
          <p:nvPr/>
        </p:nvSpPr>
        <p:spPr>
          <a:xfrm>
            <a:off x="2729484" y="3758184"/>
            <a:ext cx="2711100" cy="1385400"/>
          </a:xfrm>
          <a:prstGeom prst="rect">
            <a:avLst/>
          </a:prstGeom>
          <a:solidFill>
            <a:srgbClr val="FFFFFF"/>
          </a:solidFill>
          <a:ln w="9525" cap="flat" cmpd="sng">
            <a:solidFill>
              <a:srgbClr val="C5DC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g3d8ab55df9a_0_3"/>
          <p:cNvSpPr/>
          <p:nvPr/>
        </p:nvSpPr>
        <p:spPr>
          <a:xfrm>
            <a:off x="2802636" y="3794760"/>
            <a:ext cx="2601600" cy="1330500"/>
          </a:xfrm>
          <a:prstGeom prst="rect">
            <a:avLst/>
          </a:prstGeom>
          <a:noFill/>
          <a:ln>
            <a:noFill/>
          </a:ln>
        </p:spPr>
        <p:txBody>
          <a:bodyPr spcFirstLastPara="1" wrap="square" lIns="0" tIns="25400" rIns="0" bIns="0" anchor="ctr" anchorCtr="0">
            <a:noAutofit/>
          </a:bodyPr>
          <a:lstStyle/>
          <a:p>
            <a:pPr marL="342900" marR="0" lvl="0" indent="-342900" algn="l" rtl="0">
              <a:spcBef>
                <a:spcPts val="0"/>
              </a:spcBef>
              <a:spcAft>
                <a:spcPts val="0"/>
              </a:spcAft>
              <a:buClr>
                <a:srgbClr val="1A2E3B"/>
              </a:buClr>
              <a:buSzPts val="700"/>
              <a:buFont typeface="Calibri"/>
              <a:buChar char="•"/>
            </a:pPr>
            <a:r>
              <a:rPr lang="en-US" sz="700" b="0" i="0" u="none" strike="noStrike" cap="none" dirty="0">
                <a:solidFill>
                  <a:srgbClr val="1A2E3B"/>
                </a:solidFill>
                <a:latin typeface="Calibri"/>
                <a:ea typeface="Calibri"/>
                <a:cs typeface="Calibri"/>
                <a:sym typeface="Calibri"/>
              </a:rPr>
              <a:t>Source code repository</a:t>
            </a:r>
            <a:endParaRPr sz="700" b="0" i="0" u="none" strike="noStrike" cap="none" dirty="0">
              <a:solidFill>
                <a:schemeClr val="dk1"/>
              </a:solidFill>
              <a:latin typeface="Calibri"/>
              <a:ea typeface="Calibri"/>
              <a:cs typeface="Calibri"/>
              <a:sym typeface="Calibri"/>
            </a:endParaRPr>
          </a:p>
          <a:p>
            <a:pPr marL="342900" marR="0" lvl="0" indent="-342900" algn="l" rtl="0">
              <a:spcBef>
                <a:spcPts val="100"/>
              </a:spcBef>
              <a:spcAft>
                <a:spcPts val="0"/>
              </a:spcAft>
              <a:buClr>
                <a:srgbClr val="1A2E3B"/>
              </a:buClr>
              <a:buSzPts val="700"/>
              <a:buFont typeface="Calibri"/>
              <a:buChar char="•"/>
            </a:pPr>
            <a:r>
              <a:rPr lang="en-US" sz="700" b="0" i="0" u="none" strike="noStrike" cap="none" dirty="0" err="1">
                <a:solidFill>
                  <a:srgbClr val="1A2E3B"/>
                </a:solidFill>
                <a:latin typeface="Calibri"/>
                <a:ea typeface="Calibri"/>
                <a:cs typeface="Calibri"/>
                <a:sym typeface="Calibri"/>
              </a:rPr>
              <a:t>CodeAnt</a:t>
            </a:r>
            <a:r>
              <a:rPr lang="en-US" sz="700" b="0" i="0" u="none" strike="noStrike" cap="none" dirty="0">
                <a:solidFill>
                  <a:srgbClr val="1A2E3B"/>
                </a:solidFill>
                <a:latin typeface="Calibri"/>
                <a:ea typeface="Calibri"/>
                <a:cs typeface="Calibri"/>
                <a:sym typeface="Calibri"/>
              </a:rPr>
              <a:t xml:space="preserve"> Ai</a:t>
            </a:r>
            <a:endParaRPr sz="700" b="0" i="0" u="none" strike="noStrike" cap="none" dirty="0">
              <a:solidFill>
                <a:schemeClr val="dk1"/>
              </a:solidFill>
              <a:latin typeface="Calibri"/>
              <a:ea typeface="Calibri"/>
              <a:cs typeface="Calibri"/>
              <a:sym typeface="Calibri"/>
            </a:endParaRPr>
          </a:p>
        </p:txBody>
      </p:sp>
      <p:sp>
        <p:nvSpPr>
          <p:cNvPr id="293" name="Google Shape;293;g3d8ab55df9a_0_3"/>
          <p:cNvSpPr/>
          <p:nvPr/>
        </p:nvSpPr>
        <p:spPr>
          <a:xfrm>
            <a:off x="5504688" y="1143000"/>
            <a:ext cx="3593700" cy="4000500"/>
          </a:xfrm>
          <a:prstGeom prst="rect">
            <a:avLst/>
          </a:prstGeom>
          <a:solidFill>
            <a:srgbClr val="D6EAF3"/>
          </a:solidFill>
          <a:ln w="9525" cap="flat" cmpd="sng">
            <a:solidFill>
              <a:srgbClr val="AACF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4" name="Google Shape;294;g3d8ab55df9a_0_3"/>
          <p:cNvSpPr/>
          <p:nvPr/>
        </p:nvSpPr>
        <p:spPr>
          <a:xfrm>
            <a:off x="5504688" y="1234440"/>
            <a:ext cx="3593700" cy="255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A2E3B"/>
              </a:buClr>
              <a:buSzPts val="950"/>
              <a:buFont typeface="Calibri"/>
              <a:buNone/>
            </a:pPr>
            <a:r>
              <a:rPr lang="en-US" sz="950" b="1" i="0" u="none" strike="noStrike" cap="none">
                <a:solidFill>
                  <a:srgbClr val="1A2E3B"/>
                </a:solidFill>
                <a:latin typeface="Calibri"/>
                <a:ea typeface="Calibri"/>
                <a:cs typeface="Calibri"/>
                <a:sym typeface="Calibri"/>
              </a:rPr>
              <a:t>Prioritization Outcomes</a:t>
            </a:r>
            <a:endParaRPr sz="950" b="0" i="0" u="none" strike="noStrike" cap="none">
              <a:solidFill>
                <a:schemeClr val="dk1"/>
              </a:solidFill>
              <a:latin typeface="Calibri"/>
              <a:ea typeface="Calibri"/>
              <a:cs typeface="Calibri"/>
              <a:sym typeface="Calibri"/>
            </a:endParaRPr>
          </a:p>
        </p:txBody>
      </p:sp>
      <p:sp>
        <p:nvSpPr>
          <p:cNvPr id="295" name="Google Shape;295;g3d8ab55df9a_0_3"/>
          <p:cNvSpPr/>
          <p:nvPr/>
        </p:nvSpPr>
        <p:spPr>
          <a:xfrm>
            <a:off x="5614416" y="1545336"/>
            <a:ext cx="1554600" cy="219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2E3B"/>
              </a:buClr>
              <a:buSzPts val="850"/>
              <a:buFont typeface="Calibri"/>
              <a:buNone/>
            </a:pPr>
            <a:r>
              <a:rPr lang="en-US" sz="850" b="0" i="0" u="none" strike="noStrike" cap="none">
                <a:solidFill>
                  <a:srgbClr val="1A2E3B"/>
                </a:solidFill>
                <a:latin typeface="Calibri"/>
                <a:ea typeface="Calibri"/>
                <a:cs typeface="Calibri"/>
                <a:sym typeface="Calibri"/>
              </a:rPr>
              <a:t>♦  Value</a:t>
            </a:r>
            <a:endParaRPr sz="850" b="0" i="0" u="none" strike="noStrike" cap="none">
              <a:solidFill>
                <a:schemeClr val="dk1"/>
              </a:solidFill>
              <a:latin typeface="Calibri"/>
              <a:ea typeface="Calibri"/>
              <a:cs typeface="Calibri"/>
              <a:sym typeface="Calibri"/>
            </a:endParaRPr>
          </a:p>
        </p:txBody>
      </p:sp>
      <p:sp>
        <p:nvSpPr>
          <p:cNvPr id="296" name="Google Shape;296;g3d8ab55df9a_0_3"/>
          <p:cNvSpPr/>
          <p:nvPr/>
        </p:nvSpPr>
        <p:spPr>
          <a:xfrm>
            <a:off x="7443216" y="1545336"/>
            <a:ext cx="1554600" cy="219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2E3B"/>
              </a:buClr>
              <a:buSzPts val="850"/>
              <a:buFont typeface="Calibri"/>
              <a:buNone/>
            </a:pPr>
            <a:r>
              <a:rPr lang="en-US" sz="850" b="0" i="0" u="none" strike="noStrike" cap="none">
                <a:solidFill>
                  <a:srgbClr val="1A2E3B"/>
                </a:solidFill>
                <a:latin typeface="Calibri"/>
                <a:ea typeface="Calibri"/>
                <a:cs typeface="Calibri"/>
                <a:sym typeface="Calibri"/>
              </a:rPr>
              <a:t>⚙  Feasibility</a:t>
            </a:r>
            <a:endParaRPr sz="850" b="0" i="0" u="none" strike="noStrike" cap="none">
              <a:solidFill>
                <a:schemeClr val="dk1"/>
              </a:solidFill>
              <a:latin typeface="Calibri"/>
              <a:ea typeface="Calibri"/>
              <a:cs typeface="Calibri"/>
              <a:sym typeface="Calibri"/>
            </a:endParaRPr>
          </a:p>
        </p:txBody>
      </p:sp>
      <p:sp>
        <p:nvSpPr>
          <p:cNvPr id="297" name="Google Shape;297;g3d8ab55df9a_0_3"/>
          <p:cNvSpPr/>
          <p:nvPr/>
        </p:nvSpPr>
        <p:spPr>
          <a:xfrm>
            <a:off x="5596128" y="1837944"/>
            <a:ext cx="1508700" cy="255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2E3B"/>
              </a:buClr>
              <a:buSzPts val="650"/>
              <a:buFont typeface="Calibri"/>
              <a:buNone/>
            </a:pPr>
            <a:r>
              <a:rPr lang="en-US" sz="650" b="0" i="0" u="none" strike="noStrike" cap="none">
                <a:solidFill>
                  <a:srgbClr val="1A2E3B"/>
                </a:solidFill>
                <a:latin typeface="Calibri"/>
                <a:ea typeface="Calibri"/>
                <a:cs typeface="Calibri"/>
                <a:sym typeface="Calibri"/>
              </a:rPr>
              <a:t>Clinical</a:t>
            </a:r>
            <a:endParaRPr sz="65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rgbClr val="1A2E3B"/>
              </a:buClr>
              <a:buSzPts val="650"/>
              <a:buFont typeface="Calibri"/>
              <a:buNone/>
            </a:pPr>
            <a:r>
              <a:rPr lang="en-US" sz="650" b="0" i="0" u="none" strike="noStrike" cap="none">
                <a:solidFill>
                  <a:srgbClr val="1A2E3B"/>
                </a:solidFill>
                <a:latin typeface="Calibri"/>
                <a:ea typeface="Calibri"/>
                <a:cs typeface="Calibri"/>
                <a:sym typeface="Calibri"/>
              </a:rPr>
              <a:t>Impact</a:t>
            </a:r>
            <a:endParaRPr sz="650" b="0" i="0" u="none" strike="noStrike" cap="none">
              <a:solidFill>
                <a:schemeClr val="dk1"/>
              </a:solidFill>
              <a:latin typeface="Calibri"/>
              <a:ea typeface="Calibri"/>
              <a:cs typeface="Calibri"/>
              <a:sym typeface="Calibri"/>
            </a:endParaRPr>
          </a:p>
        </p:txBody>
      </p:sp>
      <p:sp>
        <p:nvSpPr>
          <p:cNvPr id="298" name="Google Shape;298;g3d8ab55df9a_0_3"/>
          <p:cNvSpPr/>
          <p:nvPr/>
        </p:nvSpPr>
        <p:spPr>
          <a:xfrm>
            <a:off x="5596128" y="2112264"/>
            <a:ext cx="1371600" cy="118800"/>
          </a:xfrm>
          <a:prstGeom prst="rect">
            <a:avLst/>
          </a:prstGeom>
          <a:solidFill>
            <a:srgbClr val="BACED9"/>
          </a:solidFill>
          <a:ln w="12700" cap="flat" cmpd="sng">
            <a:solidFill>
              <a:srgbClr val="BACED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g3d8ab55df9a_0_3"/>
          <p:cNvSpPr/>
          <p:nvPr/>
        </p:nvSpPr>
        <p:spPr>
          <a:xfrm>
            <a:off x="5596128" y="2258568"/>
            <a:ext cx="1371600" cy="1647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07080"/>
              </a:buClr>
              <a:buSzPts val="600"/>
              <a:buFont typeface="Calibri"/>
              <a:buNone/>
            </a:pPr>
            <a:r>
              <a:rPr lang="en-US" sz="600" i="0" u="none" strike="noStrike" cap="none" dirty="0">
                <a:solidFill>
                  <a:srgbClr val="607080"/>
                </a:solidFill>
                <a:latin typeface="Calibri"/>
                <a:ea typeface="Calibri"/>
                <a:cs typeface="Calibri"/>
                <a:sym typeface="Calibri"/>
              </a:rPr>
              <a:t xml:space="preserve">L         M         </a:t>
            </a:r>
            <a:r>
              <a:rPr lang="en-US" sz="600" b="1" i="0" u="none" strike="noStrike" cap="none" dirty="0">
                <a:solidFill>
                  <a:schemeClr val="tx1"/>
                </a:solidFill>
                <a:latin typeface="Calibri"/>
                <a:ea typeface="Calibri"/>
                <a:cs typeface="Calibri"/>
                <a:sym typeface="Calibri"/>
              </a:rPr>
              <a:t>H</a:t>
            </a:r>
            <a:endParaRPr sz="600" b="1" i="0" u="none" strike="noStrike" cap="none" dirty="0">
              <a:solidFill>
                <a:schemeClr val="tx1"/>
              </a:solidFill>
              <a:latin typeface="Calibri"/>
              <a:ea typeface="Calibri"/>
              <a:cs typeface="Calibri"/>
              <a:sym typeface="Calibri"/>
            </a:endParaRPr>
          </a:p>
        </p:txBody>
      </p:sp>
      <p:sp>
        <p:nvSpPr>
          <p:cNvPr id="301" name="Google Shape;301;g3d8ab55df9a_0_3"/>
          <p:cNvSpPr/>
          <p:nvPr/>
        </p:nvSpPr>
        <p:spPr>
          <a:xfrm>
            <a:off x="7424928" y="1837944"/>
            <a:ext cx="1572900" cy="255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2E3B"/>
              </a:buClr>
              <a:buSzPts val="650"/>
              <a:buFont typeface="Calibri"/>
              <a:buNone/>
            </a:pPr>
            <a:r>
              <a:rPr lang="en-US" sz="650" b="0" i="0" u="none" strike="noStrike" cap="none">
                <a:solidFill>
                  <a:srgbClr val="1A2E3B"/>
                </a:solidFill>
                <a:latin typeface="Calibri"/>
                <a:ea typeface="Calibri"/>
                <a:cs typeface="Calibri"/>
                <a:sym typeface="Calibri"/>
              </a:rPr>
              <a:t>Technical</a:t>
            </a:r>
            <a:endParaRPr sz="65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rgbClr val="1A2E3B"/>
              </a:buClr>
              <a:buSzPts val="650"/>
              <a:buFont typeface="Calibri"/>
              <a:buNone/>
            </a:pPr>
            <a:r>
              <a:rPr lang="en-US" sz="650" b="0" i="0" u="none" strike="noStrike" cap="none">
                <a:solidFill>
                  <a:srgbClr val="1A2E3B"/>
                </a:solidFill>
                <a:latin typeface="Calibri"/>
                <a:ea typeface="Calibri"/>
                <a:cs typeface="Calibri"/>
                <a:sym typeface="Calibri"/>
              </a:rPr>
              <a:t>Feasibility</a:t>
            </a:r>
            <a:endParaRPr sz="650" b="0" i="0" u="none" strike="noStrike" cap="none">
              <a:solidFill>
                <a:schemeClr val="dk1"/>
              </a:solidFill>
              <a:latin typeface="Calibri"/>
              <a:ea typeface="Calibri"/>
              <a:cs typeface="Calibri"/>
              <a:sym typeface="Calibri"/>
            </a:endParaRPr>
          </a:p>
        </p:txBody>
      </p:sp>
      <p:sp>
        <p:nvSpPr>
          <p:cNvPr id="302" name="Google Shape;302;g3d8ab55df9a_0_3"/>
          <p:cNvSpPr/>
          <p:nvPr/>
        </p:nvSpPr>
        <p:spPr>
          <a:xfrm>
            <a:off x="7424928" y="2112264"/>
            <a:ext cx="1371600" cy="118800"/>
          </a:xfrm>
          <a:prstGeom prst="rect">
            <a:avLst/>
          </a:prstGeom>
          <a:solidFill>
            <a:srgbClr val="BACED9"/>
          </a:solidFill>
          <a:ln w="12700" cap="flat" cmpd="sng">
            <a:solidFill>
              <a:srgbClr val="BACED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g3d8ab55df9a_0_3"/>
          <p:cNvSpPr/>
          <p:nvPr/>
        </p:nvSpPr>
        <p:spPr>
          <a:xfrm>
            <a:off x="7424928" y="2258568"/>
            <a:ext cx="1371600" cy="1647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07080"/>
              </a:buClr>
              <a:buSzPts val="600"/>
              <a:buFont typeface="Calibri"/>
              <a:buNone/>
            </a:pPr>
            <a:r>
              <a:rPr lang="en-US" sz="600" b="0" i="0" u="none" strike="noStrike" cap="none" dirty="0">
                <a:solidFill>
                  <a:srgbClr val="607080"/>
                </a:solidFill>
                <a:latin typeface="Calibri"/>
                <a:ea typeface="Calibri"/>
                <a:cs typeface="Calibri"/>
                <a:sym typeface="Calibri"/>
              </a:rPr>
              <a:t xml:space="preserve">L         </a:t>
            </a:r>
            <a:r>
              <a:rPr lang="en-US" sz="600" b="1" i="0" u="none" strike="noStrike" cap="none" dirty="0">
                <a:solidFill>
                  <a:schemeClr val="tx1"/>
                </a:solidFill>
                <a:latin typeface="Calibri"/>
                <a:ea typeface="Calibri"/>
                <a:cs typeface="Calibri"/>
                <a:sym typeface="Calibri"/>
              </a:rPr>
              <a:t>M</a:t>
            </a:r>
            <a:r>
              <a:rPr lang="en-US" sz="600" b="0" i="0" u="none" strike="noStrike" cap="none" dirty="0">
                <a:solidFill>
                  <a:srgbClr val="607080"/>
                </a:solidFill>
                <a:latin typeface="Calibri"/>
                <a:ea typeface="Calibri"/>
                <a:cs typeface="Calibri"/>
                <a:sym typeface="Calibri"/>
              </a:rPr>
              <a:t xml:space="preserve">         </a:t>
            </a:r>
            <a:r>
              <a:rPr lang="en-US" sz="600" i="0" u="none" strike="noStrike" cap="none" dirty="0">
                <a:solidFill>
                  <a:schemeClr val="tx1">
                    <a:lumMod val="50000"/>
                    <a:lumOff val="50000"/>
                  </a:schemeClr>
                </a:solidFill>
                <a:latin typeface="Calibri"/>
                <a:ea typeface="Calibri"/>
                <a:cs typeface="Calibri"/>
                <a:sym typeface="Calibri"/>
              </a:rPr>
              <a:t>H</a:t>
            </a:r>
            <a:endParaRPr sz="600" i="0" u="none" strike="noStrike" cap="none" dirty="0">
              <a:solidFill>
                <a:schemeClr val="tx1">
                  <a:lumMod val="50000"/>
                  <a:lumOff val="50000"/>
                </a:schemeClr>
              </a:solidFill>
              <a:latin typeface="Calibri"/>
              <a:ea typeface="Calibri"/>
              <a:cs typeface="Calibri"/>
              <a:sym typeface="Calibri"/>
            </a:endParaRPr>
          </a:p>
        </p:txBody>
      </p:sp>
      <p:sp>
        <p:nvSpPr>
          <p:cNvPr id="305" name="Google Shape;305;g3d8ab55df9a_0_3"/>
          <p:cNvSpPr/>
          <p:nvPr/>
        </p:nvSpPr>
        <p:spPr>
          <a:xfrm>
            <a:off x="5596128" y="2679192"/>
            <a:ext cx="1508700" cy="255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2E3B"/>
              </a:buClr>
              <a:buSzPts val="650"/>
              <a:buFont typeface="Calibri"/>
              <a:buNone/>
            </a:pPr>
            <a:r>
              <a:rPr lang="en-US" sz="650" b="0" i="0" u="none" strike="noStrike" cap="none">
                <a:solidFill>
                  <a:srgbClr val="1A2E3B"/>
                </a:solidFill>
                <a:latin typeface="Calibri"/>
                <a:ea typeface="Calibri"/>
                <a:cs typeface="Calibri"/>
                <a:sym typeface="Calibri"/>
              </a:rPr>
              <a:t>Business</a:t>
            </a:r>
            <a:endParaRPr sz="65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rgbClr val="1A2E3B"/>
              </a:buClr>
              <a:buSzPts val="650"/>
              <a:buFont typeface="Calibri"/>
              <a:buNone/>
            </a:pPr>
            <a:r>
              <a:rPr lang="en-US" sz="650" b="0" i="0" u="none" strike="noStrike" cap="none">
                <a:solidFill>
                  <a:srgbClr val="1A2E3B"/>
                </a:solidFill>
                <a:latin typeface="Calibri"/>
                <a:ea typeface="Calibri"/>
                <a:cs typeface="Calibri"/>
                <a:sym typeface="Calibri"/>
              </a:rPr>
              <a:t>Impact</a:t>
            </a:r>
            <a:endParaRPr sz="650" b="0" i="0" u="none" strike="noStrike" cap="none">
              <a:solidFill>
                <a:schemeClr val="dk1"/>
              </a:solidFill>
              <a:latin typeface="Calibri"/>
              <a:ea typeface="Calibri"/>
              <a:cs typeface="Calibri"/>
              <a:sym typeface="Calibri"/>
            </a:endParaRPr>
          </a:p>
        </p:txBody>
      </p:sp>
      <p:sp>
        <p:nvSpPr>
          <p:cNvPr id="306" name="Google Shape;306;g3d8ab55df9a_0_3"/>
          <p:cNvSpPr/>
          <p:nvPr/>
        </p:nvSpPr>
        <p:spPr>
          <a:xfrm>
            <a:off x="5596128" y="2953512"/>
            <a:ext cx="1371600" cy="118800"/>
          </a:xfrm>
          <a:prstGeom prst="rect">
            <a:avLst/>
          </a:prstGeom>
          <a:solidFill>
            <a:srgbClr val="BACED9"/>
          </a:solidFill>
          <a:ln w="12700" cap="flat" cmpd="sng">
            <a:solidFill>
              <a:srgbClr val="BACED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g3d8ab55df9a_0_3"/>
          <p:cNvSpPr/>
          <p:nvPr/>
        </p:nvSpPr>
        <p:spPr>
          <a:xfrm>
            <a:off x="5596125" y="2953500"/>
            <a:ext cx="1024500" cy="118800"/>
          </a:xfrm>
          <a:prstGeom prst="rect">
            <a:avLst/>
          </a:prstGeom>
          <a:solidFill>
            <a:srgbClr val="1A7A9A"/>
          </a:solidFill>
          <a:ln w="12700" cap="flat" cmpd="sng">
            <a:solidFill>
              <a:srgbClr val="1A7A9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g3d8ab55df9a_0_3"/>
          <p:cNvSpPr/>
          <p:nvPr/>
        </p:nvSpPr>
        <p:spPr>
          <a:xfrm>
            <a:off x="5596128" y="3099816"/>
            <a:ext cx="1371600" cy="1647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07080"/>
              </a:buClr>
              <a:buSzPts val="600"/>
              <a:buFont typeface="Calibri"/>
              <a:buNone/>
            </a:pPr>
            <a:r>
              <a:rPr lang="en-US" sz="600" b="0" i="0" u="none" strike="noStrike" cap="none" dirty="0">
                <a:solidFill>
                  <a:srgbClr val="607080"/>
                </a:solidFill>
                <a:latin typeface="Calibri"/>
                <a:ea typeface="Calibri"/>
                <a:cs typeface="Calibri"/>
                <a:sym typeface="Calibri"/>
              </a:rPr>
              <a:t>L         M         H</a:t>
            </a:r>
            <a:endParaRPr sz="600" b="0" i="0" u="none" strike="noStrike" cap="none" dirty="0">
              <a:solidFill>
                <a:schemeClr val="dk1"/>
              </a:solidFill>
              <a:latin typeface="Calibri"/>
              <a:ea typeface="Calibri"/>
              <a:cs typeface="Calibri"/>
              <a:sym typeface="Calibri"/>
            </a:endParaRPr>
          </a:p>
        </p:txBody>
      </p:sp>
      <p:sp>
        <p:nvSpPr>
          <p:cNvPr id="309" name="Google Shape;309;g3d8ab55df9a_0_3"/>
          <p:cNvSpPr/>
          <p:nvPr/>
        </p:nvSpPr>
        <p:spPr>
          <a:xfrm>
            <a:off x="7424928" y="2679192"/>
            <a:ext cx="1572900" cy="255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2E3B"/>
              </a:buClr>
              <a:buSzPts val="650"/>
              <a:buFont typeface="Calibri"/>
              <a:buNone/>
            </a:pPr>
            <a:r>
              <a:rPr lang="en-US" sz="650" b="0" i="0" u="none" strike="noStrike" cap="none">
                <a:solidFill>
                  <a:srgbClr val="1A2E3B"/>
                </a:solidFill>
                <a:latin typeface="Calibri"/>
                <a:ea typeface="Calibri"/>
                <a:cs typeface="Calibri"/>
                <a:sym typeface="Calibri"/>
              </a:rPr>
              <a:t>Organisational</a:t>
            </a:r>
            <a:endParaRPr sz="65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rgbClr val="1A2E3B"/>
              </a:buClr>
              <a:buSzPts val="650"/>
              <a:buFont typeface="Calibri"/>
              <a:buNone/>
            </a:pPr>
            <a:r>
              <a:rPr lang="en-US" sz="650" b="0" i="0" u="none" strike="noStrike" cap="none">
                <a:solidFill>
                  <a:srgbClr val="1A2E3B"/>
                </a:solidFill>
                <a:latin typeface="Calibri"/>
                <a:ea typeface="Calibri"/>
                <a:cs typeface="Calibri"/>
                <a:sym typeface="Calibri"/>
              </a:rPr>
              <a:t>Feasibility</a:t>
            </a:r>
            <a:endParaRPr sz="650" b="0" i="0" u="none" strike="noStrike" cap="none">
              <a:solidFill>
                <a:schemeClr val="dk1"/>
              </a:solidFill>
              <a:latin typeface="Calibri"/>
              <a:ea typeface="Calibri"/>
              <a:cs typeface="Calibri"/>
              <a:sym typeface="Calibri"/>
            </a:endParaRPr>
          </a:p>
        </p:txBody>
      </p:sp>
      <p:sp>
        <p:nvSpPr>
          <p:cNvPr id="310" name="Google Shape;310;g3d8ab55df9a_0_3"/>
          <p:cNvSpPr/>
          <p:nvPr/>
        </p:nvSpPr>
        <p:spPr>
          <a:xfrm>
            <a:off x="7424928" y="2953512"/>
            <a:ext cx="1371600" cy="118800"/>
          </a:xfrm>
          <a:prstGeom prst="rect">
            <a:avLst/>
          </a:prstGeom>
          <a:solidFill>
            <a:srgbClr val="BACED9"/>
          </a:solidFill>
          <a:ln w="12700" cap="flat" cmpd="sng">
            <a:solidFill>
              <a:srgbClr val="BACED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g3d8ab55df9a_0_3"/>
          <p:cNvSpPr/>
          <p:nvPr/>
        </p:nvSpPr>
        <p:spPr>
          <a:xfrm>
            <a:off x="7424928" y="2953512"/>
            <a:ext cx="1371600" cy="118800"/>
          </a:xfrm>
          <a:prstGeom prst="rect">
            <a:avLst/>
          </a:prstGeom>
          <a:solidFill>
            <a:srgbClr val="0D4A6A"/>
          </a:solidFill>
          <a:ln w="12700" cap="flat" cmpd="sng">
            <a:solidFill>
              <a:srgbClr val="0D4A6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g3d8ab55df9a_0_3"/>
          <p:cNvSpPr/>
          <p:nvPr/>
        </p:nvSpPr>
        <p:spPr>
          <a:xfrm>
            <a:off x="7424928" y="3099816"/>
            <a:ext cx="1371600" cy="1647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07080"/>
              </a:buClr>
              <a:buSzPts val="600"/>
              <a:buFont typeface="Calibri"/>
              <a:buNone/>
            </a:pPr>
            <a:r>
              <a:rPr lang="en-US" sz="600" b="0" i="0" u="none" strike="noStrike" cap="none" dirty="0">
                <a:solidFill>
                  <a:srgbClr val="607080"/>
                </a:solidFill>
                <a:latin typeface="Calibri"/>
                <a:ea typeface="Calibri"/>
                <a:cs typeface="Calibri"/>
                <a:sym typeface="Calibri"/>
              </a:rPr>
              <a:t xml:space="preserve">L         M         </a:t>
            </a:r>
            <a:r>
              <a:rPr lang="en-US" sz="600" b="1" i="0" u="none" strike="noStrike" cap="none" dirty="0">
                <a:solidFill>
                  <a:schemeClr val="tx1"/>
                </a:solidFill>
                <a:latin typeface="Calibri"/>
                <a:ea typeface="Calibri"/>
                <a:cs typeface="Calibri"/>
                <a:sym typeface="Calibri"/>
              </a:rPr>
              <a:t>H</a:t>
            </a:r>
            <a:endParaRPr sz="600" b="1" i="0" u="none" strike="noStrike" cap="none" dirty="0">
              <a:solidFill>
                <a:schemeClr val="tx1"/>
              </a:solidFill>
              <a:latin typeface="Calibri"/>
              <a:ea typeface="Calibri"/>
              <a:cs typeface="Calibri"/>
              <a:sym typeface="Calibri"/>
            </a:endParaRPr>
          </a:p>
        </p:txBody>
      </p:sp>
      <p:sp>
        <p:nvSpPr>
          <p:cNvPr id="313" name="Google Shape;313;g3d8ab55df9a_0_3"/>
          <p:cNvSpPr/>
          <p:nvPr/>
        </p:nvSpPr>
        <p:spPr>
          <a:xfrm>
            <a:off x="5596128" y="3520440"/>
            <a:ext cx="1508700" cy="255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2E3B"/>
              </a:buClr>
              <a:buSzPts val="650"/>
              <a:buFont typeface="Calibri"/>
              <a:buNone/>
            </a:pPr>
            <a:r>
              <a:rPr lang="en-US" sz="650" b="0" i="0" u="none" strike="noStrike" cap="none" dirty="0">
                <a:solidFill>
                  <a:srgbClr val="1A2E3B"/>
                </a:solidFill>
                <a:latin typeface="Calibri"/>
                <a:ea typeface="Calibri"/>
                <a:cs typeface="Calibri"/>
                <a:sym typeface="Calibri"/>
              </a:rPr>
              <a:t>Strategic</a:t>
            </a:r>
            <a:endParaRPr sz="650" b="0" i="0" u="none" strike="noStrike" cap="none" dirty="0">
              <a:solidFill>
                <a:schemeClr val="dk1"/>
              </a:solidFill>
              <a:latin typeface="Calibri"/>
              <a:ea typeface="Calibri"/>
              <a:cs typeface="Calibri"/>
              <a:sym typeface="Calibri"/>
            </a:endParaRPr>
          </a:p>
          <a:p>
            <a:pPr marL="0" marR="0" lvl="0" indent="0" algn="l" rtl="0">
              <a:spcBef>
                <a:spcPts val="0"/>
              </a:spcBef>
              <a:spcAft>
                <a:spcPts val="0"/>
              </a:spcAft>
              <a:buClr>
                <a:srgbClr val="1A2E3B"/>
              </a:buClr>
              <a:buSzPts val="650"/>
              <a:buFont typeface="Calibri"/>
              <a:buNone/>
            </a:pPr>
            <a:r>
              <a:rPr lang="en-US" sz="650" b="0" i="0" u="none" strike="noStrike" cap="none" dirty="0">
                <a:solidFill>
                  <a:srgbClr val="1A2E3B"/>
                </a:solidFill>
                <a:latin typeface="Calibri"/>
                <a:ea typeface="Calibri"/>
                <a:cs typeface="Calibri"/>
                <a:sym typeface="Calibri"/>
              </a:rPr>
              <a:t>Alignment</a:t>
            </a:r>
            <a:endParaRPr sz="650" b="0" i="0" u="none" strike="noStrike" cap="none" dirty="0">
              <a:solidFill>
                <a:schemeClr val="dk1"/>
              </a:solidFill>
              <a:latin typeface="Calibri"/>
              <a:ea typeface="Calibri"/>
              <a:cs typeface="Calibri"/>
              <a:sym typeface="Calibri"/>
            </a:endParaRPr>
          </a:p>
        </p:txBody>
      </p:sp>
      <p:sp>
        <p:nvSpPr>
          <p:cNvPr id="314" name="Google Shape;314;g3d8ab55df9a_0_3"/>
          <p:cNvSpPr/>
          <p:nvPr/>
        </p:nvSpPr>
        <p:spPr>
          <a:xfrm>
            <a:off x="5596128" y="3794760"/>
            <a:ext cx="1371600" cy="118800"/>
          </a:xfrm>
          <a:prstGeom prst="rect">
            <a:avLst/>
          </a:prstGeom>
          <a:solidFill>
            <a:srgbClr val="BACED9"/>
          </a:solidFill>
          <a:ln w="12700" cap="flat" cmpd="sng">
            <a:solidFill>
              <a:srgbClr val="BACED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g3d8ab55df9a_0_3"/>
          <p:cNvSpPr/>
          <p:nvPr/>
        </p:nvSpPr>
        <p:spPr>
          <a:xfrm>
            <a:off x="5596128" y="3794760"/>
            <a:ext cx="1024497" cy="128330"/>
          </a:xfrm>
          <a:prstGeom prst="rect">
            <a:avLst/>
          </a:prstGeom>
          <a:solidFill>
            <a:srgbClr val="1A7A9A"/>
          </a:solidFill>
          <a:ln w="12700" cap="flat" cmpd="sng">
            <a:solidFill>
              <a:srgbClr val="1A7A9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g3d8ab55df9a_0_3"/>
          <p:cNvSpPr/>
          <p:nvPr/>
        </p:nvSpPr>
        <p:spPr>
          <a:xfrm>
            <a:off x="5596128" y="3941064"/>
            <a:ext cx="1371600" cy="1647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07080"/>
              </a:buClr>
              <a:buSzPts val="600"/>
              <a:buFont typeface="Calibri"/>
              <a:buNone/>
            </a:pPr>
            <a:r>
              <a:rPr lang="en-US" sz="600" b="0" i="0" u="none" strike="noStrike" cap="none">
                <a:solidFill>
                  <a:srgbClr val="607080"/>
                </a:solidFill>
                <a:latin typeface="Calibri"/>
                <a:ea typeface="Calibri"/>
                <a:cs typeface="Calibri"/>
                <a:sym typeface="Calibri"/>
              </a:rPr>
              <a:t>L         M         H</a:t>
            </a:r>
            <a:endParaRPr sz="600" b="0" i="0" u="none" strike="noStrike" cap="none">
              <a:solidFill>
                <a:schemeClr val="dk1"/>
              </a:solidFill>
              <a:latin typeface="Calibri"/>
              <a:ea typeface="Calibri"/>
              <a:cs typeface="Calibri"/>
              <a:sym typeface="Calibri"/>
            </a:endParaRPr>
          </a:p>
        </p:txBody>
      </p:sp>
      <p:sp>
        <p:nvSpPr>
          <p:cNvPr id="317" name="Google Shape;317;g3d8ab55df9a_0_3"/>
          <p:cNvSpPr/>
          <p:nvPr/>
        </p:nvSpPr>
        <p:spPr>
          <a:xfrm>
            <a:off x="7424928" y="3520440"/>
            <a:ext cx="1572900" cy="255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2E3B"/>
              </a:buClr>
              <a:buSzPts val="650"/>
              <a:buFont typeface="Calibri"/>
              <a:buNone/>
            </a:pPr>
            <a:r>
              <a:rPr lang="en-US" sz="650" b="0" i="0" u="none" strike="noStrike" cap="none">
                <a:solidFill>
                  <a:srgbClr val="1A2E3B"/>
                </a:solidFill>
                <a:latin typeface="Calibri"/>
                <a:ea typeface="Calibri"/>
                <a:cs typeface="Calibri"/>
                <a:sym typeface="Calibri"/>
              </a:rPr>
              <a:t>Cost</a:t>
            </a:r>
            <a:endParaRPr sz="65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rgbClr val="1A2E3B"/>
              </a:buClr>
              <a:buSzPts val="650"/>
              <a:buFont typeface="Calibri"/>
              <a:buNone/>
            </a:pPr>
            <a:r>
              <a:rPr lang="en-US" sz="650" b="0" i="0" u="none" strike="noStrike" cap="none">
                <a:solidFill>
                  <a:srgbClr val="1A2E3B"/>
                </a:solidFill>
                <a:latin typeface="Calibri"/>
                <a:ea typeface="Calibri"/>
                <a:cs typeface="Calibri"/>
                <a:sym typeface="Calibri"/>
              </a:rPr>
              <a:t>Feasibility</a:t>
            </a:r>
            <a:endParaRPr sz="650" b="0" i="0" u="none" strike="noStrike" cap="none">
              <a:solidFill>
                <a:schemeClr val="dk1"/>
              </a:solidFill>
              <a:latin typeface="Calibri"/>
              <a:ea typeface="Calibri"/>
              <a:cs typeface="Calibri"/>
              <a:sym typeface="Calibri"/>
            </a:endParaRPr>
          </a:p>
        </p:txBody>
      </p:sp>
      <p:sp>
        <p:nvSpPr>
          <p:cNvPr id="318" name="Google Shape;318;g3d8ab55df9a_0_3"/>
          <p:cNvSpPr/>
          <p:nvPr/>
        </p:nvSpPr>
        <p:spPr>
          <a:xfrm>
            <a:off x="7424928" y="3794760"/>
            <a:ext cx="1371600" cy="118800"/>
          </a:xfrm>
          <a:prstGeom prst="rect">
            <a:avLst/>
          </a:prstGeom>
          <a:solidFill>
            <a:srgbClr val="BACED9"/>
          </a:solidFill>
          <a:ln w="12700" cap="flat" cmpd="sng">
            <a:solidFill>
              <a:srgbClr val="BACED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g3d8ab55df9a_0_3"/>
          <p:cNvSpPr/>
          <p:nvPr/>
        </p:nvSpPr>
        <p:spPr>
          <a:xfrm>
            <a:off x="7424928" y="3794760"/>
            <a:ext cx="1371600" cy="118800"/>
          </a:xfrm>
          <a:prstGeom prst="rect">
            <a:avLst/>
          </a:prstGeom>
          <a:solidFill>
            <a:srgbClr val="0D4A6A"/>
          </a:solidFill>
          <a:ln w="12700" cap="flat" cmpd="sng">
            <a:solidFill>
              <a:srgbClr val="0D4A6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g3d8ab55df9a_0_3"/>
          <p:cNvSpPr/>
          <p:nvPr/>
        </p:nvSpPr>
        <p:spPr>
          <a:xfrm>
            <a:off x="7424928" y="3941064"/>
            <a:ext cx="1371600" cy="1647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07080"/>
              </a:buClr>
              <a:buSzPts val="600"/>
              <a:buFont typeface="Calibri"/>
              <a:buNone/>
            </a:pPr>
            <a:r>
              <a:rPr lang="en-US" sz="600" b="0" i="0" u="none" strike="noStrike" cap="none" dirty="0">
                <a:solidFill>
                  <a:srgbClr val="607080"/>
                </a:solidFill>
                <a:latin typeface="Calibri"/>
                <a:ea typeface="Calibri"/>
                <a:cs typeface="Calibri"/>
                <a:sym typeface="Calibri"/>
              </a:rPr>
              <a:t xml:space="preserve">L         M         </a:t>
            </a:r>
            <a:r>
              <a:rPr lang="en-US" sz="600" b="1" i="0" u="none" strike="noStrike" cap="none" dirty="0">
                <a:solidFill>
                  <a:schemeClr val="tx1"/>
                </a:solidFill>
                <a:latin typeface="Calibri"/>
                <a:ea typeface="Calibri"/>
                <a:cs typeface="Calibri"/>
                <a:sym typeface="Calibri"/>
              </a:rPr>
              <a:t>H</a:t>
            </a:r>
            <a:endParaRPr sz="600" b="1" i="0" u="none" strike="noStrike" cap="none" dirty="0">
              <a:solidFill>
                <a:schemeClr val="tx1"/>
              </a:solidFill>
              <a:latin typeface="Calibri"/>
              <a:ea typeface="Calibri"/>
              <a:cs typeface="Calibri"/>
              <a:sym typeface="Calibri"/>
            </a:endParaRPr>
          </a:p>
        </p:txBody>
      </p:sp>
      <p:sp>
        <p:nvSpPr>
          <p:cNvPr id="321" name="Google Shape;321;g3d8ab55df9a_0_3"/>
          <p:cNvSpPr/>
          <p:nvPr/>
        </p:nvSpPr>
        <p:spPr>
          <a:xfrm>
            <a:off x="5495288" y="4270490"/>
            <a:ext cx="3593700" cy="255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A2E3B"/>
              </a:buClr>
              <a:buSzPts val="850"/>
              <a:buFont typeface="Calibri"/>
              <a:buNone/>
            </a:pPr>
            <a:r>
              <a:rPr lang="en-US" sz="850" b="1" i="0" u="none" strike="noStrike" cap="none">
                <a:solidFill>
                  <a:srgbClr val="1A2E3B"/>
                </a:solidFill>
                <a:latin typeface="Calibri"/>
                <a:ea typeface="Calibri"/>
                <a:cs typeface="Calibri"/>
                <a:sym typeface="Calibri"/>
              </a:rPr>
              <a:t>⏱  Time to Deploy</a:t>
            </a:r>
            <a:endParaRPr sz="850" b="0" i="0" u="none" strike="noStrike" cap="none">
              <a:solidFill>
                <a:schemeClr val="dk1"/>
              </a:solidFill>
              <a:latin typeface="Calibri"/>
              <a:ea typeface="Calibri"/>
              <a:cs typeface="Calibri"/>
              <a:sym typeface="Calibri"/>
            </a:endParaRPr>
          </a:p>
        </p:txBody>
      </p:sp>
      <p:sp>
        <p:nvSpPr>
          <p:cNvPr id="322" name="Google Shape;322;g3d8ab55df9a_0_3"/>
          <p:cNvSpPr/>
          <p:nvPr/>
        </p:nvSpPr>
        <p:spPr>
          <a:xfrm>
            <a:off x="5623550" y="4635999"/>
            <a:ext cx="3383400" cy="301800"/>
          </a:xfrm>
          <a:prstGeom prst="rect">
            <a:avLst/>
          </a:prstGeom>
          <a:solidFill>
            <a:srgbClr val="072035"/>
          </a:solidFill>
          <a:ln w="9525" cap="flat" cmpd="sng">
            <a:solidFill>
              <a:srgbClr val="1A4A6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g3d8ab55df9a_0_3"/>
          <p:cNvSpPr/>
          <p:nvPr/>
        </p:nvSpPr>
        <p:spPr>
          <a:xfrm>
            <a:off x="5623560" y="4635997"/>
            <a:ext cx="3383400" cy="274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0A1C2"/>
              </a:buClr>
              <a:buSzPts val="1000"/>
              <a:buFont typeface="Calibri"/>
              <a:buNone/>
            </a:pPr>
            <a:r>
              <a:rPr lang="en-US" sz="1000" b="1" i="0" u="none" strike="noStrike" cap="none">
                <a:solidFill>
                  <a:srgbClr val="00A1C2"/>
                </a:solidFill>
                <a:latin typeface="Calibri"/>
                <a:ea typeface="Calibri"/>
                <a:cs typeface="Calibri"/>
                <a:sym typeface="Calibri"/>
              </a:rPr>
              <a:t>3–6 months</a:t>
            </a:r>
            <a:endParaRPr sz="1000" b="0" i="0" u="none" strike="noStrike" cap="none">
              <a:solidFill>
                <a:schemeClr val="dk1"/>
              </a:solidFill>
              <a:latin typeface="Calibri"/>
              <a:ea typeface="Calibri"/>
              <a:cs typeface="Calibri"/>
              <a:sym typeface="Calibri"/>
            </a:endParaRPr>
          </a:p>
        </p:txBody>
      </p:sp>
      <p:sp>
        <p:nvSpPr>
          <p:cNvPr id="2" name="Google Shape;303;g3d8ab55df9a_0_3">
            <a:extLst>
              <a:ext uri="{FF2B5EF4-FFF2-40B4-BE49-F238E27FC236}">
                <a16:creationId xmlns:a16="http://schemas.microsoft.com/office/drawing/2014/main" id="{372E054C-8056-07DB-7823-70F9982E399D}"/>
              </a:ext>
            </a:extLst>
          </p:cNvPr>
          <p:cNvSpPr/>
          <p:nvPr/>
        </p:nvSpPr>
        <p:spPr>
          <a:xfrm>
            <a:off x="5596125" y="2103168"/>
            <a:ext cx="1371600" cy="118800"/>
          </a:xfrm>
          <a:prstGeom prst="rect">
            <a:avLst/>
          </a:prstGeom>
          <a:solidFill>
            <a:srgbClr val="0D4A6A"/>
          </a:solidFill>
          <a:ln w="12700" cap="flat" cmpd="sng">
            <a:solidFill>
              <a:srgbClr val="0D4A6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Google Shape;307;g3d8ab55df9a_0_3">
            <a:extLst>
              <a:ext uri="{FF2B5EF4-FFF2-40B4-BE49-F238E27FC236}">
                <a16:creationId xmlns:a16="http://schemas.microsoft.com/office/drawing/2014/main" id="{0CB7BA05-1B21-DB90-B050-29B10ED7C70B}"/>
              </a:ext>
            </a:extLst>
          </p:cNvPr>
          <p:cNvSpPr/>
          <p:nvPr/>
        </p:nvSpPr>
        <p:spPr>
          <a:xfrm>
            <a:off x="7424925" y="2121257"/>
            <a:ext cx="809247" cy="109896"/>
          </a:xfrm>
          <a:prstGeom prst="rect">
            <a:avLst/>
          </a:prstGeom>
          <a:solidFill>
            <a:srgbClr val="1A7A9A"/>
          </a:solidFill>
          <a:ln w="12700" cap="flat" cmpd="sng">
            <a:solidFill>
              <a:srgbClr val="1A7A9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grp"/>
        <p:cNvGrpSpPr/>
        <p:nvPr/>
      </p:nvGrpSpPr>
      <p:grpSpPr>
        <a:xfrm>
          <a:off x="0" y="0"/>
          <a:ext cx="0" cy="0"/>
          <a:chOff x="0" y="0"/>
          <a:chExt cx="0" cy="0"/>
        </a:xfrm>
      </p:grpSpPr>
      <p:sp>
        <p:nvSpPr>
          <p:cNvPr id="2" name="hbar"/>
          <p:cNvSpPr/>
          <p:nvPr/>
        </p:nvSpPr>
        <p:spPr>
          <a:xfrm>
            <a:off x="0" y="0"/>
            <a:ext cx="9144000" cy="1005840"/>
          </a:xfrm>
          <a:prstGeom prst="rect">
            <a:avLst/>
          </a:prstGeom>
          <a:solidFill>
            <a:srgbClr val="00567D"/>
          </a:solidFill>
          <a:ln>
            <a:solidFill>
              <a:srgbClr val="00567D"/>
            </a:solidFill>
          </a:ln>
        </p:spPr>
        <p:txBody>
          <a:bodyPr wrap="square" anchor="ctr"/>
          <a:lstStyle/>
          <a:p>
            <a:endParaRPr/>
          </a:p>
        </p:txBody>
      </p:sp>
      <p:sp>
        <p:nvSpPr>
          <p:cNvPr id="3" name="title"/>
          <p:cNvSpPr/>
          <p:nvPr/>
        </p:nvSpPr>
        <p:spPr>
          <a:xfrm>
            <a:off x="457200" y="100000"/>
            <a:ext cx="7315200" cy="800000"/>
          </a:xfrm>
          <a:prstGeom prst="rect">
            <a:avLst/>
          </a:prstGeom>
          <a:noFill/>
          <a:ln>
            <a:noFill/>
          </a:ln>
        </p:spPr>
        <p:txBody>
          <a:bodyPr wrap="square" lIns="0" tIns="0" rIns="0" bIns="0" anchor="ctr"/>
          <a:lstStyle/>
          <a:p>
            <a:pPr algn="l">
              <a:buNone/>
            </a:pPr>
            <a:r>
              <a:rPr lang="en-US" sz="2000" b="1" dirty="0">
                <a:solidFill>
                  <a:srgbClr val="FFFFFF"/>
                </a:solidFill>
                <a:latin typeface="Calibri"/>
              </a:rPr>
              <a:t>CodeAnt — Verified Facts for DHA Decision</a:t>
            </a:r>
          </a:p>
        </p:txBody>
      </p:sp>
      <p:sp>
        <p:nvSpPr>
          <p:cNvPr id="4" name="dha"/>
          <p:cNvSpPr/>
          <p:nvPr/>
        </p:nvSpPr>
        <p:spPr>
          <a:xfrm>
            <a:off x="7498080" y="182880"/>
            <a:ext cx="1463040" cy="548640"/>
          </a:xfrm>
          <a:prstGeom prst="rect">
            <a:avLst/>
          </a:prstGeom>
          <a:solidFill>
            <a:srgbClr val="00A1C2"/>
          </a:solidFill>
          <a:ln>
            <a:solidFill>
              <a:srgbClr val="00A1C2"/>
            </a:solidFill>
          </a:ln>
        </p:spPr>
        <p:txBody>
          <a:bodyPr wrap="square" lIns="0" tIns="0" rIns="0" bIns="0" anchor="ctr"/>
          <a:lstStyle/>
          <a:p>
            <a:pPr algn="ctr">
              <a:buNone/>
            </a:pPr>
            <a:r>
              <a:rPr lang="en-US" sz="900" b="1">
                <a:solidFill>
                  <a:srgbClr val="FFFFFF"/>
                </a:solidFill>
                <a:latin typeface="Calibri"/>
              </a:rPr>
              <a:t>Dubai Health</a:t>
            </a:r>
          </a:p>
        </p:txBody>
      </p:sp>
      <p:sp>
        <p:nvSpPr>
          <p:cNvPr id="10" name="confirmed_hdr_bg"/>
          <p:cNvSpPr/>
          <p:nvPr/>
        </p:nvSpPr>
        <p:spPr>
          <a:xfrm>
            <a:off x="365760" y="1097280"/>
            <a:ext cx="4023360" cy="365760"/>
          </a:xfrm>
          <a:prstGeom prst="rect">
            <a:avLst/>
          </a:prstGeom>
          <a:solidFill>
            <a:srgbClr val="007B9E"/>
          </a:solidFill>
          <a:ln>
            <a:solidFill>
              <a:srgbClr val="007B9E"/>
            </a:solidFill>
          </a:ln>
        </p:spPr>
        <p:txBody>
          <a:bodyPr wrap="square" lIns="0" tIns="0" rIns="0" bIns="0" anchor="ctr"/>
          <a:lstStyle/>
          <a:p>
            <a:pPr algn="ctr">
              <a:buNone/>
            </a:pPr>
            <a:r>
              <a:rPr lang="en-US" sz="1200" b="1" dirty="0">
                <a:solidFill>
                  <a:srgbClr val="FFFFFF"/>
                </a:solidFill>
                <a:latin typeface="Calibri"/>
              </a:rPr>
              <a:t>Confirmed — Official Docs</a:t>
            </a:r>
          </a:p>
        </p:txBody>
      </p:sp>
      <p:sp>
        <p:nvSpPr>
          <p:cNvPr id="11" name="confirmed_body"/>
          <p:cNvSpPr/>
          <p:nvPr/>
        </p:nvSpPr>
        <p:spPr>
          <a:xfrm>
            <a:off x="365760" y="1463040"/>
            <a:ext cx="4023360" cy="3200000"/>
          </a:xfrm>
          <a:prstGeom prst="rect">
            <a:avLst/>
          </a:prstGeom>
          <a:solidFill>
            <a:srgbClr val="EBF7FC"/>
          </a:solidFill>
          <a:ln w="9525">
            <a:solidFill>
              <a:srgbClr val="D0E8F0"/>
            </a:solidFill>
          </a:ln>
        </p:spPr>
        <p:txBody>
          <a:bodyPr wrap="square" lIns="114300" tIns="114300" rIns="114300" bIns="114300" anchor="t"/>
          <a:lstStyle/>
          <a:p>
            <a:pPr marL="228600" indent="-228600">
              <a:buChar char="✓"/>
              <a:buSzPts val="1100"/>
              <a:buClr>
                <a:srgbClr val="007B9E"/>
              </a:buClr>
              <a:buFont typeface="Calibri"/>
            </a:pPr>
            <a:r>
              <a:rPr lang="en-US" sz="1000" b="1" dirty="0">
                <a:solidFill>
                  <a:srgbClr val="1A2E3B"/>
                </a:solidFill>
                <a:latin typeface="Calibri"/>
              </a:rPr>
              <a:t>SOC 2 Type II + HIPAA + VAPT certified</a:t>
            </a:r>
            <a:r>
              <a:rPr lang="en-US" sz="900" dirty="0">
                <a:solidFill>
                  <a:srgbClr val="444444"/>
                </a:solidFill>
                <a:latin typeface="Calibri"/>
              </a:rPr>
              <a:t xml:space="preserve"> — on official pricing page</a:t>
            </a:r>
          </a:p>
          <a:p>
            <a:pPr>
              <a:spcBef>
                <a:spcPts val="200"/>
              </a:spcBef>
            </a:pPr>
            <a:endParaRPr/>
          </a:p>
          <a:p>
            <a:pPr marL="228600" indent="-228600">
              <a:buChar char="✓"/>
              <a:buSzPts val="1100"/>
              <a:buClr>
                <a:srgbClr val="007B9E"/>
              </a:buClr>
              <a:buFont typeface="Calibri"/>
            </a:pPr>
            <a:r>
              <a:rPr lang="en-US" sz="1000" b="1" dirty="0">
                <a:solidFill>
                  <a:srgbClr val="1A2E3B"/>
                </a:solidFill>
                <a:latin typeface="Calibri"/>
              </a:rPr>
              <a:t>Zero code storage — Privacy by design</a:t>
            </a:r>
            <a:r>
              <a:rPr lang="en-US" sz="900" dirty="0">
                <a:solidFill>
                  <a:srgbClr val="444444"/>
                </a:solidFill>
                <a:latin typeface="Calibri"/>
              </a:rPr>
              <a:t xml:space="preserve"> — stated on cybersecurity page</a:t>
            </a:r>
          </a:p>
          <a:p>
            <a:pPr>
              <a:spcBef>
                <a:spcPts val="200"/>
              </a:spcBef>
            </a:pPr>
            <a:endParaRPr/>
          </a:p>
          <a:p>
            <a:pPr marL="228600" indent="-228600">
              <a:buChar char="✓"/>
              <a:buSzPts val="1100"/>
              <a:buClr>
                <a:srgbClr val="007B9E"/>
              </a:buClr>
              <a:buFont typeface="Calibri"/>
            </a:pPr>
            <a:r>
              <a:rPr lang="en-US" sz="1000" b="1" dirty="0">
                <a:solidFill>
                  <a:srgbClr val="1A2E3B"/>
                </a:solidFill>
                <a:latin typeface="Calibri"/>
              </a:rPr>
              <a:t>Azure DevOps self-hosted supported</a:t>
            </a:r>
            <a:r>
              <a:rPr lang="en-US" sz="900" dirty="0">
                <a:solidFill>
                  <a:srgbClr val="444444"/>
                </a:solidFill>
                <a:latin typeface="Calibri"/>
              </a:rPr>
              <a:t xml:space="preserve"> — full setup in official docs</a:t>
            </a:r>
          </a:p>
          <a:p>
            <a:pPr>
              <a:spcBef>
                <a:spcPts val="200"/>
              </a:spcBef>
            </a:pPr>
            <a:endParaRPr/>
          </a:p>
          <a:p>
            <a:pPr marL="228600" indent="-228600">
              <a:buChar char="✓"/>
              <a:buSzPts val="1100"/>
              <a:buClr>
                <a:srgbClr val="007B9E"/>
              </a:buClr>
              <a:buFont typeface="Calibri"/>
            </a:pPr>
            <a:r>
              <a:rPr lang="en-US" sz="1000" b="1" dirty="0">
                <a:solidFill>
                  <a:srgbClr val="1A2E3B"/>
                </a:solidFill>
                <a:latin typeface="Calibri"/>
              </a:rPr>
              <a:t>Real-time IDE + PR review</a:t>
            </a:r>
            <a:r>
              <a:rPr lang="en-US" sz="900" dirty="0">
                <a:solidFill>
                  <a:srgbClr val="444444"/>
                </a:solidFill>
                <a:latin typeface="Calibri"/>
              </a:rPr>
              <a:t xml:space="preserve"> — documented in CLI and IDE sections</a:t>
            </a:r>
          </a:p>
          <a:p>
            <a:pPr>
              <a:spcBef>
                <a:spcPts val="200"/>
              </a:spcBef>
            </a:pPr>
            <a:endParaRPr/>
          </a:p>
          <a:p>
            <a:pPr marL="228600" indent="-228600">
              <a:buChar char="✓"/>
              <a:buSzPts val="1100"/>
              <a:buClr>
                <a:srgbClr val="007B9E"/>
              </a:buClr>
              <a:buFont typeface="Calibri"/>
            </a:pPr>
            <a:r>
              <a:rPr lang="en-US" sz="1000" b="1" dirty="0">
                <a:solidFill>
                  <a:srgbClr val="1A2E3B"/>
                </a:solidFill>
                <a:latin typeface="Calibri"/>
              </a:rPr>
              <a:t>Quality Gates block merge on violations</a:t>
            </a:r>
            <a:r>
              <a:rPr lang="en-US" sz="900" dirty="0">
                <a:solidFill>
                  <a:srgbClr val="444444"/>
                </a:solidFill>
                <a:latin typeface="Calibri"/>
              </a:rPr>
              <a:t xml:space="preserve"> — Premium plan feature</a:t>
            </a:r>
          </a:p>
          <a:p>
            <a:pPr>
              <a:spcBef>
                <a:spcPts val="200"/>
              </a:spcBef>
            </a:pPr>
            <a:endParaRPr/>
          </a:p>
          <a:p>
            <a:pPr marL="228600" indent="-228600">
              <a:buChar char="✓"/>
              <a:buSzPts val="1100"/>
              <a:buClr>
                <a:srgbClr val="007B9E"/>
              </a:buClr>
              <a:buFont typeface="Calibri"/>
            </a:pPr>
            <a:r>
              <a:rPr lang="en-US" sz="1000" b="1" dirty="0">
                <a:solidFill>
                  <a:srgbClr val="1A2E3B"/>
                </a:solidFill>
                <a:latin typeface="Calibri"/>
              </a:rPr>
              <a:t>Custom org-wide security rules</a:t>
            </a:r>
            <a:r>
              <a:rPr lang="en-US" sz="900" dirty="0">
                <a:solidFill>
                  <a:srgbClr val="444444"/>
                </a:solidFill>
                <a:latin typeface="Calibri"/>
              </a:rPr>
              <a:t xml:space="preserve"> — Code Governance + .codeant/configuration.json</a:t>
            </a:r>
          </a:p>
        </p:txBody>
      </p:sp>
      <p:sp>
        <p:nvSpPr>
          <p:cNvPr id="20" name="risk_hdr_bg"/>
          <p:cNvSpPr/>
          <p:nvPr/>
        </p:nvSpPr>
        <p:spPr>
          <a:xfrm>
            <a:off x="4680720" y="1097280"/>
            <a:ext cx="4097280" cy="365760"/>
          </a:xfrm>
          <a:prstGeom prst="rect">
            <a:avLst/>
          </a:prstGeom>
          <a:solidFill>
            <a:srgbClr val="922B21"/>
          </a:solidFill>
          <a:ln>
            <a:solidFill>
              <a:srgbClr val="922B21"/>
            </a:solidFill>
          </a:ln>
        </p:spPr>
        <p:txBody>
          <a:bodyPr wrap="square" lIns="0" tIns="0" rIns="0" bIns="0" anchor="ctr"/>
          <a:lstStyle/>
          <a:p>
            <a:pPr algn="ctr">
              <a:buNone/>
            </a:pPr>
            <a:r>
              <a:rPr lang="en-US" sz="1200" b="1" dirty="0">
                <a:solidFill>
                  <a:srgbClr val="FFFFFF"/>
                </a:solidFill>
                <a:latin typeface="Calibri"/>
              </a:rPr>
              <a:t>Requires Enterprise Contract</a:t>
            </a:r>
          </a:p>
        </p:txBody>
      </p:sp>
      <p:sp>
        <p:nvSpPr>
          <p:cNvPr id="21" name="risk_body"/>
          <p:cNvSpPr/>
          <p:nvPr/>
        </p:nvSpPr>
        <p:spPr>
          <a:xfrm>
            <a:off x="4680720" y="1463040"/>
            <a:ext cx="4097280" cy="3200000"/>
          </a:xfrm>
          <a:prstGeom prst="rect">
            <a:avLst/>
          </a:prstGeom>
          <a:solidFill>
            <a:srgbClr val="FDEDEC"/>
          </a:solidFill>
          <a:ln w="9525">
            <a:solidFill>
              <a:srgbClr val="F1948A"/>
            </a:solidFill>
          </a:ln>
        </p:spPr>
        <p:txBody>
          <a:bodyPr wrap="square" lIns="114300" tIns="114300" rIns="114300" bIns="114300" anchor="t"/>
          <a:lstStyle/>
          <a:p>
            <a:pPr marL="228600" indent="-228600">
              <a:buChar char="!"/>
              <a:buSzPts val="1000"/>
              <a:buClr>
                <a:srgbClr val="922B21"/>
              </a:buClr>
              <a:buFont typeface="Calibri"/>
            </a:pPr>
            <a:r>
              <a:rPr lang="en-US" sz="1000" b="1" dirty="0">
                <a:solidFill>
                  <a:srgbClr val="7B241C"/>
                </a:solidFill>
                <a:latin typeface="Calibri"/>
              </a:rPr>
              <a:t>Air-gapped / offline deployment</a:t>
            </a:r>
            <a:r>
              <a:rPr lang="en-US" sz="900" dirty="0">
                <a:solidFill>
                  <a:srgbClr val="7B241C"/>
                </a:solidFill>
                <a:latin typeface="Calibri"/>
              </a:rPr>
              <a:t xml:space="preserve"> — NOT in official docs. Confirmed only via Commvault customer case study. Enterprise contract required — contact sales.</a:t>
            </a:r>
          </a:p>
          <a:p>
            <a:pPr>
              <a:spcBef>
                <a:spcPts val="300"/>
              </a:spcBef>
            </a:pPr>
            <a:endParaRPr/>
          </a:p>
          <a:p>
            <a:pPr marL="228600" indent="-228600">
              <a:buChar char="!"/>
              <a:buSzPts val="1000"/>
              <a:buClr>
                <a:srgbClr val="922B21"/>
              </a:buClr>
              <a:buFont typeface="Calibri"/>
            </a:pPr>
            <a:r>
              <a:rPr lang="en-US" sz="1000" b="1" dirty="0">
                <a:solidFill>
                  <a:srgbClr val="7B241C"/>
                </a:solidFill>
                <a:latin typeface="Calibri"/>
              </a:rPr>
              <a:t>Standard plan: code goes to CodeAnt cloud</a:t>
            </a:r>
            <a:r>
              <a:rPr lang="en-US" sz="900" dirty="0">
                <a:solidFill>
                  <a:srgbClr val="7B241C"/>
                </a:solidFill>
                <a:latin typeface="Calibri"/>
              </a:rPr>
              <a:t xml:space="preserve"> — “Without internet” claim on Slide 4 applies ONLY after Enterprise air-gapped contract is signed. Not default behavior.</a:t>
            </a:r>
          </a:p>
          <a:p>
            <a:pPr>
              <a:spcBef>
                <a:spcPts val="300"/>
              </a:spcBef>
            </a:pPr>
            <a:endParaRPr/>
          </a:p>
          <a:p>
            <a:pPr marL="228600" indent="-228600">
              <a:buChar char="!"/>
              <a:buSzPts val="1000"/>
              <a:buClr>
                <a:srgbClr val="922B21"/>
              </a:buClr>
              <a:buFont typeface="Calibri"/>
            </a:pPr>
            <a:r>
              <a:rPr lang="en-US" sz="1000" b="1" dirty="0">
                <a:solidFill>
                  <a:srgbClr val="7B241C"/>
                </a:solidFill>
                <a:latin typeface="Calibri"/>
              </a:rPr>
              <a:t>On-Prem / VPC deployment</a:t>
            </a:r>
            <a:r>
              <a:rPr lang="en-US" sz="900" dirty="0">
                <a:solidFill>
                  <a:srgbClr val="7B241C"/>
                </a:solidFill>
                <a:latin typeface="Calibri"/>
              </a:rPr>
              <a:t xml:space="preserve"> — Enterprise plan only (Contact Us pricing). Not in Premium or Free tiers.</a:t>
            </a:r>
          </a:p>
          <a:p>
            <a:pPr>
              <a:spcBef>
                <a:spcPts val="500"/>
              </a:spcBef>
            </a:pPr>
            <a:endParaRPr/>
          </a:p>
          <a:p>
            <a:pPr marL="0" indent="0" algn="l">
              <a:buNone/>
            </a:pPr>
            <a:r>
              <a:rPr lang="en-US" sz="950" b="1" dirty="0">
                <a:solidFill>
                  <a:srgbClr val="922B21"/>
                </a:solidFill>
                <a:latin typeface="Calibri"/>
              </a:rPr>
              <a:t xml:space="preserve">DHA Action Required: </a:t>
            </a:r>
            <a:r>
              <a:rPr lang="en-US" sz="900" dirty="0">
                <a:solidFill>
                  <a:srgbClr val="7B241C"/>
                </a:solidFill>
                <a:latin typeface="Calibri"/>
              </a:rPr>
              <a:t>Obtain written Data Processing Agreement (DPA) and air-gap deployment confirmation before any code is shared. Reference: codeant.ai/customer-story/commvault</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175</TotalTime>
  <Words>946</Words>
  <Application>Microsoft Office PowerPoint</Application>
  <PresentationFormat>On-screen Show (16:9)</PresentationFormat>
  <Paragraphs>198</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PptxGenJS</dc:creator>
  <cp:lastModifiedBy>Safaa Abdel Hamid Soliman</cp:lastModifiedBy>
  <cp:revision>51</cp:revision>
  <dcterms:created xsi:type="dcterms:W3CDTF">2026-04-22T18:19:03Z</dcterms:created>
  <dcterms:modified xsi:type="dcterms:W3CDTF">2026-05-03T14:55:46Z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d427607-ff6b-482e-86cf-85fc569e58cd_Enabled">
    <vt:lpwstr>true</vt:lpwstr>
  </property>
  <property fmtid="{D5CDD505-2E9C-101B-9397-08002B2CF9AE}" pid="3" name="MSIP_Label_bd427607-ff6b-482e-86cf-85fc569e58cd_SetDate">
    <vt:lpwstr>2026-04-23T04:19:09Z</vt:lpwstr>
  </property>
  <property fmtid="{D5CDD505-2E9C-101B-9397-08002B2CF9AE}" pid="4" name="MSIP_Label_bd427607-ff6b-482e-86cf-85fc569e58cd_Method">
    <vt:lpwstr>Standard</vt:lpwstr>
  </property>
  <property fmtid="{D5CDD505-2E9C-101B-9397-08002B2CF9AE}" pid="5" name="MSIP_Label_bd427607-ff6b-482e-86cf-85fc569e58cd_Name">
    <vt:lpwstr>Dubai Health-Confidential</vt:lpwstr>
  </property>
  <property fmtid="{D5CDD505-2E9C-101B-9397-08002B2CF9AE}" pid="6" name="MSIP_Label_bd427607-ff6b-482e-86cf-85fc569e58cd_SiteId">
    <vt:lpwstr>2498e482-d486-4e8f-a0d8-bd97124de46e</vt:lpwstr>
  </property>
  <property fmtid="{D5CDD505-2E9C-101B-9397-08002B2CF9AE}" pid="7" name="MSIP_Label_bd427607-ff6b-482e-86cf-85fc569e58cd_ActionId">
    <vt:lpwstr>20649091-25a1-451c-aba2-5eb2962b27ac</vt:lpwstr>
  </property>
  <property fmtid="{D5CDD505-2E9C-101B-9397-08002B2CF9AE}" pid="8" name="MSIP_Label_bd427607-ff6b-482e-86cf-85fc569e58cd_ContentBits">
    <vt:lpwstr>2</vt:lpwstr>
  </property>
  <property fmtid="{D5CDD505-2E9C-101B-9397-08002B2CF9AE}" pid="9" name="MSIP_Label_bd427607-ff6b-482e-86cf-85fc569e58cd_Tag">
    <vt:lpwstr>10, 3, 0, 1</vt:lpwstr>
  </property>
  <property fmtid="{D5CDD505-2E9C-101B-9397-08002B2CF9AE}" pid="10" name="ClassificationContentMarkingFooterLocations">
    <vt:lpwstr>Office Theme:3</vt:lpwstr>
  </property>
  <property fmtid="{D5CDD505-2E9C-101B-9397-08002B2CF9AE}" pid="11" name="ClassificationContentMarkingFooterText">
    <vt:lpwstr>Dubai Health  - Internal Use </vt:lpwstr>
  </property>
</Properties>
</file>